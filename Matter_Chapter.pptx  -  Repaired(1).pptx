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7998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8318" y="63459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49377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79552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5" name="Shape 3"/>
          <p:cNvSpPr/>
          <p:nvPr/>
        </p:nvSpPr>
        <p:spPr>
          <a:xfrm>
            <a:off x="11201400" y="59436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6" name="Shape 4"/>
          <p:cNvSpPr/>
          <p:nvPr/>
        </p:nvSpPr>
        <p:spPr>
          <a:xfrm>
            <a:off x="9153144" y="1197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7" name="Shape 5"/>
          <p:cNvSpPr/>
          <p:nvPr/>
        </p:nvSpPr>
        <p:spPr>
          <a:xfrm>
            <a:off x="10177272" y="12984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8" name="Shape 6"/>
          <p:cNvSpPr/>
          <p:nvPr/>
        </p:nvSpPr>
        <p:spPr>
          <a:xfrm>
            <a:off x="10996574" y="1399032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9" name="Shape 7"/>
          <p:cNvSpPr/>
          <p:nvPr/>
        </p:nvSpPr>
        <p:spPr>
          <a:xfrm>
            <a:off x="11494008" y="10972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0" name="Shape 8"/>
          <p:cNvSpPr/>
          <p:nvPr/>
        </p:nvSpPr>
        <p:spPr>
          <a:xfrm>
            <a:off x="9445752" y="180136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23576" y="200253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01400" y="1901952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0536" y="210312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4" name="Shape 12"/>
          <p:cNvSpPr/>
          <p:nvPr/>
        </p:nvSpPr>
        <p:spPr>
          <a:xfrm>
            <a:off x="9884664" y="220370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6184" y="160020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06226" y="220370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7" name="Shape 15"/>
          <p:cNvSpPr/>
          <p:nvPr/>
        </p:nvSpPr>
        <p:spPr>
          <a:xfrm>
            <a:off x="693638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8" name="Shape 16"/>
          <p:cNvSpPr/>
          <p:nvPr/>
        </p:nvSpPr>
        <p:spPr>
          <a:xfrm>
            <a:off x="693638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19" name="Shape 17"/>
          <p:cNvSpPr/>
          <p:nvPr/>
        </p:nvSpPr>
        <p:spPr>
          <a:xfrm>
            <a:off x="693638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693638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5523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5523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85523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5523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77409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6" name="Shape 24"/>
          <p:cNvSpPr/>
          <p:nvPr/>
        </p:nvSpPr>
        <p:spPr>
          <a:xfrm>
            <a:off x="1477409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77409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8" name="Shape 26"/>
          <p:cNvSpPr/>
          <p:nvPr/>
        </p:nvSpPr>
        <p:spPr>
          <a:xfrm>
            <a:off x="1477409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29" name="Shape 27"/>
          <p:cNvSpPr/>
          <p:nvPr/>
        </p:nvSpPr>
        <p:spPr>
          <a:xfrm>
            <a:off x="1869295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0" name="Shape 28"/>
          <p:cNvSpPr/>
          <p:nvPr/>
        </p:nvSpPr>
        <p:spPr>
          <a:xfrm>
            <a:off x="1869295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1" name="Shape 29"/>
          <p:cNvSpPr/>
          <p:nvPr/>
        </p:nvSpPr>
        <p:spPr>
          <a:xfrm>
            <a:off x="1869295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2" name="Shape 30"/>
          <p:cNvSpPr/>
          <p:nvPr/>
        </p:nvSpPr>
        <p:spPr>
          <a:xfrm>
            <a:off x="1869295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3" name="Shape 31"/>
          <p:cNvSpPr/>
          <p:nvPr/>
        </p:nvSpPr>
        <p:spPr>
          <a:xfrm>
            <a:off x="2261181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61181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5" name="Shape 33"/>
          <p:cNvSpPr/>
          <p:nvPr/>
        </p:nvSpPr>
        <p:spPr>
          <a:xfrm>
            <a:off x="2261181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6" name="Shape 34"/>
          <p:cNvSpPr/>
          <p:nvPr/>
        </p:nvSpPr>
        <p:spPr>
          <a:xfrm>
            <a:off x="2261181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7" name="Shape 35"/>
          <p:cNvSpPr/>
          <p:nvPr/>
        </p:nvSpPr>
        <p:spPr>
          <a:xfrm>
            <a:off x="2653066" y="5111496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53066" y="5440680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3066" y="5769864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0" name="Shape 38"/>
          <p:cNvSpPr/>
          <p:nvPr/>
        </p:nvSpPr>
        <p:spPr>
          <a:xfrm>
            <a:off x="2653066" y="6099048"/>
            <a:ext cx="128016" cy="128016"/>
          </a:xfrm>
          <a:prstGeom prst="ellipse">
            <a:avLst/>
          </a:prstGeom>
          <a:solidFill>
            <a:srgbClr val="0B5C6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CHAPTER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1874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Matter</a:t>
            </a:r>
            <a:endParaRPr lang="en-US" sz="6600" dirty="0"/>
          </a:p>
        </p:txBody>
      </p:sp>
      <p:sp>
        <p:nvSpPr>
          <p:cNvPr id="43" name="Text 41"/>
          <p:cNvSpPr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States, and Changes in Our Physical World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8229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96558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96558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96558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96558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9" name="Shape 47"/>
          <p:cNvSpPr/>
          <p:nvPr/>
        </p:nvSpPr>
        <p:spPr>
          <a:xfrm>
            <a:off x="1497003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0" name="Shape 48"/>
          <p:cNvSpPr/>
          <p:nvPr/>
        </p:nvSpPr>
        <p:spPr>
          <a:xfrm>
            <a:off x="1497003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1" name="Shape 49"/>
          <p:cNvSpPr/>
          <p:nvPr/>
        </p:nvSpPr>
        <p:spPr>
          <a:xfrm>
            <a:off x="1497003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2" name="Shape 50"/>
          <p:cNvSpPr/>
          <p:nvPr/>
        </p:nvSpPr>
        <p:spPr>
          <a:xfrm>
            <a:off x="1497003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3" name="Shape 51"/>
          <p:cNvSpPr/>
          <p:nvPr/>
        </p:nvSpPr>
        <p:spPr>
          <a:xfrm>
            <a:off x="1797449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4" name="Shape 52"/>
          <p:cNvSpPr/>
          <p:nvPr/>
        </p:nvSpPr>
        <p:spPr>
          <a:xfrm>
            <a:off x="1797449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5" name="Shape 53"/>
          <p:cNvSpPr/>
          <p:nvPr/>
        </p:nvSpPr>
        <p:spPr>
          <a:xfrm>
            <a:off x="1797449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6" name="Shape 54"/>
          <p:cNvSpPr/>
          <p:nvPr/>
        </p:nvSpPr>
        <p:spPr>
          <a:xfrm>
            <a:off x="1797449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7" name="Shape 55"/>
          <p:cNvSpPr/>
          <p:nvPr/>
        </p:nvSpPr>
        <p:spPr>
          <a:xfrm>
            <a:off x="2097895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2097895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9" name="Shape 57"/>
          <p:cNvSpPr/>
          <p:nvPr/>
        </p:nvSpPr>
        <p:spPr>
          <a:xfrm>
            <a:off x="2097895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2097895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2398341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2398341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2398341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2398341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2698786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2698786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2698786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2698786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5661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71" name="Shape 69"/>
          <p:cNvSpPr/>
          <p:nvPr/>
        </p:nvSpPr>
        <p:spPr>
          <a:xfrm>
            <a:off x="3940083" y="45400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Shape 70"/>
          <p:cNvSpPr/>
          <p:nvPr/>
        </p:nvSpPr>
        <p:spPr>
          <a:xfrm>
            <a:off x="3921926" y="478378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3" name="Shape 71"/>
          <p:cNvSpPr/>
          <p:nvPr/>
        </p:nvSpPr>
        <p:spPr>
          <a:xfrm>
            <a:off x="3973056" y="491429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Shape 72"/>
          <p:cNvSpPr/>
          <p:nvPr/>
        </p:nvSpPr>
        <p:spPr>
          <a:xfrm>
            <a:off x="3894801" y="517249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5" name="Shape 73"/>
          <p:cNvSpPr/>
          <p:nvPr/>
        </p:nvSpPr>
        <p:spPr>
          <a:xfrm>
            <a:off x="4223293" y="45751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6" name="Shape 74"/>
          <p:cNvSpPr/>
          <p:nvPr/>
        </p:nvSpPr>
        <p:spPr>
          <a:xfrm>
            <a:off x="4239553" y="475211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7" name="Shape 75"/>
          <p:cNvSpPr/>
          <p:nvPr/>
        </p:nvSpPr>
        <p:spPr>
          <a:xfrm>
            <a:off x="4258340" y="4939937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8" name="Shape 76"/>
          <p:cNvSpPr/>
          <p:nvPr/>
        </p:nvSpPr>
        <p:spPr>
          <a:xfrm>
            <a:off x="4206654" y="515503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9" name="Shape 77"/>
          <p:cNvSpPr/>
          <p:nvPr/>
        </p:nvSpPr>
        <p:spPr>
          <a:xfrm>
            <a:off x="4508368" y="459635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0" name="Shape 78"/>
          <p:cNvSpPr/>
          <p:nvPr/>
        </p:nvSpPr>
        <p:spPr>
          <a:xfrm>
            <a:off x="4557251" y="4723559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1" name="Shape 79"/>
          <p:cNvSpPr/>
          <p:nvPr/>
        </p:nvSpPr>
        <p:spPr>
          <a:xfrm>
            <a:off x="4541625" y="497341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2" name="Shape 80"/>
          <p:cNvSpPr/>
          <p:nvPr/>
        </p:nvSpPr>
        <p:spPr>
          <a:xfrm>
            <a:off x="4522207" y="511946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3" name="Shape 81"/>
          <p:cNvSpPr/>
          <p:nvPr/>
        </p:nvSpPr>
        <p:spPr>
          <a:xfrm>
            <a:off x="4797003" y="4579923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4" name="Shape 82"/>
          <p:cNvSpPr/>
          <p:nvPr/>
        </p:nvSpPr>
        <p:spPr>
          <a:xfrm>
            <a:off x="4873118" y="473022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5" name="Shape 83"/>
          <p:cNvSpPr/>
          <p:nvPr/>
        </p:nvSpPr>
        <p:spPr>
          <a:xfrm>
            <a:off x="4824802" y="497707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6" name="Shape 84"/>
          <p:cNvSpPr/>
          <p:nvPr/>
        </p:nvSpPr>
        <p:spPr>
          <a:xfrm>
            <a:off x="4839794" y="510577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7" name="Shape 85"/>
          <p:cNvSpPr/>
          <p:nvPr/>
        </p:nvSpPr>
        <p:spPr>
          <a:xfrm>
            <a:off x="5090501" y="45443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8" name="Shape 86"/>
          <p:cNvSpPr/>
          <p:nvPr/>
        </p:nvSpPr>
        <p:spPr>
          <a:xfrm>
            <a:off x="5185454" y="47646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9" name="Shape 87"/>
          <p:cNvSpPr/>
          <p:nvPr/>
        </p:nvSpPr>
        <p:spPr>
          <a:xfrm>
            <a:off x="5109776" y="494681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0" name="Shape 88"/>
          <p:cNvSpPr/>
          <p:nvPr/>
        </p:nvSpPr>
        <p:spPr>
          <a:xfrm>
            <a:off x="5157524" y="51293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1" name="Shape 89"/>
          <p:cNvSpPr/>
          <p:nvPr/>
        </p:nvSpPr>
        <p:spPr>
          <a:xfrm>
            <a:off x="5389627" y="45295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2" name="Shape 90"/>
          <p:cNvSpPr/>
          <p:nvPr/>
        </p:nvSpPr>
        <p:spPr>
          <a:xfrm>
            <a:off x="5492947" y="4788059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3" name="Shape 91"/>
          <p:cNvSpPr/>
          <p:nvPr/>
        </p:nvSpPr>
        <p:spPr>
          <a:xfrm>
            <a:off x="5398252" y="491665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4" name="Shape 92"/>
          <p:cNvSpPr/>
          <p:nvPr/>
        </p:nvSpPr>
        <p:spPr>
          <a:xfrm>
            <a:off x="5473491" y="51637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5" name="Text 93"/>
          <p:cNvSpPr/>
          <p:nvPr/>
        </p:nvSpPr>
        <p:spPr>
          <a:xfrm>
            <a:off x="35661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6309360" y="429768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034550"/>
          </a:solidFill>
          <a:ln/>
        </p:spPr>
      </p:sp>
      <p:sp>
        <p:nvSpPr>
          <p:cNvPr id="97" name="Shape 95"/>
          <p:cNvSpPr/>
          <p:nvPr/>
        </p:nvSpPr>
        <p:spPr>
          <a:xfrm>
            <a:off x="6550762" y="448604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8" name="Shape 96"/>
          <p:cNvSpPr/>
          <p:nvPr/>
        </p:nvSpPr>
        <p:spPr>
          <a:xfrm>
            <a:off x="7118604" y="441883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9" name="Shape 97"/>
          <p:cNvSpPr/>
          <p:nvPr/>
        </p:nvSpPr>
        <p:spPr>
          <a:xfrm>
            <a:off x="7644384" y="45628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0" name="Shape 98"/>
          <p:cNvSpPr/>
          <p:nvPr/>
        </p:nvSpPr>
        <p:spPr>
          <a:xfrm>
            <a:off x="8170164" y="44668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1" name="Shape 99"/>
          <p:cNvSpPr/>
          <p:nvPr/>
        </p:nvSpPr>
        <p:spPr>
          <a:xfrm>
            <a:off x="6697980" y="47548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434072" y="480288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022946" y="48508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8380476" y="470687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6908292" y="50429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7539228" y="51389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170164" y="509092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487668" y="518693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7223760" y="52349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7749540" y="49469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317382" y="52349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2" name="Text 110"/>
          <p:cNvSpPr/>
          <p:nvPr/>
        </p:nvSpPr>
        <p:spPr>
          <a:xfrm>
            <a:off x="6309360" y="53766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D064622-969C-28B1-B69D-1801C402A8C6}"/>
              </a:ext>
            </a:extLst>
          </p:cNvPr>
          <p:cNvGrpSpPr/>
          <p:nvPr/>
        </p:nvGrpSpPr>
        <p:grpSpPr>
          <a:xfrm>
            <a:off x="-136664" y="0"/>
            <a:ext cx="12854152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B028C56-27C9-835A-F51A-EE604BDC5820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8E961D-9CC7-CD1C-90E7-54F9E7229BB9}"/>
                </a:ext>
              </a:extLst>
            </p:cNvPr>
            <p:cNvSpPr/>
            <p:nvPr/>
          </p:nvSpPr>
          <p:spPr>
            <a:xfrm>
              <a:off x="2899979" y="213273"/>
              <a:ext cx="5030076" cy="11938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MATTER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Solid	  	Liquid		Gas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7EBCDD6-7C2B-D62D-7D81-8ABFA2988039}"/>
                </a:ext>
              </a:extLst>
            </p:cNvPr>
            <p:cNvGrpSpPr/>
            <p:nvPr/>
          </p:nvGrpSpPr>
          <p:grpSpPr>
            <a:xfrm>
              <a:off x="2081048" y="1407073"/>
              <a:ext cx="7283669" cy="579382"/>
              <a:chOff x="2081048" y="1407073"/>
              <a:chExt cx="7283669" cy="57938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C12066A-CABC-9889-2008-B7B6E83377DB}"/>
                  </a:ext>
                </a:extLst>
              </p:cNvPr>
              <p:cNvCxnSpPr>
                <a:stCxn id="3" idx="2"/>
              </p:cNvCxnSpPr>
              <p:nvPr/>
            </p:nvCxnSpPr>
            <p:spPr>
              <a:xfrm>
                <a:off x="5415017" y="1407073"/>
                <a:ext cx="8321" cy="57938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B18039F2-860D-5036-1C3A-CC3BD26783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1048" y="1986455"/>
                <a:ext cx="7283669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CBC87E9-8C74-DEBA-E1BE-6A146B1465B1}"/>
                </a:ext>
              </a:extLst>
            </p:cNvPr>
            <p:cNvCxnSpPr/>
            <p:nvPr/>
          </p:nvCxnSpPr>
          <p:spPr>
            <a:xfrm>
              <a:off x="2081048" y="1986455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E4C0E09-AC56-9A1E-B17F-86A30C08216E}"/>
                </a:ext>
              </a:extLst>
            </p:cNvPr>
            <p:cNvCxnSpPr/>
            <p:nvPr/>
          </p:nvCxnSpPr>
          <p:spPr>
            <a:xfrm>
              <a:off x="9359468" y="1965429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32E784F-F9DB-FB5B-C793-6CA686339554}"/>
                </a:ext>
              </a:extLst>
            </p:cNvPr>
            <p:cNvSpPr/>
            <p:nvPr/>
          </p:nvSpPr>
          <p:spPr>
            <a:xfrm>
              <a:off x="922808" y="2438395"/>
              <a:ext cx="2822026" cy="9905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EF4D001-784E-A2AC-70F2-31EC703E06B6}"/>
                </a:ext>
              </a:extLst>
            </p:cNvPr>
            <p:cNvSpPr/>
            <p:nvPr/>
          </p:nvSpPr>
          <p:spPr>
            <a:xfrm>
              <a:off x="7798684" y="2448904"/>
              <a:ext cx="3189889" cy="99059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Left-Right 10">
              <a:extLst>
                <a:ext uri="{FF2B5EF4-FFF2-40B4-BE49-F238E27FC236}">
                  <a16:creationId xmlns:a16="http://schemas.microsoft.com/office/drawing/2014/main" id="{479E62B1-3D40-DFAB-F41E-5D27D1790864}"/>
                </a:ext>
              </a:extLst>
            </p:cNvPr>
            <p:cNvSpPr/>
            <p:nvPr/>
          </p:nvSpPr>
          <p:spPr>
            <a:xfrm>
              <a:off x="4004441" y="2916621"/>
              <a:ext cx="3484180" cy="263632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7D3F48-0611-5B6D-0442-3B5A3B12C08C}"/>
                </a:ext>
              </a:extLst>
            </p:cNvPr>
            <p:cNvGrpSpPr/>
            <p:nvPr/>
          </p:nvGrpSpPr>
          <p:grpSpPr>
            <a:xfrm>
              <a:off x="817177" y="3415414"/>
              <a:ext cx="3313389" cy="579382"/>
              <a:chOff x="2081048" y="1407073"/>
              <a:chExt cx="7283669" cy="57938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036EC74-A295-312B-D3D5-AED70B25D372}"/>
                  </a:ext>
                </a:extLst>
              </p:cNvPr>
              <p:cNvCxnSpPr/>
              <p:nvPr/>
            </p:nvCxnSpPr>
            <p:spPr>
              <a:xfrm>
                <a:off x="5415017" y="1407073"/>
                <a:ext cx="8321" cy="57938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91455B4-351D-EF98-DCE1-75FC63DD8F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1048" y="1986455"/>
                <a:ext cx="7283669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C892C9C-C0CD-3128-73C5-CE61CBFA610F}"/>
                </a:ext>
              </a:extLst>
            </p:cNvPr>
            <p:cNvCxnSpPr/>
            <p:nvPr/>
          </p:nvCxnSpPr>
          <p:spPr>
            <a:xfrm>
              <a:off x="814548" y="3967664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BD5AAB0-502B-1A24-3251-550AFC7DF201}"/>
                </a:ext>
              </a:extLst>
            </p:cNvPr>
            <p:cNvCxnSpPr/>
            <p:nvPr/>
          </p:nvCxnSpPr>
          <p:spPr>
            <a:xfrm>
              <a:off x="4120063" y="3993939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7E9E8C2-A794-921F-6C5F-4B973D9F16C0}"/>
                </a:ext>
              </a:extLst>
            </p:cNvPr>
            <p:cNvGrpSpPr/>
            <p:nvPr/>
          </p:nvGrpSpPr>
          <p:grpSpPr>
            <a:xfrm>
              <a:off x="7685688" y="3441686"/>
              <a:ext cx="3313389" cy="579382"/>
              <a:chOff x="2081048" y="1407073"/>
              <a:chExt cx="7283669" cy="579382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818B1AA-1DC8-568B-884D-1A40B59ADC8D}"/>
                  </a:ext>
                </a:extLst>
              </p:cNvPr>
              <p:cNvCxnSpPr/>
              <p:nvPr/>
            </p:nvCxnSpPr>
            <p:spPr>
              <a:xfrm>
                <a:off x="5415017" y="1407073"/>
                <a:ext cx="8321" cy="579382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BCF0119-6DD8-69C3-497A-5836DEFFCCD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1048" y="1986455"/>
                <a:ext cx="7283669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14D6A1-AE8E-2EE0-96AF-3A137A814C37}"/>
                </a:ext>
              </a:extLst>
            </p:cNvPr>
            <p:cNvCxnSpPr/>
            <p:nvPr/>
          </p:nvCxnSpPr>
          <p:spPr>
            <a:xfrm>
              <a:off x="7683059" y="3993936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7E71C1D-2127-5088-5241-13E305244C04}"/>
                </a:ext>
              </a:extLst>
            </p:cNvPr>
            <p:cNvCxnSpPr/>
            <p:nvPr/>
          </p:nvCxnSpPr>
          <p:spPr>
            <a:xfrm>
              <a:off x="10988574" y="4020211"/>
              <a:ext cx="0" cy="4729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FE059C0-38C6-F70B-CEBB-87F7762B3470}"/>
                </a:ext>
              </a:extLst>
            </p:cNvPr>
            <p:cNvSpPr txBox="1"/>
            <p:nvPr/>
          </p:nvSpPr>
          <p:spPr>
            <a:xfrm>
              <a:off x="94588" y="4456396"/>
              <a:ext cx="2091549" cy="830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Heterogeneous </a:t>
              </a:r>
            </a:p>
            <a:p>
              <a:r>
                <a:rPr lang="en-US" sz="2400" dirty="0"/>
                <a:t>Mixtures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C3B68EC-759C-C91A-35A0-502F352FDD90}"/>
                </a:ext>
              </a:extLst>
            </p:cNvPr>
            <p:cNvSpPr txBox="1"/>
            <p:nvPr/>
          </p:nvSpPr>
          <p:spPr>
            <a:xfrm>
              <a:off x="3100561" y="4461645"/>
              <a:ext cx="2314456" cy="830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Homogeneous </a:t>
              </a:r>
            </a:p>
            <a:p>
              <a:r>
                <a:rPr lang="en-US" sz="2400" dirty="0"/>
                <a:t>Mixtures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13C2DD-FAFD-30B2-A2E6-28ACA7516EC2}"/>
                </a:ext>
              </a:extLst>
            </p:cNvPr>
            <p:cNvSpPr txBox="1"/>
            <p:nvPr/>
          </p:nvSpPr>
          <p:spPr>
            <a:xfrm>
              <a:off x="6721381" y="4472151"/>
              <a:ext cx="1891862" cy="5847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Elements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3AF1E6-3327-D88A-638F-53BF02E9FADB}"/>
                </a:ext>
              </a:extLst>
            </p:cNvPr>
            <p:cNvSpPr txBox="1"/>
            <p:nvPr/>
          </p:nvSpPr>
          <p:spPr>
            <a:xfrm>
              <a:off x="9664266" y="4498423"/>
              <a:ext cx="2270230" cy="5847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Compounds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710E04-36C0-5F42-F991-17052B994509}"/>
                </a:ext>
              </a:extLst>
            </p:cNvPr>
            <p:cNvSpPr txBox="1"/>
            <p:nvPr/>
          </p:nvSpPr>
          <p:spPr>
            <a:xfrm>
              <a:off x="959824" y="2514877"/>
              <a:ext cx="2794794" cy="830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Mixtures</a:t>
              </a:r>
            </a:p>
            <a:p>
              <a:r>
                <a:rPr lang="en-US" sz="2400" dirty="0"/>
                <a:t>Variable composition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512CBCD-64FF-4824-B520-54F03A83BA32}"/>
                </a:ext>
              </a:extLst>
            </p:cNvPr>
            <p:cNvSpPr txBox="1"/>
            <p:nvPr/>
          </p:nvSpPr>
          <p:spPr>
            <a:xfrm>
              <a:off x="7829479" y="2459420"/>
              <a:ext cx="3159094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Pure substances</a:t>
              </a:r>
            </a:p>
            <a:p>
              <a:r>
                <a:rPr lang="en-US" sz="2400" dirty="0"/>
                <a:t>Constant composition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95257A-9CF8-B1DA-4955-FD4CFF5F5444}"/>
                </a:ext>
              </a:extLst>
            </p:cNvPr>
            <p:cNvSpPr txBox="1"/>
            <p:nvPr/>
          </p:nvSpPr>
          <p:spPr>
            <a:xfrm>
              <a:off x="4624198" y="2576520"/>
              <a:ext cx="3189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Physical Methods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8A72A3-E808-BF2D-780C-8B70D9CE20BF}"/>
                </a:ext>
              </a:extLst>
            </p:cNvPr>
            <p:cNvSpPr txBox="1"/>
            <p:nvPr/>
          </p:nvSpPr>
          <p:spPr>
            <a:xfrm>
              <a:off x="9916539" y="4498423"/>
              <a:ext cx="1891862" cy="656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AD9621-7280-C8C3-55D9-0C46373D5A30}"/>
                </a:ext>
              </a:extLst>
            </p:cNvPr>
            <p:cNvSpPr txBox="1"/>
            <p:nvPr/>
          </p:nvSpPr>
          <p:spPr>
            <a:xfrm>
              <a:off x="3741254" y="3132478"/>
              <a:ext cx="121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</a:rPr>
                <a:t>Preparing </a:t>
              </a:r>
            </a:p>
            <a:p>
              <a:r>
                <a:rPr lang="en-US" sz="2000" i="1" dirty="0">
                  <a:solidFill>
                    <a:srgbClr val="FF0000"/>
                  </a:solidFill>
                </a:rPr>
                <a:t>mixture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4946B0-F3D6-6731-D2BB-305855CB5660}"/>
                </a:ext>
              </a:extLst>
            </p:cNvPr>
            <p:cNvSpPr txBox="1"/>
            <p:nvPr/>
          </p:nvSpPr>
          <p:spPr>
            <a:xfrm>
              <a:off x="5492245" y="3142984"/>
              <a:ext cx="24682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i="1" dirty="0">
                  <a:solidFill>
                    <a:srgbClr val="FF0000"/>
                  </a:solidFill>
                </a:rPr>
                <a:t>Separating individual component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5649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chapter, students will be able to: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4440" y="17739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properties of matter based on volume and mass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34440" y="296265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physical properties of matter in solid, liquid, and gaseous form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4440" y="415137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effect of heat on matter and our daily life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534009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meaning of change of state and processes like melting, sublimation, and freezing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903720" y="17739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homogeneous and heterogeneous mixtures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03720" y="296265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methods used to separate the components of a mixture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30936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415137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change in molecular arrangement during change of state using models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Matter?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anything that has mass and occupies space. Two measurable properties define it: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89630" y="1700783"/>
            <a:ext cx="5074920" cy="4542362"/>
          </a:xfrm>
          <a:prstGeom prst="roundRect">
            <a:avLst>
              <a:gd name="adj" fmla="val 219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945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23865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matter contained in an object</a:t>
            </a: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05840" y="397764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1605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 </a:t>
            </a: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kilograms (kg) or grams (g)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46177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a beam balance or weighing scale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05840" y="5138928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52852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6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bag of rice with more mass than an empty bag contains more matter, even if it looks the same size.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72200" y="1828799"/>
            <a:ext cx="5074920" cy="4414345"/>
          </a:xfrm>
          <a:prstGeom prst="roundRect">
            <a:avLst>
              <a:gd name="adj" fmla="val 2198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21945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1" descr="icons/flas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38658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2860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537960" y="32461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space that matter occupies.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537960" y="397764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41148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 </a:t>
            </a: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litres (L), millilitres (mL), or cubic metres (m³)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537960" y="461772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</a:t>
            </a: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using a graduated cylinder or by calculation (l × w × h)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537960" y="5138928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528523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r>
              <a:rPr lang="en-US" sz="1600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 can hold the same volume of water even if one is tall and thin and the other is short and wide.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Properties of the Three States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729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esting shape, volume, and compressibility reveals how each state of matter behaves.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3089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203089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203089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203089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647226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47226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647226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47226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1363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091363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091363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091363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35501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35501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35501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35501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9638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9638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9638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9638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3775" y="18653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3775" y="205740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3775" y="224942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3775" y="244144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3009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shape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2153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compressible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4672584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vibrate in place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07408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70898" y="184261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4944058" y="208630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019640" y="221681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4903960" y="247501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5389557" y="18776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5413593" y="20546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5441366" y="224245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5364960" y="245755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5810972" y="18988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5883233" y="20260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5860134" y="227593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5831429" y="242198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237650" y="18824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6350168" y="203274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278743" y="227959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0905" y="240829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Shape 53"/>
          <p:cNvSpPr/>
          <p:nvPr/>
        </p:nvSpPr>
        <p:spPr>
          <a:xfrm>
            <a:off x="6671515" y="18468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Shape 54"/>
          <p:cNvSpPr/>
          <p:nvPr/>
        </p:nvSpPr>
        <p:spPr>
          <a:xfrm>
            <a:off x="6811882" y="20671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7" name="Shape 55"/>
          <p:cNvSpPr/>
          <p:nvPr/>
        </p:nvSpPr>
        <p:spPr>
          <a:xfrm>
            <a:off x="6700009" y="22493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8" name="Shape 56"/>
          <p:cNvSpPr/>
          <p:nvPr/>
        </p:nvSpPr>
        <p:spPr>
          <a:xfrm>
            <a:off x="6770593" y="24318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9" name="Shape 57"/>
          <p:cNvSpPr/>
          <p:nvPr/>
        </p:nvSpPr>
        <p:spPr>
          <a:xfrm>
            <a:off x="7113702" y="18320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0" name="Shape 58"/>
          <p:cNvSpPr/>
          <p:nvPr/>
        </p:nvSpPr>
        <p:spPr>
          <a:xfrm>
            <a:off x="7266436" y="20905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1" name="Shape 59"/>
          <p:cNvSpPr/>
          <p:nvPr/>
        </p:nvSpPr>
        <p:spPr>
          <a:xfrm>
            <a:off x="7126453" y="221917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2" name="Shape 60"/>
          <p:cNvSpPr/>
          <p:nvPr/>
        </p:nvSpPr>
        <p:spPr>
          <a:xfrm>
            <a:off x="7237676" y="24662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3" name="Text 61"/>
          <p:cNvSpPr/>
          <p:nvPr/>
        </p:nvSpPr>
        <p:spPr>
          <a:xfrm>
            <a:off x="4407408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407408" y="33009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5" name="Text 63"/>
          <p:cNvSpPr/>
          <p:nvPr/>
        </p:nvSpPr>
        <p:spPr>
          <a:xfrm>
            <a:off x="4636008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shape of container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07408" y="37581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7" name="Text 65"/>
          <p:cNvSpPr/>
          <p:nvPr/>
        </p:nvSpPr>
        <p:spPr>
          <a:xfrm>
            <a:off x="4636008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volume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7408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9" name="Text 67"/>
          <p:cNvSpPr/>
          <p:nvPr/>
        </p:nvSpPr>
        <p:spPr>
          <a:xfrm>
            <a:off x="4636008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compressible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407408" y="46725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1" name="Text 69"/>
          <p:cNvSpPr/>
          <p:nvPr/>
        </p:nvSpPr>
        <p:spPr>
          <a:xfrm>
            <a:off x="4636008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slide past each other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174736" y="160020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42325" y="178856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Shape 72"/>
          <p:cNvSpPr/>
          <p:nvPr/>
        </p:nvSpPr>
        <p:spPr>
          <a:xfrm>
            <a:off x="9381744" y="172135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5" name="Shape 73"/>
          <p:cNvSpPr/>
          <p:nvPr/>
        </p:nvSpPr>
        <p:spPr>
          <a:xfrm>
            <a:off x="10158984" y="186537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6" name="Shape 74"/>
          <p:cNvSpPr/>
          <p:nvPr/>
        </p:nvSpPr>
        <p:spPr>
          <a:xfrm>
            <a:off x="10936224" y="17693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7" name="Shape 75"/>
          <p:cNvSpPr/>
          <p:nvPr/>
        </p:nvSpPr>
        <p:spPr>
          <a:xfrm>
            <a:off x="8759952" y="20574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8" name="Shape 76"/>
          <p:cNvSpPr/>
          <p:nvPr/>
        </p:nvSpPr>
        <p:spPr>
          <a:xfrm>
            <a:off x="9848088" y="210540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718597" y="21534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0" name="Shape 78"/>
          <p:cNvSpPr/>
          <p:nvPr/>
        </p:nvSpPr>
        <p:spPr>
          <a:xfrm>
            <a:off x="11247120" y="200939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1" name="Shape 79"/>
          <p:cNvSpPr/>
          <p:nvPr/>
        </p:nvSpPr>
        <p:spPr>
          <a:xfrm>
            <a:off x="9070848" y="23454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003536" y="24414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936224" y="239344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4" name="Shape 82"/>
          <p:cNvSpPr/>
          <p:nvPr/>
        </p:nvSpPr>
        <p:spPr>
          <a:xfrm>
            <a:off x="8449056" y="248945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5" name="Shape 83"/>
          <p:cNvSpPr/>
          <p:nvPr/>
        </p:nvSpPr>
        <p:spPr>
          <a:xfrm>
            <a:off x="9537192" y="25374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14432" y="22494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7" name="Shape 85"/>
          <p:cNvSpPr/>
          <p:nvPr/>
        </p:nvSpPr>
        <p:spPr>
          <a:xfrm>
            <a:off x="11153851" y="25374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8" name="Text 86"/>
          <p:cNvSpPr/>
          <p:nvPr/>
        </p:nvSpPr>
        <p:spPr>
          <a:xfrm>
            <a:off x="8174736" y="26700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174736" y="33009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0" name="Text 88"/>
          <p:cNvSpPr/>
          <p:nvPr/>
        </p:nvSpPr>
        <p:spPr>
          <a:xfrm>
            <a:off x="8403336" y="31729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shape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8174736" y="37581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2" name="Text 90"/>
          <p:cNvSpPr/>
          <p:nvPr/>
        </p:nvSpPr>
        <p:spPr>
          <a:xfrm>
            <a:off x="8403336" y="36301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volume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174736" y="42153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4" name="Text 92"/>
          <p:cNvSpPr/>
          <p:nvPr/>
        </p:nvSpPr>
        <p:spPr>
          <a:xfrm>
            <a:off x="8403336" y="40873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compressible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174736" y="467258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6" name="Text 94"/>
          <p:cNvSpPr/>
          <p:nvPr/>
        </p:nvSpPr>
        <p:spPr>
          <a:xfrm>
            <a:off x="8403336" y="4544568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move freely, fast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239" y="3175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Effect of Heat on Matter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2239" y="9575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 changes the motion of particles — and shapes many everyday experiences.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385" y="1643380"/>
            <a:ext cx="2507894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5" name="Shape 3"/>
          <p:cNvSpPr/>
          <p:nvPr/>
        </p:nvSpPr>
        <p:spPr>
          <a:xfrm>
            <a:off x="1479499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thermome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091" y="20822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9399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25119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usually makes matter expand as particles move faster and spread apart — e.g. mercury rising in a thermometer, railway tracks with gaps.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50031" y="1643380"/>
            <a:ext cx="2560320" cy="361188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10" name="Shape 7"/>
          <p:cNvSpPr/>
          <p:nvPr/>
        </p:nvSpPr>
        <p:spPr>
          <a:xfrm>
            <a:off x="4341571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snowflak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163" y="20822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1471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587191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slows particle motion, pulling them closer together — e.g. a metal lid loosening when run under hot water shows the reverse effect.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12103" y="1643380"/>
            <a:ext cx="2560320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7203643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drop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235" y="20822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3543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&amp; Food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449263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cooks rice, boils eggs, and melts butter — transferring energy that changes texture, taste, and safety of food.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9128455" y="1643380"/>
            <a:ext cx="2606040" cy="3512820"/>
          </a:xfrm>
          <a:prstGeom prst="roundRect">
            <a:avLst>
              <a:gd name="adj" fmla="val 3509"/>
            </a:avLst>
          </a:prstGeom>
          <a:solidFill>
            <a:srgbClr val="034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65715" y="19177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wi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0307" y="208229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5615" y="27863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Water Cycle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311335" y="3152140"/>
            <a:ext cx="2240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sun's heat evaporates ocean water into vapour, which later condenses into clouds and falls as rain.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42239" y="52552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general: heating speeds up particle motion and pushes particles further apart, while cooling slows particles down and lets them settle closer together.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359359" y="63342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179454" y="63342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of State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59353"/>
            <a:ext cx="10698480" cy="881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changes from one state to another when heat is added or removed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substance stays the same, only its form changes.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8181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118181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118181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118181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340249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340249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340249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340249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1562318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1562318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1562318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62318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84386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1784386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1784386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1784386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006455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006455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06455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006455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2228523" y="30175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28523" y="317296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2228523" y="332841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8523" y="34838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512064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16101" y="299909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5402681" y="319636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5440472" y="33020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Shape 32"/>
          <p:cNvSpPr/>
          <p:nvPr/>
        </p:nvSpPr>
        <p:spPr>
          <a:xfrm>
            <a:off x="5382632" y="35110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5625430" y="302744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5637448" y="317073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5651335" y="332277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Shape 36"/>
          <p:cNvSpPr/>
          <p:nvPr/>
        </p:nvSpPr>
        <p:spPr>
          <a:xfrm>
            <a:off x="5613132" y="349690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5836138" y="304463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72269" y="314761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860719" y="33498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6367" y="34681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49477" y="30313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105736" y="315300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6070024" y="33528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6081105" y="345702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6410" y="300249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6336593" y="31808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6280656" y="332834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6315949" y="347612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487503" y="299055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6563870" y="319982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6493878" y="330392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6549490" y="35039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9418320" y="283464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2F8F7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615830" y="2955341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35540" y="290093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424160" y="30175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812780" y="293979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9724644" y="31729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68712" y="321183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703966" y="325069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968228" y="313410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9880092" y="34061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46436" y="3483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812780" y="344500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9569196" y="352272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113264" y="35615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501884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21594" y="35615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Text 70"/>
          <p:cNvSpPr/>
          <p:nvPr/>
        </p:nvSpPr>
        <p:spPr>
          <a:xfrm>
            <a:off x="94183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2651760" y="2798065"/>
            <a:ext cx="2468880" cy="580644"/>
          </a:xfrm>
          <a:prstGeom prst="curvedDownArrow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74" name="Text 72"/>
          <p:cNvSpPr/>
          <p:nvPr/>
        </p:nvSpPr>
        <p:spPr>
          <a:xfrm>
            <a:off x="2702746" y="3108645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</a:t>
            </a:r>
            <a:endParaRPr lang="en-US" dirty="0"/>
          </a:p>
        </p:txBody>
      </p:sp>
      <p:sp>
        <p:nvSpPr>
          <p:cNvPr id="75" name="Shape 73"/>
          <p:cNvSpPr/>
          <p:nvPr/>
        </p:nvSpPr>
        <p:spPr>
          <a:xfrm flipH="1">
            <a:off x="6821373" y="4094740"/>
            <a:ext cx="2623819" cy="413567"/>
          </a:xfrm>
          <a:prstGeom prst="curvedUpArrow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6963613" y="3159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Vaporisation / Boiling</a:t>
            </a: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5120640" y="3703320"/>
            <a:ext cx="0" cy="0"/>
          </a:xfrm>
          <a:prstGeom prst="line">
            <a:avLst/>
          </a:prstGeom>
          <a:noFill/>
          <a:ln w="28575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2651760" y="4059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</a:t>
            </a:r>
            <a:endParaRPr lang="en-US" dirty="0"/>
          </a:p>
        </p:txBody>
      </p:sp>
      <p:sp>
        <p:nvSpPr>
          <p:cNvPr id="79" name="Shape 77"/>
          <p:cNvSpPr/>
          <p:nvPr/>
        </p:nvSpPr>
        <p:spPr>
          <a:xfrm>
            <a:off x="9418320" y="3703320"/>
            <a:ext cx="0" cy="0"/>
          </a:xfrm>
          <a:prstGeom prst="line">
            <a:avLst/>
          </a:prstGeom>
          <a:noFill/>
          <a:ln w="28575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6949440" y="40599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Condensation</a:t>
            </a: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788205" y="2075689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 (solid → gas directly)</a:t>
            </a: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64008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</a:t>
            </a:r>
            <a:endParaRPr lang="en-US" sz="2400" dirty="0"/>
          </a:p>
        </p:txBody>
      </p:sp>
      <p:sp>
        <p:nvSpPr>
          <p:cNvPr id="85" name="Text 83"/>
          <p:cNvSpPr/>
          <p:nvPr/>
        </p:nvSpPr>
        <p:spPr>
          <a:xfrm>
            <a:off x="82296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absorbs heat and turns into a liquid at its melting point (e.g. ice into water).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47472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87" name="Text 85"/>
          <p:cNvSpPr/>
          <p:nvPr/>
        </p:nvSpPr>
        <p:spPr>
          <a:xfrm>
            <a:off x="365760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Freezing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365760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loses heat and turns into a solid at its freezing point (e.g. water into ice).€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6309360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Vaporisation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649224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 absorbs heat and turns into a gas, either by boiling or slow evaporation.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9093708" y="46177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2F8F7"/>
          </a:solidFill>
          <a:ln/>
        </p:spPr>
      </p:sp>
      <p:sp>
        <p:nvSpPr>
          <p:cNvPr id="93" name="Text 91"/>
          <p:cNvSpPr/>
          <p:nvPr/>
        </p:nvSpPr>
        <p:spPr>
          <a:xfrm>
            <a:off x="9326880" y="4754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9326880" y="509320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turns directly into a gas without passing through the liquid state (e.g. camphor, dry ice).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0" name="Arrow: Curved Down 99">
            <a:extLst>
              <a:ext uri="{FF2B5EF4-FFF2-40B4-BE49-F238E27FC236}">
                <a16:creationId xmlns:a16="http://schemas.microsoft.com/office/drawing/2014/main" id="{3FA75287-8427-5817-E8CA-95BFBE7225CA}"/>
              </a:ext>
            </a:extLst>
          </p:cNvPr>
          <p:cNvSpPr/>
          <p:nvPr/>
        </p:nvSpPr>
        <p:spPr>
          <a:xfrm>
            <a:off x="1696280" y="2011059"/>
            <a:ext cx="8456894" cy="79606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" name="Shape 71">
            <a:extLst>
              <a:ext uri="{FF2B5EF4-FFF2-40B4-BE49-F238E27FC236}">
                <a16:creationId xmlns:a16="http://schemas.microsoft.com/office/drawing/2014/main" id="{8F7A0B3E-F3CB-27A9-00D4-7888A07E75B0}"/>
              </a:ext>
            </a:extLst>
          </p:cNvPr>
          <p:cNvSpPr/>
          <p:nvPr/>
        </p:nvSpPr>
        <p:spPr>
          <a:xfrm>
            <a:off x="6963613" y="2620265"/>
            <a:ext cx="2513127" cy="580644"/>
          </a:xfrm>
          <a:prstGeom prst="curvedDownArrow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3" name="Shape 73">
            <a:extLst>
              <a:ext uri="{FF2B5EF4-FFF2-40B4-BE49-F238E27FC236}">
                <a16:creationId xmlns:a16="http://schemas.microsoft.com/office/drawing/2014/main" id="{ACA43B72-75D1-5FF1-B20F-86798154F068}"/>
              </a:ext>
            </a:extLst>
          </p:cNvPr>
          <p:cNvSpPr/>
          <p:nvPr/>
        </p:nvSpPr>
        <p:spPr>
          <a:xfrm flipH="1">
            <a:off x="2547807" y="4094740"/>
            <a:ext cx="2623819" cy="413567"/>
          </a:xfrm>
          <a:prstGeom prst="curvedUpArrow">
            <a:avLst/>
          </a:prstGeom>
          <a:noFill/>
          <a:ln w="28575">
            <a:solidFill>
              <a:srgbClr val="00A89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Arrangement: A Model of Change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particle models help us visualise how spacing and movement of particles change with state.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4935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274935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1274935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1274935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699478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9478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699478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9478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124021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24021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24021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124021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8563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548563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548563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2548563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3106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3106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3106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3106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3397649" y="211226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7649" y="24597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7649" y="28072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7649" y="31546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80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packed tightly in a fixed, orderly pattern. They vibrate but do not move from their position.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43484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4435" y="207107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98778" y="25120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1026" y="274820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0449" y="321542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Shape 34"/>
          <p:cNvSpPr/>
          <p:nvPr/>
        </p:nvSpPr>
        <p:spPr>
          <a:xfrm>
            <a:off x="5424623" y="213444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Shape 35"/>
          <p:cNvSpPr/>
          <p:nvPr/>
        </p:nvSpPr>
        <p:spPr>
          <a:xfrm>
            <a:off x="5447598" y="245473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Shape 36"/>
          <p:cNvSpPr/>
          <p:nvPr/>
        </p:nvSpPr>
        <p:spPr>
          <a:xfrm>
            <a:off x="5474146" y="279460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5401111" y="318383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5827446" y="2172879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6520" y="240306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5874439" y="2855173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5847001" y="3119462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235300" y="21431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6342854" y="241511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6274581" y="28618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7" name="Shape 45"/>
          <p:cNvSpPr/>
          <p:nvPr/>
        </p:nvSpPr>
        <p:spPr>
          <a:xfrm>
            <a:off x="6295765" y="309469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8" name="Shape 46"/>
          <p:cNvSpPr/>
          <p:nvPr/>
        </p:nvSpPr>
        <p:spPr>
          <a:xfrm>
            <a:off x="6650024" y="207868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9" name="Shape 47"/>
          <p:cNvSpPr/>
          <p:nvPr/>
        </p:nvSpPr>
        <p:spPr>
          <a:xfrm>
            <a:off x="6784198" y="2477347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0" name="Shape 48"/>
          <p:cNvSpPr/>
          <p:nvPr/>
        </p:nvSpPr>
        <p:spPr>
          <a:xfrm>
            <a:off x="6677261" y="280704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Shape 49"/>
          <p:cNvSpPr/>
          <p:nvPr/>
        </p:nvSpPr>
        <p:spPr>
          <a:xfrm>
            <a:off x="6744731" y="3137381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7072703" y="20519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Shape 51"/>
          <p:cNvSpPr/>
          <p:nvPr/>
        </p:nvSpPr>
        <p:spPr>
          <a:xfrm>
            <a:off x="7218699" y="251977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4" name="Shape 52"/>
          <p:cNvSpPr/>
          <p:nvPr/>
        </p:nvSpPr>
        <p:spPr>
          <a:xfrm>
            <a:off x="7084891" y="2752465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5" name="Shape 53"/>
          <p:cNvSpPr/>
          <p:nvPr/>
        </p:nvSpPr>
        <p:spPr>
          <a:xfrm>
            <a:off x="7191207" y="319952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6" name="Text 54"/>
          <p:cNvSpPr/>
          <p:nvPr/>
        </p:nvSpPr>
        <p:spPr>
          <a:xfrm>
            <a:off x="443484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43484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close but disordered, able to slide past one another — allowing liquid to flow.</a:t>
            </a: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8183880" y="160020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86216" y="1973275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0" name="Shape 58"/>
          <p:cNvSpPr/>
          <p:nvPr/>
        </p:nvSpPr>
        <p:spPr>
          <a:xfrm>
            <a:off x="9388602" y="185166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31552" y="21122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874502" y="193852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3" name="Shape 61"/>
          <p:cNvSpPr/>
          <p:nvPr/>
        </p:nvSpPr>
        <p:spPr>
          <a:xfrm>
            <a:off x="8794242" y="245973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4" name="Shape 62"/>
          <p:cNvSpPr/>
          <p:nvPr/>
        </p:nvSpPr>
        <p:spPr>
          <a:xfrm>
            <a:off x="9834372" y="254660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666476" y="263347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71682" y="23728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7" name="Shape 65"/>
          <p:cNvSpPr/>
          <p:nvPr/>
        </p:nvSpPr>
        <p:spPr>
          <a:xfrm>
            <a:off x="9091422" y="298094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8" name="Shape 66"/>
          <p:cNvSpPr/>
          <p:nvPr/>
        </p:nvSpPr>
        <p:spPr>
          <a:xfrm>
            <a:off x="9982962" y="31546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874502" y="30678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0" name="Shape 68"/>
          <p:cNvSpPr/>
          <p:nvPr/>
        </p:nvSpPr>
        <p:spPr>
          <a:xfrm>
            <a:off x="8497062" y="32415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1" name="Shape 69"/>
          <p:cNvSpPr/>
          <p:nvPr/>
        </p:nvSpPr>
        <p:spPr>
          <a:xfrm>
            <a:off x="9537192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280142" y="280720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3" name="Shape 71"/>
          <p:cNvSpPr/>
          <p:nvPr/>
        </p:nvSpPr>
        <p:spPr>
          <a:xfrm>
            <a:off x="11082528" y="332841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4" name="Text 72"/>
          <p:cNvSpPr/>
          <p:nvPr/>
        </p:nvSpPr>
        <p:spPr>
          <a:xfrm>
            <a:off x="8183880" y="3502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183880" y="406908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far apart and move rapidly in random directions, colliding and spreading to fill any space.</a:t>
            </a: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4160520" y="2743200"/>
            <a:ext cx="228600" cy="0"/>
          </a:xfrm>
          <a:prstGeom prst="line">
            <a:avLst/>
          </a:prstGeom>
          <a:noFill/>
          <a:ln w="25400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909560" y="2743200"/>
            <a:ext cx="228600" cy="0"/>
          </a:xfrm>
          <a:prstGeom prst="line">
            <a:avLst/>
          </a:prstGeom>
          <a:noFill/>
          <a:ln w="25400">
            <a:solidFill>
              <a:srgbClr val="4B6668"/>
            </a:solidFill>
            <a:prstDash val="solid"/>
            <a:tailEnd type="triangle"/>
          </a:ln>
        </p:spPr>
      </p:sp>
      <p:sp>
        <p:nvSpPr>
          <p:cNvPr id="79" name="Text 7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Homogeneous vs. Heterogeneous Mixtures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mixture forms when two or more substances combine without chemically reacting.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composition throughout — components cannot be visually distinguished.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05840" y="3273552"/>
            <a:ext cx="4343400" cy="1115568"/>
          </a:xfrm>
          <a:prstGeom prst="roundRect">
            <a:avLst>
              <a:gd name="adj" fmla="val 4615"/>
            </a:avLst>
          </a:prstGeom>
          <a:solidFill>
            <a:srgbClr val="DCEEEC"/>
          </a:solidFill>
          <a:ln/>
        </p:spPr>
      </p:sp>
      <p:sp>
        <p:nvSpPr>
          <p:cNvPr id="8" name="Shape 6"/>
          <p:cNvSpPr/>
          <p:nvPr/>
        </p:nvSpPr>
        <p:spPr>
          <a:xfrm>
            <a:off x="1628276" y="341699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1592357" y="366300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1693504" y="379476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1538696" y="405541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2188539" y="345235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2220705" y="363103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2"/>
          <p:cNvSpPr/>
          <p:nvPr/>
        </p:nvSpPr>
        <p:spPr>
          <a:xfrm>
            <a:off x="2257872" y="3820645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Shape 13"/>
          <p:cNvSpPr/>
          <p:nvPr/>
        </p:nvSpPr>
        <p:spPr>
          <a:xfrm>
            <a:off x="2155623" y="4037795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2752492" y="347379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2849195" y="360220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2818282" y="385443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779869" y="400188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23487" y="345720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063" y="360893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20"/>
          <p:cNvSpPr/>
          <p:nvPr/>
        </p:nvSpPr>
        <p:spPr>
          <a:xfrm>
            <a:off x="3378480" y="385814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3408138" y="398806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3904101" y="342124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Shape 23"/>
          <p:cNvSpPr/>
          <p:nvPr/>
        </p:nvSpPr>
        <p:spPr>
          <a:xfrm>
            <a:off x="4091945" y="3643651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3942233" y="382758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Shape 25"/>
          <p:cNvSpPr/>
          <p:nvPr/>
        </p:nvSpPr>
        <p:spPr>
          <a:xfrm>
            <a:off x="4036691" y="40118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Shape 26"/>
          <p:cNvSpPr/>
          <p:nvPr/>
        </p:nvSpPr>
        <p:spPr>
          <a:xfrm>
            <a:off x="4495851" y="3406343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0246" y="366732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2915" y="379713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1757" y="4046547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5537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salt water, air, sugar solution, brass alloy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1005840" y="498348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120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a solution — one substance (solute) is evenly dissolved in another (solvent).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172200" y="1783080"/>
            <a:ext cx="5074920" cy="3840480"/>
          </a:xfrm>
          <a:prstGeom prst="roundRect">
            <a:avLst>
              <a:gd name="adj" fmla="val 2381"/>
            </a:avLst>
          </a:prstGeom>
          <a:solidFill>
            <a:srgbClr val="F2F8F7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20574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537960" y="2514600"/>
            <a:ext cx="4343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composition — different components remain visibly separate.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537960" y="3200400"/>
            <a:ext cx="4343400" cy="1188720"/>
          </a:xfrm>
          <a:prstGeom prst="roundRect">
            <a:avLst>
              <a:gd name="adj" fmla="val 4615"/>
            </a:avLst>
          </a:prstGeom>
          <a:solidFill>
            <a:srgbClr val="DCEEEC"/>
          </a:solidFill>
          <a:ln/>
        </p:spPr>
      </p:sp>
      <p:sp>
        <p:nvSpPr>
          <p:cNvPr id="39" name="Shape 37"/>
          <p:cNvSpPr/>
          <p:nvPr/>
        </p:nvSpPr>
        <p:spPr>
          <a:xfrm>
            <a:off x="6908292" y="3314700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Shape 38"/>
          <p:cNvSpPr/>
          <p:nvPr/>
        </p:nvSpPr>
        <p:spPr>
          <a:xfrm>
            <a:off x="7429500" y="349300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1" name="Shape 39"/>
          <p:cNvSpPr/>
          <p:nvPr/>
        </p:nvSpPr>
        <p:spPr>
          <a:xfrm>
            <a:off x="6821424" y="3671316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2" name="Shape 40"/>
          <p:cNvSpPr/>
          <p:nvPr/>
        </p:nvSpPr>
        <p:spPr>
          <a:xfrm>
            <a:off x="7690104" y="3790188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7125462" y="38496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1122" y="346923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5" name="Shape 43"/>
          <p:cNvSpPr/>
          <p:nvPr/>
        </p:nvSpPr>
        <p:spPr>
          <a:xfrm>
            <a:off x="9297162" y="3374136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6" name="Shape 44"/>
          <p:cNvSpPr/>
          <p:nvPr/>
        </p:nvSpPr>
        <p:spPr>
          <a:xfrm>
            <a:off x="9948672" y="3314700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7" name="Shape 45"/>
          <p:cNvSpPr/>
          <p:nvPr/>
        </p:nvSpPr>
        <p:spPr>
          <a:xfrm>
            <a:off x="10383012" y="3552444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8" name="Shape 46"/>
          <p:cNvSpPr/>
          <p:nvPr/>
        </p:nvSpPr>
        <p:spPr>
          <a:xfrm>
            <a:off x="9731502" y="3730752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9992" y="3790188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0" name="Shape 48"/>
          <p:cNvSpPr/>
          <p:nvPr/>
        </p:nvSpPr>
        <p:spPr>
          <a:xfrm>
            <a:off x="10165842" y="3849624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00182" y="3730752"/>
            <a:ext cx="128016" cy="128016"/>
          </a:xfrm>
          <a:prstGeom prst="ellipse">
            <a:avLst/>
          </a:prstGeom>
          <a:solidFill>
            <a:srgbClr val="F2A365"/>
          </a:solidFill>
          <a:ln/>
        </p:spPr>
      </p:sp>
      <p:sp>
        <p:nvSpPr>
          <p:cNvPr id="52" name="Text 50"/>
          <p:cNvSpPr/>
          <p:nvPr/>
        </p:nvSpPr>
        <p:spPr>
          <a:xfrm>
            <a:off x="6537960" y="45537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sand and iron filings, oil and water, salad, granite rock</a:t>
            </a: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537960" y="4983480"/>
            <a:ext cx="4343400" cy="0"/>
          </a:xfrm>
          <a:prstGeom prst="line">
            <a:avLst/>
          </a:prstGeom>
          <a:noFill/>
          <a:ln w="12700">
            <a:solidFill>
              <a:srgbClr val="D7E4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512064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can often be told apart by eye and separated using simple physical methods.</a:t>
            </a: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Separating the Components of a Mixture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method depends on the physical properties of the components — size, state, solubility, or density.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filt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an insoluble solid from a liquid by passing the mixture through a filter paper or mesh.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thermomet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553712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 a solution so the liquid turns to vapour, leaving the dissolved solid behind (e.g. salt from seawater).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19202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dropl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8928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238744" y="256032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Boils a liquid mixture and condenses the vapour separately, separating liquids with different boiling points.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magn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Separation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68680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magnet to pull out magnetic materials such as iron filings from a mixture.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4325112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win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4348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Sublimation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4553712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 substance that turns directly to gas (like camphor or iodine) from solids that do not.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8010144" y="4069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034550"/>
          </a:solidFill>
          <a:ln/>
        </p:spPr>
      </p:sp>
      <p:sp>
        <p:nvSpPr>
          <p:cNvPr id="30" name="Shape 23"/>
          <p:cNvSpPr/>
          <p:nvPr/>
        </p:nvSpPr>
        <p:spPr>
          <a:xfrm>
            <a:off x="8238744" y="4297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sca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904" y="44348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42702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Sieving / Winnowing</a:t>
            </a:r>
            <a:endParaRPr lang="en-US" sz="2400" dirty="0"/>
          </a:p>
        </p:txBody>
      </p:sp>
      <p:sp>
        <p:nvSpPr>
          <p:cNvPr id="33" name="Text 25"/>
          <p:cNvSpPr/>
          <p:nvPr/>
        </p:nvSpPr>
        <p:spPr>
          <a:xfrm>
            <a:off x="8238744" y="49377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components by particle size (sieving) or by weight in a stream of air (winnowing).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32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Recap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81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&amp; Measurement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has mass and volume — the two properties we measure to describe it.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4813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Properties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46520" y="181051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Solids, liquids, and gases differ in shape, volume, and compressibility.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98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Heat's Effect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22783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drives expansion, contraction, and everyday changes we depend on.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172200" y="27889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898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State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322783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Melting, freezing, vaporisation, condensation, and sublimation move matter between states.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15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46451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mixtures are uniform; heterogeneous mixtures keep visibly separate parts.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72200" y="420624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3159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Techniques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46520" y="4645152"/>
            <a:ext cx="47548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32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Filtration, evaporation, distillation, and more exploit physical differences.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PROPERTIES, STATES &amp; CHANGES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B66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1161</Words>
  <Application>Microsoft Office PowerPoint</Application>
  <PresentationFormat>Widescreen</PresentationFormat>
  <Paragraphs>172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2026-07-20T06:07:25Z</dcterms:created>
  <dcterms:modified xsi:type="dcterms:W3CDTF">2026-07-21T06:19:03Z</dcterms:modified>
</cp:coreProperties>
</file>