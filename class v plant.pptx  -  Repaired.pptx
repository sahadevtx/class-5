
<file path=[Content_Types].xml><?xml version="1.0" encoding="utf-8"?>
<Types xmlns="http://schemas.openxmlformats.org/package/2006/content-types">
  <Default Extension="jpeg" ContentType="image/jpeg"/>
  <Default Extension="photo-1490750967868-88df5691cc17" ContentType="image/photo-1490750967868-88df5691cc17"/>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8" r:id="rId9"/>
    <p:sldId id="269" r:id="rId10"/>
    <p:sldId id="270" r:id="rId11"/>
    <p:sldId id="271" r:id="rId12"/>
    <p:sldId id="263" r:id="rId13"/>
    <p:sldId id="264" r:id="rId14"/>
    <p:sldId id="265" r:id="rId15"/>
    <p:sldId id="266"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906"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860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Today we begin our exciting journey into the world of plants. Ask students: 'Name a plant you saw today.' Plants are everywhere and essential to all life on Earth. This unit covers structure, function, and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what makes plants unique: autotrophs (make own food), eukaryotic cells with chloroplasts, cell walls, and ability to respond to light (phototropism). Ask: 'How many plant products did you use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ecosystem services of plants. Ask students to brainstorm additional uses. Mention that rainforests are 'the lungs of Earth' and why deforestation is concerning.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each part. Use a real plant if available. Ask: 'What do you think would happen to the plant if we removed its leaves?' Discuss how all parts work together for survival.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match each function to a body part analogy: roots = feet/kidneys, stem = spine/blood vessels, leaves = lungs, flowers = reproductive organs. This helps make abstract concepts concrete.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let students observe the flower. Ask: 'What colors do you see? Why might a flower be so colorful?' (Answer: to attract pollinators like bees, butterflies, and hummingbirds.) Discuss the relationship between flowers and their pollinators.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stamens (male) and pistil (female). A flower with both is called a 'perfect' flower. Discuss pollination — pollen from stamens must reach the stigma of a pistil. Cross-pollination requires an agent (wind, insects, birds).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9542-BB1F-3F05-700F-571A1EBAE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85D24-0D09-E7D6-018C-373FD4DDA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077F6-F5AB-DBA3-33E8-A39BFA5686F3}"/>
              </a:ext>
            </a:extLst>
          </p:cNvPr>
          <p:cNvSpPr>
            <a:spLocks noGrp="1"/>
          </p:cNvSpPr>
          <p:nvPr>
            <p:ph type="body" idx="1"/>
          </p:nvPr>
        </p:nvSpPr>
        <p:spPr/>
        <p:txBody>
          <a:bodyPr/>
          <a:lstStyle/>
          <a:p>
            <a:r>
              <a:rPr lang="en-US" dirty="0"/>
              <a:t>Explain the difference between stamens (male) and pistil (female). A flower with both is called a 'perfect' flower. Discuss pollination — pollen from stamens must reach the stigma of a pistil. Cross-pollination requires an agent (wind, insects, birds).</a:t>
            </a:r>
          </a:p>
        </p:txBody>
      </p:sp>
      <p:sp>
        <p:nvSpPr>
          <p:cNvPr id="4" name="Slide Number Placeholder 3">
            <a:extLst>
              <a:ext uri="{FF2B5EF4-FFF2-40B4-BE49-F238E27FC236}">
                <a16:creationId xmlns:a16="http://schemas.microsoft.com/office/drawing/2014/main" id="{8CD185CF-02C5-2A6E-819B-F8CC4DE8E1F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43920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229D3-F05C-F857-25BA-CA95DF3D4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C547B-16A4-F943-EC0A-1D311D4F4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D7E40-B9D0-54DB-3152-E3F66520E8FB}"/>
              </a:ext>
            </a:extLst>
          </p:cNvPr>
          <p:cNvSpPr>
            <a:spLocks noGrp="1"/>
          </p:cNvSpPr>
          <p:nvPr>
            <p:ph type="body" idx="1"/>
          </p:nvPr>
        </p:nvSpPr>
        <p:spPr/>
        <p:txBody>
          <a:bodyPr/>
          <a:lstStyle/>
          <a:p>
            <a:r>
              <a:rPr lang="en-US" dirty="0"/>
              <a:t>Explain the difference between stamens (male) and pistil (female). A flower with both is called a 'perfect' flower. Discuss pollination — pollen from stamens must reach the stigma of a pistil. Cross-pollination requires an agent (wind, insects, birds).</a:t>
            </a:r>
          </a:p>
        </p:txBody>
      </p:sp>
      <p:sp>
        <p:nvSpPr>
          <p:cNvPr id="4" name="Slide Number Placeholder 3">
            <a:extLst>
              <a:ext uri="{FF2B5EF4-FFF2-40B4-BE49-F238E27FC236}">
                <a16:creationId xmlns:a16="http://schemas.microsoft.com/office/drawing/2014/main" id="{2D10BE37-8907-4739-A48D-BA1D6432A2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7213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B877-3394-C8CE-6A9B-370CAC8E5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2101C-29E4-B424-7E00-05B30F3DA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A1A4F-B984-EFC6-98E5-303BC5CB02EE}"/>
              </a:ext>
            </a:extLst>
          </p:cNvPr>
          <p:cNvSpPr>
            <a:spLocks noGrp="1"/>
          </p:cNvSpPr>
          <p:nvPr>
            <p:ph type="body" idx="1"/>
          </p:nvPr>
        </p:nvSpPr>
        <p:spPr/>
        <p:txBody>
          <a:bodyPr/>
          <a:lstStyle/>
          <a:p>
            <a:r>
              <a:rPr lang="en-US" dirty="0"/>
              <a:t>Explain the difference between stamens (male) and pistil (female). A flower with both is called a 'perfect' flower. Discuss pollination — pollen from stamens must reach the stigma of a pistil. Cross-pollination requires an agent (wind, insects, birds).</a:t>
            </a:r>
          </a:p>
        </p:txBody>
      </p:sp>
      <p:sp>
        <p:nvSpPr>
          <p:cNvPr id="4" name="Slide Number Placeholder 3">
            <a:extLst>
              <a:ext uri="{FF2B5EF4-FFF2-40B4-BE49-F238E27FC236}">
                <a16:creationId xmlns:a16="http://schemas.microsoft.com/office/drawing/2014/main" id="{5DB27F29-669A-4AA0-8ACF-E5F2BAC1FE0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67560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8EA8-123C-4E45-39F8-37D4BBDF8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3C62E-28AF-5006-145E-BBA8418CA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10376-43CB-C3AB-73AE-0E5CC7DDCB9F}"/>
              </a:ext>
            </a:extLst>
          </p:cNvPr>
          <p:cNvSpPr>
            <a:spLocks noGrp="1"/>
          </p:cNvSpPr>
          <p:nvPr>
            <p:ph type="body" idx="1"/>
          </p:nvPr>
        </p:nvSpPr>
        <p:spPr/>
        <p:txBody>
          <a:bodyPr/>
          <a:lstStyle/>
          <a:p>
            <a:r>
              <a:rPr lang="en-US" dirty="0"/>
              <a:t>Explain the difference between stamens (male) and pistil (female). A flower with both is called a 'perfect' flower. Discuss pollination — pollen from stamens must reach the stigma of a pistil. Cross-pollination requires an agent (wind, insects, birds).</a:t>
            </a:r>
          </a:p>
        </p:txBody>
      </p:sp>
      <p:sp>
        <p:nvSpPr>
          <p:cNvPr id="4" name="Slide Number Placeholder 3">
            <a:extLst>
              <a:ext uri="{FF2B5EF4-FFF2-40B4-BE49-F238E27FC236}">
                <a16:creationId xmlns:a16="http://schemas.microsoft.com/office/drawing/2014/main" id="{907B1BFC-4E50-88E7-E38B-EFA153A855D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56485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focus slide. Have students write these definitions in their botany journals. Quick quiz idea: show a picture of a flower and ask students to point to each part. Emphasize that stamens = male and pistil = female.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names come from 'cotyledon' — the seed leaf inside a seed. MONOcot = 1 seed leaf. DIcot = 2 seed leaves. Memory trick: 'MONOcot has MONO-tone parallel lines on leaves; DICOT has a DIVERS network of veins.' Practice: bring in a grass leaf and a maple leaf for direct comparison.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examples of monocots in their daily life at home. Grasses, wheat, barley, sugarcane, onions, and lilies are all monocots. The key identifying feature students should remember is parallel veins on leaves.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trees and vegetable garden plants are dicots. Examples to add: oak, mango, pea, mustard, carrot. The 2-cotyledon seed is the defining feature. Bring in bean seeds pre-soaked so students can physically split them open and see the 2 cotyledons.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activity: Give each student an index card. One side: draw and label a monocot leaf. Other side: draw and label a dicot leaf. Exit ticket: 'Name one monocot and one dicot you ate or saw today.' Preview next lesson: Photosynthesis in detail.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hoto-1490750967868-88df5691cc17"/><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2E7D32">
              <a:alpha val="60000"/>
            </a:srgbClr>
          </a:solidFill>
          <a:ln/>
        </p:spPr>
      </p:sp>
      <p:sp>
        <p:nvSpPr>
          <p:cNvPr id="3" name="Shape 1"/>
          <p:cNvSpPr/>
          <p:nvPr/>
        </p:nvSpPr>
        <p:spPr>
          <a:xfrm>
            <a:off x="-1097280" y="3200400"/>
            <a:ext cx="3200400" cy="3200400"/>
          </a:xfrm>
          <a:prstGeom prst="ellipse">
            <a:avLst/>
          </a:prstGeom>
          <a:solidFill>
            <a:srgbClr val="43A047">
              <a:alpha val="50000"/>
            </a:srgbClr>
          </a:solidFill>
          <a:ln/>
        </p:spPr>
      </p:sp>
      <p:sp>
        <p:nvSpPr>
          <p:cNvPr id="4" name="Text 2"/>
          <p:cNvSpPr/>
          <p:nvPr/>
        </p:nvSpPr>
        <p:spPr>
          <a:xfrm>
            <a:off x="548640" y="822960"/>
            <a:ext cx="8046720" cy="1280160"/>
          </a:xfrm>
          <a:prstGeom prst="rect">
            <a:avLst/>
          </a:prstGeom>
          <a:noFill/>
          <a:ln/>
        </p:spPr>
        <p:txBody>
          <a:bodyPr wrap="square"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 The World of Plants</a:t>
            </a:r>
            <a:endParaRPr lang="en-US" sz="4200" dirty="0"/>
          </a:p>
        </p:txBody>
      </p:sp>
      <p:sp>
        <p:nvSpPr>
          <p:cNvPr id="5" name="Text 3"/>
          <p:cNvSpPr/>
          <p:nvPr/>
        </p:nvSpPr>
        <p:spPr>
          <a:xfrm>
            <a:off x="548640" y="2240280"/>
            <a:ext cx="7315200" cy="548640"/>
          </a:xfrm>
          <a:prstGeom prst="rect">
            <a:avLst/>
          </a:prstGeom>
          <a:noFill/>
          <a:ln/>
        </p:spPr>
        <p:txBody>
          <a:bodyPr wrap="square" rtlCol="0" anchor="ctr"/>
          <a:lstStyle/>
          <a:p>
            <a:pPr marL="0" indent="0">
              <a:buNone/>
            </a:pPr>
            <a:r>
              <a:rPr lang="en-US" sz="2000" i="1" dirty="0">
                <a:solidFill>
                  <a:srgbClr val="A5D6A7"/>
                </a:solidFill>
                <a:latin typeface="Calibri" pitchFamily="34" charset="0"/>
                <a:ea typeface="Calibri" pitchFamily="34" charset="-122"/>
                <a:cs typeface="Calibri" pitchFamily="34" charset="-120"/>
              </a:rPr>
              <a:t>A Comprehensive Guide to Plant Biology</a:t>
            </a:r>
            <a:endParaRPr lang="en-US" sz="2000" dirty="0"/>
          </a:p>
        </p:txBody>
      </p:sp>
      <p:sp>
        <p:nvSpPr>
          <p:cNvPr id="6" name="Text 4"/>
          <p:cNvSpPr/>
          <p:nvPr/>
        </p:nvSpPr>
        <p:spPr>
          <a:xfrm>
            <a:off x="548640" y="3017520"/>
            <a:ext cx="7772400" cy="548640"/>
          </a:xfrm>
          <a:prstGeom prst="rect">
            <a:avLst/>
          </a:prstGeom>
          <a:noFill/>
          <a:ln/>
        </p:spPr>
        <p:txBody>
          <a:bodyPr wrap="square" rtlCol="0" anchor="ctr"/>
          <a:lstStyle/>
          <a:p>
            <a:pPr marL="0" indent="0">
              <a:buNone/>
            </a:pPr>
            <a:r>
              <a:rPr lang="en-US" sz="1400" b="1" dirty="0">
                <a:solidFill>
                  <a:srgbClr val="A5D6A7"/>
                </a:solidFill>
                <a:latin typeface="Calibri" pitchFamily="34" charset="0"/>
                <a:ea typeface="Calibri" pitchFamily="34" charset="-122"/>
                <a:cs typeface="Calibri" pitchFamily="34" charset="-120"/>
              </a:rPr>
              <a:t>Topics: </a:t>
            </a:r>
            <a:r>
              <a:rPr lang="en-US" sz="1400" dirty="0">
                <a:solidFill>
                  <a:srgbClr val="A5D6A7"/>
                </a:solidFill>
                <a:latin typeface="Calibri" pitchFamily="34" charset="0"/>
                <a:ea typeface="Calibri" pitchFamily="34" charset="-122"/>
                <a:cs typeface="Calibri" pitchFamily="34" charset="-120"/>
              </a:rPr>
              <a:t>Introduction · Plant Parts · Flowers · Monocots &amp; Dicots</a:t>
            </a:r>
            <a:endParaRPr lang="en-US" sz="1400" dirty="0"/>
          </a:p>
        </p:txBody>
      </p:sp>
      <p:sp>
        <p:nvSpPr>
          <p:cNvPr id="7" name="Shape 5"/>
          <p:cNvSpPr/>
          <p:nvPr/>
        </p:nvSpPr>
        <p:spPr>
          <a:xfrm>
            <a:off x="0" y="4572000"/>
            <a:ext cx="9144000" cy="571500"/>
          </a:xfrm>
          <a:prstGeom prst="rect">
            <a:avLst/>
          </a:prstGeom>
          <a:solidFill>
            <a:srgbClr val="F9A825"/>
          </a:solidFill>
          <a:ln/>
        </p:spPr>
      </p:sp>
      <p:sp>
        <p:nvSpPr>
          <p:cNvPr id="8" name="Text 6"/>
          <p:cNvSpPr/>
          <p:nvPr/>
        </p:nvSpPr>
        <p:spPr>
          <a:xfrm>
            <a:off x="274320" y="4617720"/>
            <a:ext cx="8595360" cy="475488"/>
          </a:xfrm>
          <a:prstGeom prst="rect">
            <a:avLst/>
          </a:prstGeom>
          <a:noFill/>
          <a:ln/>
        </p:spPr>
        <p:txBody>
          <a:bodyPr wrap="square" rtlCol="0" anchor="ctr"/>
          <a:lstStyle/>
          <a:p>
            <a:pPr marL="0" indent="0" algn="l">
              <a:buNone/>
            </a:pPr>
            <a:r>
              <a:rPr lang="en-US" sz="1300" b="1" dirty="0">
                <a:solidFill>
                  <a:srgbClr val="1B5E20"/>
                </a:solidFill>
                <a:latin typeface="Calibri" pitchFamily="34" charset="0"/>
                <a:ea typeface="Calibri" pitchFamily="34" charset="-122"/>
                <a:cs typeface="Calibri" pitchFamily="34" charset="-120"/>
              </a:rPr>
              <a:t>Science Department  |  Grade 6–8  |  Botany Unit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5E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sp>
      <p:sp>
        <p:nvSpPr>
          <p:cNvPr id="3" name="Text 1"/>
          <p:cNvSpPr/>
          <p:nvPr/>
        </p:nvSpPr>
        <p:spPr>
          <a:xfrm>
            <a:off x="365760" y="73152"/>
            <a:ext cx="8229600" cy="658368"/>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Are Plants?</a:t>
            </a:r>
            <a:endParaRPr lang="en-US" sz="3000" dirty="0"/>
          </a:p>
        </p:txBody>
      </p:sp>
      <p:sp>
        <p:nvSpPr>
          <p:cNvPr id="4" name="Shape 2"/>
          <p:cNvSpPr/>
          <p:nvPr/>
        </p:nvSpPr>
        <p:spPr>
          <a:xfrm>
            <a:off x="320040" y="1051560"/>
            <a:ext cx="4160520" cy="1691640"/>
          </a:xfrm>
          <a:prstGeom prst="roundRect">
            <a:avLst>
              <a:gd name="adj" fmla="val 5405"/>
            </a:avLst>
          </a:prstGeom>
          <a:solidFill>
            <a:srgbClr val="FFFFFF"/>
          </a:solidFill>
          <a:ln/>
          <a:effectLst>
            <a:outerShdw blurRad="101600" dist="38100" dir="2700000" algn="bl" rotWithShape="0">
              <a:srgbClr val="000000">
                <a:alpha val="14000"/>
              </a:srgbClr>
            </a:outerShdw>
          </a:effectLst>
        </p:spPr>
      </p:sp>
      <p:sp>
        <p:nvSpPr>
          <p:cNvPr id="5" name="Text 3"/>
          <p:cNvSpPr/>
          <p:nvPr/>
        </p:nvSpPr>
        <p:spPr>
          <a:xfrm>
            <a:off x="484632" y="1161288"/>
            <a:ext cx="3840480" cy="411480"/>
          </a:xfrm>
          <a:prstGeom prst="rect">
            <a:avLst/>
          </a:prstGeom>
          <a:noFill/>
          <a:ln/>
        </p:spPr>
        <p:txBody>
          <a:bodyPr wrap="square" rtlCol="0" anchor="ctr"/>
          <a:lstStyle/>
          <a:p>
            <a:pPr marL="0" indent="0">
              <a:buNone/>
            </a:pPr>
            <a:r>
              <a:rPr lang="en-US" sz="1600" b="1" dirty="0">
                <a:solidFill>
                  <a:srgbClr val="1B5E20"/>
                </a:solidFill>
                <a:latin typeface="Cambria" pitchFamily="34" charset="0"/>
                <a:ea typeface="Cambria" pitchFamily="34" charset="-122"/>
                <a:cs typeface="Cambria" pitchFamily="34" charset="-120"/>
              </a:rPr>
              <a:t>🌱  Living Organisms</a:t>
            </a:r>
            <a:endParaRPr lang="en-US" sz="1600" dirty="0"/>
          </a:p>
        </p:txBody>
      </p:sp>
      <p:sp>
        <p:nvSpPr>
          <p:cNvPr id="6" name="Text 4"/>
          <p:cNvSpPr/>
          <p:nvPr/>
        </p:nvSpPr>
        <p:spPr>
          <a:xfrm>
            <a:off x="484632" y="1581912"/>
            <a:ext cx="3840480" cy="1005840"/>
          </a:xfrm>
          <a:prstGeom prst="rect">
            <a:avLst/>
          </a:prstGeom>
          <a:noFill/>
          <a:ln/>
        </p:spPr>
        <p:txBody>
          <a:bodyPr wrap="square" rtlCol="0" anchor="ctr"/>
          <a:lstStyle/>
          <a:p>
            <a:pPr marL="0" indent="0">
              <a:buNone/>
            </a:pPr>
            <a:r>
              <a:rPr lang="en-US" dirty="0">
                <a:solidFill>
                  <a:srgbClr val="212121"/>
                </a:solidFill>
                <a:latin typeface="Times New Roman" panose="02020603050405020304" pitchFamily="18" charset="0"/>
                <a:ea typeface="Calibri" pitchFamily="34" charset="-122"/>
                <a:cs typeface="Times New Roman" panose="02020603050405020304" pitchFamily="18" charset="0"/>
              </a:rPr>
              <a:t>Plants are multicellular living things that grow in soil, water, or other surfaces</a:t>
            </a:r>
            <a:r>
              <a:rPr lang="en-US" sz="1300" dirty="0">
                <a:solidFill>
                  <a:srgbClr val="212121"/>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4754880" y="1051560"/>
            <a:ext cx="4160520" cy="1691640"/>
          </a:xfrm>
          <a:prstGeom prst="roundRect">
            <a:avLst>
              <a:gd name="adj" fmla="val 5405"/>
            </a:avLst>
          </a:prstGeom>
          <a:solidFill>
            <a:srgbClr val="FFFFFF"/>
          </a:solidFill>
          <a:ln/>
          <a:effectLst>
            <a:outerShdw blurRad="101600" dist="38100" dir="2700000" algn="bl" rotWithShape="0">
              <a:srgbClr val="000000">
                <a:alpha val="14000"/>
              </a:srgbClr>
            </a:outerShdw>
          </a:effectLst>
        </p:spPr>
      </p:sp>
      <p:sp>
        <p:nvSpPr>
          <p:cNvPr id="8" name="Text 6"/>
          <p:cNvSpPr/>
          <p:nvPr/>
        </p:nvSpPr>
        <p:spPr>
          <a:xfrm>
            <a:off x="4919472" y="1161288"/>
            <a:ext cx="3840480" cy="411480"/>
          </a:xfrm>
          <a:prstGeom prst="rect">
            <a:avLst/>
          </a:prstGeom>
          <a:noFill/>
          <a:ln/>
        </p:spPr>
        <p:txBody>
          <a:bodyPr wrap="square" rtlCol="0" anchor="ctr"/>
          <a:lstStyle/>
          <a:p>
            <a:pPr marL="0" indent="0">
              <a:buNone/>
            </a:pPr>
            <a:r>
              <a:rPr lang="en-US" sz="1600" b="1" dirty="0">
                <a:solidFill>
                  <a:srgbClr val="1B5E20"/>
                </a:solidFill>
                <a:latin typeface="Cambria" pitchFamily="34" charset="0"/>
                <a:ea typeface="Cambria" pitchFamily="34" charset="-122"/>
                <a:cs typeface="Cambria" pitchFamily="34" charset="-120"/>
              </a:rPr>
              <a:t>☀️  Photosynthesis</a:t>
            </a:r>
            <a:endParaRPr lang="en-US" sz="1600" dirty="0"/>
          </a:p>
        </p:txBody>
      </p:sp>
      <p:sp>
        <p:nvSpPr>
          <p:cNvPr id="9" name="Text 7"/>
          <p:cNvSpPr/>
          <p:nvPr/>
        </p:nvSpPr>
        <p:spPr>
          <a:xfrm>
            <a:off x="4919472" y="1581912"/>
            <a:ext cx="3840480" cy="1005840"/>
          </a:xfrm>
          <a:prstGeom prst="rect">
            <a:avLst/>
          </a:prstGeom>
          <a:noFill/>
          <a:ln/>
        </p:spPr>
        <p:txBody>
          <a:bodyPr wrap="square" rtlCol="0" anchor="ctr"/>
          <a:lstStyle/>
          <a:p>
            <a:pPr marL="0" indent="0">
              <a:buNone/>
            </a:pPr>
            <a:r>
              <a:rPr lang="en-US" dirty="0">
                <a:solidFill>
                  <a:srgbClr val="212121"/>
                </a:solidFill>
                <a:latin typeface="Times New Roman" panose="02020603050405020304" pitchFamily="18" charset="0"/>
                <a:ea typeface="Calibri" pitchFamily="34" charset="-122"/>
                <a:cs typeface="Times New Roman" panose="02020603050405020304" pitchFamily="18" charset="0"/>
              </a:rPr>
              <a:t>They make their own food using sunlight, water, and CO₂ — a process called photosynthesis.</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320040" y="2926080"/>
            <a:ext cx="4160520" cy="1691640"/>
          </a:xfrm>
          <a:prstGeom prst="roundRect">
            <a:avLst>
              <a:gd name="adj" fmla="val 5405"/>
            </a:avLst>
          </a:prstGeom>
          <a:solidFill>
            <a:srgbClr val="FFFFFF"/>
          </a:solidFill>
          <a:ln/>
          <a:effectLst>
            <a:outerShdw blurRad="101600" dist="38100" dir="2700000" algn="bl" rotWithShape="0">
              <a:srgbClr val="000000">
                <a:alpha val="14000"/>
              </a:srgbClr>
            </a:outerShdw>
          </a:effectLst>
        </p:spPr>
      </p:sp>
      <p:sp>
        <p:nvSpPr>
          <p:cNvPr id="11" name="Text 9"/>
          <p:cNvSpPr/>
          <p:nvPr/>
        </p:nvSpPr>
        <p:spPr>
          <a:xfrm>
            <a:off x="484632" y="3035808"/>
            <a:ext cx="3840480" cy="411480"/>
          </a:xfrm>
          <a:prstGeom prst="rect">
            <a:avLst/>
          </a:prstGeom>
          <a:noFill/>
          <a:ln/>
        </p:spPr>
        <p:txBody>
          <a:bodyPr wrap="square" rtlCol="0" anchor="ctr"/>
          <a:lstStyle/>
          <a:p>
            <a:pPr marL="0" indent="0">
              <a:buNone/>
            </a:pPr>
            <a:r>
              <a:rPr lang="en-US" sz="1600" b="1" dirty="0">
                <a:solidFill>
                  <a:srgbClr val="1B5E20"/>
                </a:solidFill>
                <a:latin typeface="Cambria" pitchFamily="34" charset="0"/>
                <a:ea typeface="Cambria" pitchFamily="34" charset="-122"/>
                <a:cs typeface="Cambria" pitchFamily="34" charset="-120"/>
              </a:rPr>
              <a:t>🌍  Producers</a:t>
            </a:r>
            <a:endParaRPr lang="en-US" sz="1600" dirty="0"/>
          </a:p>
        </p:txBody>
      </p:sp>
      <p:sp>
        <p:nvSpPr>
          <p:cNvPr id="12" name="Text 10"/>
          <p:cNvSpPr/>
          <p:nvPr/>
        </p:nvSpPr>
        <p:spPr>
          <a:xfrm>
            <a:off x="484632" y="3456432"/>
            <a:ext cx="3840480" cy="1005840"/>
          </a:xfrm>
          <a:prstGeom prst="rect">
            <a:avLst/>
          </a:prstGeom>
          <a:noFill/>
          <a:ln/>
        </p:spPr>
        <p:txBody>
          <a:bodyPr wrap="square" rtlCol="0" anchor="ctr"/>
          <a:lstStyle/>
          <a:p>
            <a:pPr marL="0" indent="0">
              <a:buNone/>
            </a:pPr>
            <a:r>
              <a:rPr lang="en-US" dirty="0">
                <a:solidFill>
                  <a:srgbClr val="212121"/>
                </a:solidFill>
                <a:latin typeface="Times New Roman" panose="02020603050405020304" pitchFamily="18" charset="0"/>
                <a:ea typeface="Calibri" pitchFamily="34" charset="-122"/>
                <a:cs typeface="Times New Roman" panose="02020603050405020304" pitchFamily="18" charset="0"/>
              </a:rPr>
              <a:t>Plants form the base of most food chains, producing oxygen that all animals breathe.</a:t>
            </a:r>
            <a:endParaRPr lang="en-US" dirty="0">
              <a:latin typeface="Times New Roman" panose="02020603050405020304" pitchFamily="18" charset="0"/>
              <a:cs typeface="Times New Roman" panose="02020603050405020304" pitchFamily="18" charset="0"/>
            </a:endParaRPr>
          </a:p>
        </p:txBody>
      </p:sp>
      <p:sp>
        <p:nvSpPr>
          <p:cNvPr id="13" name="Shape 11"/>
          <p:cNvSpPr/>
          <p:nvPr/>
        </p:nvSpPr>
        <p:spPr>
          <a:xfrm>
            <a:off x="4754880" y="2926080"/>
            <a:ext cx="4160520" cy="1691640"/>
          </a:xfrm>
          <a:prstGeom prst="roundRect">
            <a:avLst>
              <a:gd name="adj" fmla="val 5405"/>
            </a:avLst>
          </a:prstGeom>
          <a:solidFill>
            <a:srgbClr val="FFFFFF"/>
          </a:solidFill>
          <a:ln/>
          <a:effectLst>
            <a:outerShdw blurRad="101600" dist="38100" dir="2700000" algn="bl" rotWithShape="0">
              <a:srgbClr val="000000">
                <a:alpha val="14000"/>
              </a:srgbClr>
            </a:outerShdw>
          </a:effectLst>
        </p:spPr>
      </p:sp>
      <p:sp>
        <p:nvSpPr>
          <p:cNvPr id="14" name="Text 12"/>
          <p:cNvSpPr/>
          <p:nvPr/>
        </p:nvSpPr>
        <p:spPr>
          <a:xfrm>
            <a:off x="4919472" y="3035808"/>
            <a:ext cx="3840480" cy="411480"/>
          </a:xfrm>
          <a:prstGeom prst="rect">
            <a:avLst/>
          </a:prstGeom>
          <a:noFill/>
          <a:ln/>
        </p:spPr>
        <p:txBody>
          <a:bodyPr wrap="square" rtlCol="0" anchor="ctr"/>
          <a:lstStyle/>
          <a:p>
            <a:pPr marL="0" indent="0">
              <a:buNone/>
            </a:pPr>
            <a:r>
              <a:rPr lang="en-US" sz="1600" b="1" dirty="0">
                <a:solidFill>
                  <a:srgbClr val="1B5E20"/>
                </a:solidFill>
                <a:latin typeface="Cambria" pitchFamily="34" charset="0"/>
                <a:ea typeface="Cambria" pitchFamily="34" charset="-122"/>
                <a:cs typeface="Cambria" pitchFamily="34" charset="-120"/>
              </a:rPr>
              <a:t>📦  Cell Walls</a:t>
            </a:r>
            <a:endParaRPr lang="en-US" sz="1600" dirty="0"/>
          </a:p>
        </p:txBody>
      </p:sp>
      <p:sp>
        <p:nvSpPr>
          <p:cNvPr id="15" name="Text 13"/>
          <p:cNvSpPr/>
          <p:nvPr/>
        </p:nvSpPr>
        <p:spPr>
          <a:xfrm>
            <a:off x="4919472" y="3456432"/>
            <a:ext cx="3840480" cy="1005840"/>
          </a:xfrm>
          <a:prstGeom prst="rect">
            <a:avLst/>
          </a:prstGeom>
          <a:noFill/>
          <a:ln/>
        </p:spPr>
        <p:txBody>
          <a:bodyPr wrap="square" rtlCol="0" anchor="ctr"/>
          <a:lstStyle/>
          <a:p>
            <a:pPr marL="0" indent="0">
              <a:buNone/>
            </a:pPr>
            <a:r>
              <a:rPr lang="en-US" dirty="0">
                <a:solidFill>
                  <a:srgbClr val="212121"/>
                </a:solidFill>
                <a:latin typeface="Times New Roman" panose="02020603050405020304" pitchFamily="18" charset="0"/>
                <a:ea typeface="Calibri" pitchFamily="34" charset="-122"/>
                <a:cs typeface="Times New Roman" panose="02020603050405020304" pitchFamily="18" charset="0"/>
              </a:rPr>
              <a:t>Unlike animals, plant cells have rigid cell walls made of cellulose for structure and support</a:t>
            </a:r>
            <a:r>
              <a:rPr lang="en-US" sz="1300" dirty="0">
                <a:solidFill>
                  <a:srgbClr val="212121"/>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7772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Are Plants Important?</a:t>
            </a:r>
            <a:endParaRPr lang="en-US" sz="3200" dirty="0"/>
          </a:p>
        </p:txBody>
      </p:sp>
      <p:sp>
        <p:nvSpPr>
          <p:cNvPr id="3" name="Shape 1"/>
          <p:cNvSpPr/>
          <p:nvPr/>
        </p:nvSpPr>
        <p:spPr>
          <a:xfrm>
            <a:off x="274320" y="1188720"/>
            <a:ext cx="1572768" cy="3246120"/>
          </a:xfrm>
          <a:prstGeom prst="roundRect">
            <a:avLst>
              <a:gd name="adj" fmla="val 6977"/>
            </a:avLst>
          </a:prstGeom>
          <a:solidFill>
            <a:srgbClr val="43A047">
              <a:alpha val="80000"/>
            </a:srgbClr>
          </a:solidFill>
          <a:ln/>
          <a:effectLst>
            <a:outerShdw blurRad="101600" dist="38100" dir="2700000" algn="bl" rotWithShape="0">
              <a:srgbClr val="000000">
                <a:alpha val="14000"/>
              </a:srgbClr>
            </a:outerShdw>
          </a:effectLst>
        </p:spPr>
      </p:sp>
      <p:sp>
        <p:nvSpPr>
          <p:cNvPr id="4" name="Text 2"/>
          <p:cNvSpPr/>
          <p:nvPr/>
        </p:nvSpPr>
        <p:spPr>
          <a:xfrm>
            <a:off x="274320" y="1371600"/>
            <a:ext cx="1572768"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5" name="Text 3"/>
          <p:cNvSpPr/>
          <p:nvPr/>
        </p:nvSpPr>
        <p:spPr>
          <a:xfrm>
            <a:off x="274320" y="2084832"/>
            <a:ext cx="1572768" cy="411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Oxygen</a:t>
            </a:r>
            <a:endParaRPr lang="en-US" sz="1400" dirty="0"/>
          </a:p>
        </p:txBody>
      </p:sp>
      <p:sp>
        <p:nvSpPr>
          <p:cNvPr id="6" name="Text 4"/>
          <p:cNvSpPr/>
          <p:nvPr/>
        </p:nvSpPr>
        <p:spPr>
          <a:xfrm>
            <a:off x="338328" y="2542032"/>
            <a:ext cx="1444752" cy="914400"/>
          </a:xfrm>
          <a:prstGeom prst="rect">
            <a:avLst/>
          </a:prstGeom>
          <a:noFill/>
          <a:ln/>
        </p:spPr>
        <p:txBody>
          <a:bodyPr wrap="square" rtlCol="0" anchor="ctr"/>
          <a:lstStyle/>
          <a:p>
            <a:pPr marL="0" indent="0" algn="ctr">
              <a:buNone/>
            </a:pPr>
            <a:r>
              <a:rPr lang="en-US" dirty="0">
                <a:latin typeface="Times New Roman" panose="02020603050405020304" pitchFamily="18" charset="0"/>
                <a:ea typeface="Calibri" pitchFamily="34" charset="-122"/>
                <a:cs typeface="Times New Roman" panose="02020603050405020304" pitchFamily="18" charset="0"/>
              </a:rPr>
              <a:t>Produce ~50% of Earth's oxygen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1993392" y="1188720"/>
            <a:ext cx="1572768" cy="3246120"/>
          </a:xfrm>
          <a:prstGeom prst="roundRect">
            <a:avLst>
              <a:gd name="adj" fmla="val 6977"/>
            </a:avLst>
          </a:prstGeom>
          <a:solidFill>
            <a:srgbClr val="43A047">
              <a:alpha val="80000"/>
            </a:srgbClr>
          </a:solidFill>
          <a:ln/>
          <a:effectLst>
            <a:outerShdw blurRad="101600" dist="38100" dir="2700000" algn="bl" rotWithShape="0">
              <a:srgbClr val="000000">
                <a:alpha val="14000"/>
              </a:srgbClr>
            </a:outerShdw>
          </a:effectLst>
        </p:spPr>
      </p:sp>
      <p:sp>
        <p:nvSpPr>
          <p:cNvPr id="8" name="Text 6"/>
          <p:cNvSpPr/>
          <p:nvPr/>
        </p:nvSpPr>
        <p:spPr>
          <a:xfrm>
            <a:off x="1993392" y="1371600"/>
            <a:ext cx="1572768"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993392" y="2084832"/>
            <a:ext cx="1572768" cy="411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Food</a:t>
            </a:r>
            <a:endParaRPr lang="en-US" sz="1400" dirty="0"/>
          </a:p>
        </p:txBody>
      </p:sp>
      <p:sp>
        <p:nvSpPr>
          <p:cNvPr id="10" name="Text 8"/>
          <p:cNvSpPr/>
          <p:nvPr/>
        </p:nvSpPr>
        <p:spPr>
          <a:xfrm>
            <a:off x="2057400" y="2542032"/>
            <a:ext cx="1444752" cy="914400"/>
          </a:xfrm>
          <a:prstGeom prst="rect">
            <a:avLst/>
          </a:prstGeom>
          <a:noFill/>
          <a:ln/>
        </p:spPr>
        <p:txBody>
          <a:bodyPr wrap="square" rtlCol="0" anchor="ctr"/>
          <a:lstStyle/>
          <a:p>
            <a:pPr marL="0" indent="0" algn="ctr">
              <a:buNone/>
            </a:pPr>
            <a:r>
              <a:rPr lang="en-US" dirty="0">
                <a:latin typeface="Times New Roman" panose="02020603050405020304" pitchFamily="18" charset="0"/>
                <a:ea typeface="Calibri" pitchFamily="34" charset="-122"/>
                <a:cs typeface="Times New Roman" panose="02020603050405020304" pitchFamily="18" charset="0"/>
              </a:rPr>
              <a:t>Source of fruits, vegetables, grains</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3712464" y="1188720"/>
            <a:ext cx="1572768" cy="3246120"/>
          </a:xfrm>
          <a:prstGeom prst="roundRect">
            <a:avLst>
              <a:gd name="adj" fmla="val 6977"/>
            </a:avLst>
          </a:prstGeom>
          <a:solidFill>
            <a:srgbClr val="43A047">
              <a:alpha val="80000"/>
            </a:srgbClr>
          </a:solidFill>
          <a:ln/>
          <a:effectLst>
            <a:outerShdw blurRad="101600" dist="38100" dir="2700000" algn="bl" rotWithShape="0">
              <a:srgbClr val="000000">
                <a:alpha val="14000"/>
              </a:srgbClr>
            </a:outerShdw>
          </a:effectLst>
        </p:spPr>
      </p:sp>
      <p:sp>
        <p:nvSpPr>
          <p:cNvPr id="12" name="Text 10"/>
          <p:cNvSpPr/>
          <p:nvPr/>
        </p:nvSpPr>
        <p:spPr>
          <a:xfrm>
            <a:off x="3712464" y="1371600"/>
            <a:ext cx="1572768"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3712464" y="2084832"/>
            <a:ext cx="1572768" cy="411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Medicine</a:t>
            </a:r>
            <a:endParaRPr lang="en-US" sz="1400" dirty="0"/>
          </a:p>
        </p:txBody>
      </p:sp>
      <p:sp>
        <p:nvSpPr>
          <p:cNvPr id="14" name="Text 12"/>
          <p:cNvSpPr/>
          <p:nvPr/>
        </p:nvSpPr>
        <p:spPr>
          <a:xfrm>
            <a:off x="3776472" y="2542032"/>
            <a:ext cx="1444752" cy="914400"/>
          </a:xfrm>
          <a:prstGeom prst="rect">
            <a:avLst/>
          </a:prstGeom>
          <a:noFill/>
          <a:ln/>
        </p:spPr>
        <p:txBody>
          <a:bodyPr wrap="square" rtlCol="0" anchor="ctr"/>
          <a:lstStyle/>
          <a:p>
            <a:pPr marL="0" indent="0" algn="ctr">
              <a:buNone/>
            </a:pPr>
            <a:r>
              <a:rPr lang="en-US" dirty="0">
                <a:latin typeface="Times New Roman" panose="02020603050405020304" pitchFamily="18" charset="0"/>
                <a:ea typeface="Calibri" pitchFamily="34" charset="-122"/>
                <a:cs typeface="Times New Roman" panose="02020603050405020304" pitchFamily="18" charset="0"/>
              </a:rPr>
              <a:t>Basis of many life-saving drugs</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5431536" y="1188720"/>
            <a:ext cx="1572768" cy="3246120"/>
          </a:xfrm>
          <a:prstGeom prst="roundRect">
            <a:avLst>
              <a:gd name="adj" fmla="val 6977"/>
            </a:avLst>
          </a:prstGeom>
          <a:solidFill>
            <a:srgbClr val="43A047">
              <a:alpha val="80000"/>
            </a:srgbClr>
          </a:solidFill>
          <a:ln/>
          <a:effectLst>
            <a:outerShdw blurRad="101600" dist="38100" dir="2700000" algn="bl" rotWithShape="0">
              <a:srgbClr val="000000">
                <a:alpha val="14000"/>
              </a:srgbClr>
            </a:outerShdw>
          </a:effectLst>
        </p:spPr>
      </p:sp>
      <p:sp>
        <p:nvSpPr>
          <p:cNvPr id="16" name="Text 14"/>
          <p:cNvSpPr/>
          <p:nvPr/>
        </p:nvSpPr>
        <p:spPr>
          <a:xfrm>
            <a:off x="5431536" y="1371600"/>
            <a:ext cx="1572768" cy="640080"/>
          </a:xfrm>
          <a:prstGeom prst="rect">
            <a:avLst/>
          </a:prstGeom>
          <a:noFill/>
          <a:ln/>
        </p:spPr>
        <p:txBody>
          <a:bodyPr wrap="square" rtlCol="0" anchor="ctr"/>
          <a:lstStyle/>
          <a:p>
            <a:pPr marL="0" indent="0" algn="ctr">
              <a:buNone/>
            </a:pPr>
            <a:endParaRPr lang="en-US" sz="3000" dirty="0"/>
          </a:p>
        </p:txBody>
      </p:sp>
      <p:sp>
        <p:nvSpPr>
          <p:cNvPr id="17" name="Text 15"/>
          <p:cNvSpPr/>
          <p:nvPr/>
        </p:nvSpPr>
        <p:spPr>
          <a:xfrm>
            <a:off x="5431536" y="2084832"/>
            <a:ext cx="1572768" cy="411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Materials</a:t>
            </a:r>
            <a:endParaRPr lang="en-US" sz="1400" dirty="0"/>
          </a:p>
        </p:txBody>
      </p:sp>
      <p:sp>
        <p:nvSpPr>
          <p:cNvPr id="18" name="Text 16"/>
          <p:cNvSpPr/>
          <p:nvPr/>
        </p:nvSpPr>
        <p:spPr>
          <a:xfrm>
            <a:off x="5495544" y="2542032"/>
            <a:ext cx="1444752" cy="914400"/>
          </a:xfrm>
          <a:prstGeom prst="rect">
            <a:avLst/>
          </a:prstGeom>
          <a:noFill/>
          <a:ln/>
        </p:spPr>
        <p:txBody>
          <a:bodyPr wrap="square" rtlCol="0" anchor="ctr"/>
          <a:lstStyle/>
          <a:p>
            <a:pPr marL="0" indent="0" algn="ctr">
              <a:buNone/>
            </a:pPr>
            <a:r>
              <a:rPr lang="en-US" dirty="0">
                <a:latin typeface="Times New Roman" panose="02020603050405020304" pitchFamily="18" charset="0"/>
                <a:ea typeface="Calibri" pitchFamily="34" charset="-122"/>
                <a:cs typeface="Times New Roman" panose="02020603050405020304" pitchFamily="18" charset="0"/>
              </a:rPr>
              <a:t>Wood, cotton, rubber, paper</a:t>
            </a:r>
            <a:endParaRPr lang="en-US" dirty="0">
              <a:latin typeface="Times New Roman" panose="02020603050405020304" pitchFamily="18" charset="0"/>
              <a:cs typeface="Times New Roman" panose="02020603050405020304" pitchFamily="18" charset="0"/>
            </a:endParaRPr>
          </a:p>
        </p:txBody>
      </p:sp>
      <p:sp>
        <p:nvSpPr>
          <p:cNvPr id="19" name="Shape 17"/>
          <p:cNvSpPr/>
          <p:nvPr/>
        </p:nvSpPr>
        <p:spPr>
          <a:xfrm>
            <a:off x="7150608" y="1188720"/>
            <a:ext cx="1572768" cy="3246120"/>
          </a:xfrm>
          <a:prstGeom prst="roundRect">
            <a:avLst>
              <a:gd name="adj" fmla="val 6977"/>
            </a:avLst>
          </a:prstGeom>
          <a:solidFill>
            <a:srgbClr val="43A047">
              <a:alpha val="80000"/>
            </a:srgbClr>
          </a:solidFill>
          <a:ln/>
          <a:effectLst>
            <a:outerShdw blurRad="101600" dist="38100" dir="2700000" algn="bl" rotWithShape="0">
              <a:srgbClr val="000000">
                <a:alpha val="14000"/>
              </a:srgbClr>
            </a:outerShdw>
          </a:effectLst>
        </p:spPr>
      </p:sp>
      <p:sp>
        <p:nvSpPr>
          <p:cNvPr id="20" name="Text 18"/>
          <p:cNvSpPr/>
          <p:nvPr/>
        </p:nvSpPr>
        <p:spPr>
          <a:xfrm>
            <a:off x="7150608" y="1371600"/>
            <a:ext cx="1572768"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7150608" y="2084832"/>
            <a:ext cx="1572768" cy="411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Climate</a:t>
            </a:r>
            <a:endParaRPr lang="en-US" sz="1400" dirty="0"/>
          </a:p>
        </p:txBody>
      </p:sp>
      <p:sp>
        <p:nvSpPr>
          <p:cNvPr id="22" name="Text 20"/>
          <p:cNvSpPr/>
          <p:nvPr/>
        </p:nvSpPr>
        <p:spPr>
          <a:xfrm>
            <a:off x="7214616" y="2542032"/>
            <a:ext cx="1444752" cy="914400"/>
          </a:xfrm>
          <a:prstGeom prst="rect">
            <a:avLst/>
          </a:prstGeom>
          <a:noFill/>
          <a:ln/>
        </p:spPr>
        <p:txBody>
          <a:bodyPr wrap="square" rtlCol="0" anchor="ctr"/>
          <a:lstStyle/>
          <a:p>
            <a:pPr marL="0" indent="0" algn="ctr">
              <a:buNone/>
            </a:pPr>
            <a:r>
              <a:rPr lang="en-US" sz="1600" dirty="0">
                <a:latin typeface="Times New Roman" panose="02020603050405020304" pitchFamily="18" charset="0"/>
                <a:ea typeface="Calibri" pitchFamily="34" charset="-122"/>
                <a:cs typeface="Times New Roman" panose="02020603050405020304" pitchFamily="18" charset="0"/>
              </a:rPr>
              <a:t>Regulate temperature &amp; rainfall</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914400" y="4572000"/>
            <a:ext cx="7315200" cy="411480"/>
          </a:xfrm>
          <a:prstGeom prst="rect">
            <a:avLst/>
          </a:prstGeom>
          <a:noFill/>
          <a:ln/>
        </p:spPr>
        <p:txBody>
          <a:bodyPr wrap="square" rtlCol="0" anchor="ctr"/>
          <a:lstStyle/>
          <a:p>
            <a:pPr marL="0" indent="0" algn="ctr">
              <a:buNone/>
            </a:pPr>
            <a:r>
              <a:rPr lang="en-US" sz="1500" i="1" dirty="0">
                <a:solidFill>
                  <a:srgbClr val="F9A825"/>
                </a:solidFill>
                <a:latin typeface="Calibri" pitchFamily="34" charset="0"/>
                <a:ea typeface="Calibri" pitchFamily="34" charset="-122"/>
                <a:cs typeface="Calibri" pitchFamily="34" charset="-120"/>
              </a:rPr>
              <a:t>Plants are the foundation of life on Earth!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8E9"/>
        </a:solidFill>
        <a:effectLst/>
      </p:bgPr>
    </p:bg>
    <p:spTree>
      <p:nvGrpSpPr>
        <p:cNvPr id="1" name=""/>
        <p:cNvGrpSpPr/>
        <p:nvPr/>
      </p:nvGrpSpPr>
      <p:grpSpPr>
        <a:xfrm>
          <a:off x="0" y="0"/>
          <a:ext cx="0" cy="0"/>
          <a:chOff x="0" y="0"/>
          <a:chExt cx="0" cy="0"/>
        </a:xfrm>
      </p:grpSpPr>
      <p:pic>
        <p:nvPicPr>
          <p:cNvPr id="1026" name="Picture 2" descr="Parts of a Plant Definition Structure and Functions">
            <a:extLst>
              <a:ext uri="{FF2B5EF4-FFF2-40B4-BE49-F238E27FC236}">
                <a16:creationId xmlns:a16="http://schemas.microsoft.com/office/drawing/2014/main" id="{FBD8C9C5-526B-E416-941B-EA80E6467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925" y="968867"/>
            <a:ext cx="3320974" cy="3598164"/>
          </a:xfrm>
          <a:prstGeom prst="rect">
            <a:avLst/>
          </a:prstGeom>
          <a:noFill/>
        </p:spPr>
      </p:pic>
      <p:sp>
        <p:nvSpPr>
          <p:cNvPr id="2" name="Shape 0"/>
          <p:cNvSpPr/>
          <p:nvPr/>
        </p:nvSpPr>
        <p:spPr>
          <a:xfrm>
            <a:off x="0" y="0"/>
            <a:ext cx="9144000" cy="777240"/>
          </a:xfrm>
          <a:prstGeom prst="rect">
            <a:avLst/>
          </a:prstGeom>
          <a:solidFill>
            <a:srgbClr val="00897B"/>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Parts of a Plant</a:t>
            </a:r>
            <a:endParaRPr lang="en-US" sz="2800" dirty="0"/>
          </a:p>
        </p:txBody>
      </p:sp>
      <p:grpSp>
        <p:nvGrpSpPr>
          <p:cNvPr id="34" name="Group 33">
            <a:extLst>
              <a:ext uri="{FF2B5EF4-FFF2-40B4-BE49-F238E27FC236}">
                <a16:creationId xmlns:a16="http://schemas.microsoft.com/office/drawing/2014/main" id="{262758BC-D3DE-4C43-4027-9BC7E3E1619E}"/>
              </a:ext>
            </a:extLst>
          </p:cNvPr>
          <p:cNvGrpSpPr/>
          <p:nvPr/>
        </p:nvGrpSpPr>
        <p:grpSpPr>
          <a:xfrm>
            <a:off x="1166160" y="1878459"/>
            <a:ext cx="2017881" cy="940236"/>
            <a:chOff x="943292" y="933585"/>
            <a:chExt cx="1605502" cy="854701"/>
          </a:xfrm>
        </p:grpSpPr>
        <p:sp>
          <p:nvSpPr>
            <p:cNvPr id="16" name="Shape 14"/>
            <p:cNvSpPr/>
            <p:nvPr/>
          </p:nvSpPr>
          <p:spPr>
            <a:xfrm>
              <a:off x="948594" y="1011046"/>
              <a:ext cx="1600200" cy="777240"/>
            </a:xfrm>
            <a:prstGeom prst="roundRect">
              <a:avLst>
                <a:gd name="adj" fmla="val 9412"/>
              </a:avLst>
            </a:prstGeom>
            <a:solidFill>
              <a:srgbClr val="FFFFFF"/>
            </a:solidFill>
            <a:ln/>
            <a:effectLst>
              <a:outerShdw blurRad="101600" dist="38100" dir="2700000" algn="bl" rotWithShape="0">
                <a:srgbClr val="000000">
                  <a:alpha val="14000"/>
                </a:srgbClr>
              </a:outerShdw>
            </a:effectLst>
          </p:spPr>
        </p:sp>
        <p:sp>
          <p:nvSpPr>
            <p:cNvPr id="17" name="Text 15"/>
            <p:cNvSpPr/>
            <p:nvPr/>
          </p:nvSpPr>
          <p:spPr>
            <a:xfrm>
              <a:off x="943292" y="933585"/>
              <a:ext cx="1604172" cy="816126"/>
            </a:xfrm>
            <a:prstGeom prst="rect">
              <a:avLst/>
            </a:prstGeom>
            <a:noFill/>
            <a:ln/>
          </p:spPr>
          <p:txBody>
            <a:bodyPr wrap="square" rtlCol="0" anchor="ctr"/>
            <a:lstStyle/>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1B2A1E"/>
                  </a:solidFill>
                  <a:highlight>
                    <a:srgbClr val="FFFF00"/>
                  </a:highlight>
                  <a:latin typeface="Times New Roman" panose="02020603050405020304" pitchFamily="18" charset="0"/>
                  <a:ea typeface="Calibri" pitchFamily="34" charset="-122"/>
                  <a:cs typeface="Times New Roman" panose="02020603050405020304" pitchFamily="18" charset="0"/>
                </a:rPr>
                <a:t>Flower</a:t>
              </a:r>
              <a:endParaRPr lang="en-US" sz="1600" dirty="0">
                <a:highlight>
                  <a:srgbClr val="FFFF00"/>
                </a:highlight>
                <a:latin typeface="Times New Roman" panose="02020603050405020304" pitchFamily="18" charset="0"/>
                <a:cs typeface="Times New Roman" panose="02020603050405020304" pitchFamily="18" charset="0"/>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Attracts pollinators,</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holds reproductive parts</a:t>
              </a:r>
              <a:endParaRPr lang="en-US" sz="1600" dirty="0">
                <a:latin typeface="Times New Roman" panose="02020603050405020304" pitchFamily="18" charset="0"/>
                <a:cs typeface="Times New Roman" panose="02020603050405020304" pitchFamily="18" charset="0"/>
              </a:endParaRPr>
            </a:p>
          </p:txBody>
        </p:sp>
      </p:grpSp>
      <p:grpSp>
        <p:nvGrpSpPr>
          <p:cNvPr id="33" name="Group 32">
            <a:extLst>
              <a:ext uri="{FF2B5EF4-FFF2-40B4-BE49-F238E27FC236}">
                <a16:creationId xmlns:a16="http://schemas.microsoft.com/office/drawing/2014/main" id="{300D20C4-CB0B-CB3F-42A0-397A432BF9E7}"/>
              </a:ext>
            </a:extLst>
          </p:cNvPr>
          <p:cNvGrpSpPr/>
          <p:nvPr/>
        </p:nvGrpSpPr>
        <p:grpSpPr>
          <a:xfrm>
            <a:off x="4644221" y="841248"/>
            <a:ext cx="2213779" cy="897802"/>
            <a:chOff x="777239" y="2092286"/>
            <a:chExt cx="2213779" cy="897802"/>
          </a:xfrm>
        </p:grpSpPr>
        <p:sp>
          <p:nvSpPr>
            <p:cNvPr id="19" name="Shape 17"/>
            <p:cNvSpPr/>
            <p:nvPr/>
          </p:nvSpPr>
          <p:spPr>
            <a:xfrm>
              <a:off x="777239" y="2167128"/>
              <a:ext cx="2213779" cy="822960"/>
            </a:xfrm>
            <a:prstGeom prst="roundRect">
              <a:avLst>
                <a:gd name="adj" fmla="val 9412"/>
              </a:avLst>
            </a:prstGeom>
            <a:solidFill>
              <a:srgbClr val="FFFFFF"/>
            </a:solidFill>
            <a:ln/>
            <a:effectLst>
              <a:outerShdw blurRad="101600" dist="38100" dir="2700000" algn="bl" rotWithShape="0">
                <a:srgbClr val="000000">
                  <a:alpha val="14000"/>
                </a:srgbClr>
              </a:outerShdw>
            </a:effectLst>
          </p:spPr>
        </p:sp>
        <p:sp>
          <p:nvSpPr>
            <p:cNvPr id="20" name="Text 18"/>
            <p:cNvSpPr/>
            <p:nvPr/>
          </p:nvSpPr>
          <p:spPr>
            <a:xfrm>
              <a:off x="822959" y="2092286"/>
              <a:ext cx="2154295" cy="897802"/>
            </a:xfrm>
            <a:prstGeom prst="rect">
              <a:avLst/>
            </a:prstGeom>
            <a:noFill/>
            <a:ln/>
          </p:spPr>
          <p:txBody>
            <a:bodyPr wrap="square" rtlCol="0" anchor="ctr"/>
            <a:lstStyle/>
            <a:p>
              <a:pPr marL="0" indent="0">
                <a:buNone/>
              </a:pPr>
              <a:r>
                <a:rPr lang="en-US" sz="1000" dirty="0">
                  <a:solidFill>
                    <a:srgbClr val="1B2A1E"/>
                  </a:solidFill>
                  <a:latin typeface="Calibri" pitchFamily="34" charset="0"/>
                  <a:ea typeface="Calibri" pitchFamily="34" charset="-122"/>
                  <a:cs typeface="Calibri" pitchFamily="34" charset="-120"/>
                </a:rPr>
                <a:t>🍃 </a:t>
              </a:r>
              <a:r>
                <a:rPr lang="en-US" sz="1600" dirty="0">
                  <a:solidFill>
                    <a:srgbClr val="1B2A1E"/>
                  </a:solidFill>
                  <a:highlight>
                    <a:srgbClr val="FFFF00"/>
                  </a:highlight>
                  <a:latin typeface="Calibri" pitchFamily="34" charset="0"/>
                  <a:ea typeface="Calibri" pitchFamily="34" charset="-122"/>
                  <a:cs typeface="Calibri" pitchFamily="34" charset="-120"/>
                </a:rPr>
                <a:t>Leaf</a:t>
              </a:r>
              <a:endParaRPr lang="en-US" sz="1600" dirty="0">
                <a:highlight>
                  <a:srgbClr val="FFFF00"/>
                </a:highlight>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Makes food via</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photosynthesis</a:t>
              </a:r>
              <a:endParaRPr lang="en-US" sz="1600" dirty="0">
                <a:latin typeface="Times New Roman" panose="02020603050405020304" pitchFamily="18" charset="0"/>
                <a:cs typeface="Times New Roman" panose="02020603050405020304" pitchFamily="18" charset="0"/>
              </a:endParaRPr>
            </a:p>
          </p:txBody>
        </p:sp>
      </p:grpSp>
      <p:sp>
        <p:nvSpPr>
          <p:cNvPr id="21" name="Shape 19"/>
          <p:cNvSpPr/>
          <p:nvPr/>
        </p:nvSpPr>
        <p:spPr>
          <a:xfrm>
            <a:off x="6858000" y="2514600"/>
            <a:ext cx="0" cy="45720"/>
          </a:xfrm>
          <a:prstGeom prst="line">
            <a:avLst/>
          </a:prstGeom>
          <a:noFill/>
          <a:ln w="12700">
            <a:solidFill>
              <a:srgbClr val="546E7A"/>
            </a:solidFill>
            <a:prstDash val="dash"/>
          </a:ln>
        </p:spPr>
      </p:sp>
      <p:grpSp>
        <p:nvGrpSpPr>
          <p:cNvPr id="30" name="Group 29">
            <a:extLst>
              <a:ext uri="{FF2B5EF4-FFF2-40B4-BE49-F238E27FC236}">
                <a16:creationId xmlns:a16="http://schemas.microsoft.com/office/drawing/2014/main" id="{70758C29-5C05-08B3-7263-ED3C84B33D00}"/>
              </a:ext>
            </a:extLst>
          </p:cNvPr>
          <p:cNvGrpSpPr/>
          <p:nvPr/>
        </p:nvGrpSpPr>
        <p:grpSpPr>
          <a:xfrm>
            <a:off x="1024569" y="3217694"/>
            <a:ext cx="2138404" cy="993118"/>
            <a:chOff x="5897880" y="1572768"/>
            <a:chExt cx="1600200" cy="804672"/>
          </a:xfrm>
        </p:grpSpPr>
        <p:sp>
          <p:nvSpPr>
            <p:cNvPr id="22" name="Shape 20"/>
            <p:cNvSpPr/>
            <p:nvPr/>
          </p:nvSpPr>
          <p:spPr>
            <a:xfrm>
              <a:off x="5897880" y="1600200"/>
              <a:ext cx="1600200" cy="777240"/>
            </a:xfrm>
            <a:prstGeom prst="roundRect">
              <a:avLst>
                <a:gd name="adj" fmla="val 9412"/>
              </a:avLst>
            </a:prstGeom>
            <a:solidFill>
              <a:srgbClr val="FFFFFF"/>
            </a:solidFill>
            <a:ln/>
            <a:effectLst>
              <a:outerShdw blurRad="101600" dist="38100" dir="2700000" algn="bl" rotWithShape="0">
                <a:srgbClr val="000000">
                  <a:alpha val="14000"/>
                </a:srgbClr>
              </a:outerShdw>
            </a:effectLst>
          </p:spPr>
        </p:sp>
        <p:sp>
          <p:nvSpPr>
            <p:cNvPr id="23" name="Text 21"/>
            <p:cNvSpPr/>
            <p:nvPr/>
          </p:nvSpPr>
          <p:spPr>
            <a:xfrm>
              <a:off x="5933661" y="1572768"/>
              <a:ext cx="1508760" cy="749808"/>
            </a:xfrm>
            <a:prstGeom prst="rect">
              <a:avLst/>
            </a:prstGeom>
            <a:noFill/>
            <a:ln/>
          </p:spPr>
          <p:txBody>
            <a:bodyPr wrap="square" rtlCol="0" anchor="ctr"/>
            <a:lstStyle/>
            <a:p>
              <a:pPr marL="0" indent="0">
                <a:buNone/>
              </a:pPr>
              <a:r>
                <a:rPr lang="en-US" dirty="0">
                  <a:solidFill>
                    <a:srgbClr val="1B2A1E"/>
                  </a:solidFill>
                  <a:latin typeface="Times New Roman" panose="02020603050405020304" pitchFamily="18" charset="0"/>
                  <a:ea typeface="Calibri" pitchFamily="34" charset="-122"/>
                  <a:cs typeface="Times New Roman" panose="02020603050405020304" pitchFamily="18" charset="0"/>
                </a:rPr>
                <a:t>🌿 </a:t>
              </a:r>
              <a:r>
                <a:rPr lang="en-US" dirty="0">
                  <a:solidFill>
                    <a:srgbClr val="1B2A1E"/>
                  </a:solidFill>
                  <a:highlight>
                    <a:srgbClr val="FFFF00"/>
                  </a:highlight>
                  <a:latin typeface="Times New Roman" panose="02020603050405020304" pitchFamily="18" charset="0"/>
                  <a:ea typeface="Calibri" pitchFamily="34" charset="-122"/>
                  <a:cs typeface="Times New Roman" panose="02020603050405020304" pitchFamily="18" charset="0"/>
                </a:rPr>
                <a:t>Stem</a:t>
              </a:r>
              <a:endParaRPr lang="en-US" dirty="0">
                <a:highlight>
                  <a:srgbClr val="FFFF00"/>
                </a:highlight>
                <a:latin typeface="Times New Roman" panose="02020603050405020304" pitchFamily="18" charset="0"/>
                <a:cs typeface="Times New Roman" panose="02020603050405020304" pitchFamily="18" charset="0"/>
              </a:endParaRPr>
            </a:p>
            <a:p>
              <a:pPr marL="0" indent="0">
                <a:buNone/>
              </a:pPr>
              <a:r>
                <a:rPr lang="en-US" dirty="0">
                  <a:solidFill>
                    <a:srgbClr val="1B2A1E"/>
                  </a:solidFill>
                  <a:latin typeface="Times New Roman" panose="02020603050405020304" pitchFamily="18" charset="0"/>
                  <a:ea typeface="Calibri" pitchFamily="34" charset="-122"/>
                  <a:cs typeface="Times New Roman" panose="02020603050405020304" pitchFamily="18" charset="0"/>
                </a:rPr>
                <a:t>Supports plant,</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B2A1E"/>
                  </a:solidFill>
                  <a:latin typeface="Times New Roman" panose="02020603050405020304" pitchFamily="18" charset="0"/>
                  <a:ea typeface="Calibri" pitchFamily="34" charset="-122"/>
                  <a:cs typeface="Times New Roman" panose="02020603050405020304" pitchFamily="18" charset="0"/>
                </a:rPr>
                <a:t>transports water</a:t>
              </a:r>
              <a:endParaRPr lang="en-US" dirty="0">
                <a:latin typeface="Times New Roman" panose="02020603050405020304" pitchFamily="18" charset="0"/>
                <a:cs typeface="Times New Roman" panose="02020603050405020304" pitchFamily="18" charset="0"/>
              </a:endParaRPr>
            </a:p>
          </p:txBody>
        </p:sp>
      </p:grpSp>
      <p:sp>
        <p:nvSpPr>
          <p:cNvPr id="24" name="Shape 22"/>
          <p:cNvSpPr/>
          <p:nvPr/>
        </p:nvSpPr>
        <p:spPr>
          <a:xfrm>
            <a:off x="6858000" y="3246120"/>
            <a:ext cx="0" cy="0"/>
          </a:xfrm>
          <a:prstGeom prst="line">
            <a:avLst/>
          </a:prstGeom>
          <a:noFill/>
          <a:ln w="12700">
            <a:solidFill>
              <a:srgbClr val="546E7A"/>
            </a:solidFill>
            <a:prstDash val="dash"/>
          </a:ln>
        </p:spPr>
      </p:sp>
      <p:grpSp>
        <p:nvGrpSpPr>
          <p:cNvPr id="35" name="Group 34">
            <a:extLst>
              <a:ext uri="{FF2B5EF4-FFF2-40B4-BE49-F238E27FC236}">
                <a16:creationId xmlns:a16="http://schemas.microsoft.com/office/drawing/2014/main" id="{8739E4BA-90CF-BD5D-4471-C4E24F0A90F4}"/>
              </a:ext>
            </a:extLst>
          </p:cNvPr>
          <p:cNvGrpSpPr/>
          <p:nvPr/>
        </p:nvGrpSpPr>
        <p:grpSpPr>
          <a:xfrm>
            <a:off x="4802914" y="3125856"/>
            <a:ext cx="2219233" cy="1171824"/>
            <a:chOff x="921684" y="3584448"/>
            <a:chExt cx="2219233" cy="1171824"/>
          </a:xfrm>
        </p:grpSpPr>
        <p:sp>
          <p:nvSpPr>
            <p:cNvPr id="28" name="Shape 26"/>
            <p:cNvSpPr/>
            <p:nvPr/>
          </p:nvSpPr>
          <p:spPr>
            <a:xfrm>
              <a:off x="921684" y="3675888"/>
              <a:ext cx="2193722" cy="1010114"/>
            </a:xfrm>
            <a:prstGeom prst="roundRect">
              <a:avLst>
                <a:gd name="adj" fmla="val 9412"/>
              </a:avLst>
            </a:prstGeom>
            <a:solidFill>
              <a:srgbClr val="FFFFFF"/>
            </a:solidFill>
            <a:ln/>
            <a:effectLst>
              <a:outerShdw blurRad="101600" dist="38100" dir="2700000" algn="bl" rotWithShape="0">
                <a:srgbClr val="000000">
                  <a:alpha val="14000"/>
                </a:srgbClr>
              </a:outerShdw>
            </a:effectLst>
          </p:spPr>
        </p:sp>
        <p:sp>
          <p:nvSpPr>
            <p:cNvPr id="29" name="Text 27"/>
            <p:cNvSpPr/>
            <p:nvPr/>
          </p:nvSpPr>
          <p:spPr>
            <a:xfrm>
              <a:off x="986621" y="3584448"/>
              <a:ext cx="2154296" cy="1171824"/>
            </a:xfrm>
            <a:prstGeom prst="rect">
              <a:avLst/>
            </a:prstGeom>
            <a:noFill/>
            <a:ln/>
          </p:spPr>
          <p:txBody>
            <a:bodyPr wrap="square" rtlCol="0" anchor="ctr"/>
            <a:lstStyle/>
            <a:p>
              <a:pPr marL="0" indent="0">
                <a:buNone/>
              </a:pPr>
              <a:r>
                <a:rPr lang="en-US" sz="1000" dirty="0">
                  <a:solidFill>
                    <a:srgbClr val="1B2A1E"/>
                  </a:solidFill>
                  <a:latin typeface="Calibri" pitchFamily="34" charset="0"/>
                  <a:ea typeface="Calibri" pitchFamily="34" charset="-122"/>
                  <a:cs typeface="Calibri" pitchFamily="34" charset="-120"/>
                </a:rPr>
                <a:t> </a:t>
              </a:r>
              <a:r>
                <a:rPr lang="en-US" sz="1600" dirty="0">
                  <a:solidFill>
                    <a:srgbClr val="1B2A1E"/>
                  </a:solidFill>
                  <a:highlight>
                    <a:srgbClr val="FFFF00"/>
                  </a:highlight>
                  <a:latin typeface="Calibri" pitchFamily="34" charset="0"/>
                  <a:ea typeface="Calibri" pitchFamily="34" charset="-122"/>
                  <a:cs typeface="Calibri" pitchFamily="34" charset="-120"/>
                </a:rPr>
                <a:t>Roots</a:t>
              </a:r>
              <a:endParaRPr lang="en-US" sz="1600" dirty="0">
                <a:highlight>
                  <a:srgbClr val="FFFF00"/>
                </a:highlight>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Absorb water &amp;</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minerals from soil</a:t>
              </a:r>
              <a:endParaRPr lang="en-US" sz="1600" dirty="0">
                <a:latin typeface="Times New Roman" panose="02020603050405020304" pitchFamily="18" charset="0"/>
                <a:cs typeface="Times New Roman" panose="02020603050405020304" pitchFamily="18" charset="0"/>
              </a:endParaRPr>
            </a:p>
          </p:txBody>
        </p:sp>
      </p:grpSp>
      <p:grpSp>
        <p:nvGrpSpPr>
          <p:cNvPr id="4" name="Group 3">
            <a:extLst>
              <a:ext uri="{FF2B5EF4-FFF2-40B4-BE49-F238E27FC236}">
                <a16:creationId xmlns:a16="http://schemas.microsoft.com/office/drawing/2014/main" id="{9678B354-7694-9D61-DBCD-4E81835AFA0D}"/>
              </a:ext>
            </a:extLst>
          </p:cNvPr>
          <p:cNvGrpSpPr/>
          <p:nvPr/>
        </p:nvGrpSpPr>
        <p:grpSpPr>
          <a:xfrm>
            <a:off x="4796621" y="1808897"/>
            <a:ext cx="2213779" cy="897802"/>
            <a:chOff x="777239" y="2092286"/>
            <a:chExt cx="2213779" cy="897802"/>
          </a:xfrm>
        </p:grpSpPr>
        <p:sp>
          <p:nvSpPr>
            <p:cNvPr id="5" name="Shape 17">
              <a:extLst>
                <a:ext uri="{FF2B5EF4-FFF2-40B4-BE49-F238E27FC236}">
                  <a16:creationId xmlns:a16="http://schemas.microsoft.com/office/drawing/2014/main" id="{2C47DE03-77C5-D41A-44DD-A55D0C2A7201}"/>
                </a:ext>
              </a:extLst>
            </p:cNvPr>
            <p:cNvSpPr/>
            <p:nvPr/>
          </p:nvSpPr>
          <p:spPr>
            <a:xfrm>
              <a:off x="777239" y="2167128"/>
              <a:ext cx="2213779" cy="822960"/>
            </a:xfrm>
            <a:prstGeom prst="roundRect">
              <a:avLst>
                <a:gd name="adj" fmla="val 9412"/>
              </a:avLst>
            </a:prstGeom>
            <a:solidFill>
              <a:srgbClr val="FFFFFF"/>
            </a:solidFill>
            <a:ln/>
            <a:effectLst>
              <a:outerShdw blurRad="101600" dist="38100" dir="2700000" algn="bl" rotWithShape="0">
                <a:srgbClr val="000000">
                  <a:alpha val="14000"/>
                </a:srgbClr>
              </a:outerShdw>
            </a:effectLst>
          </p:spPr>
        </p:sp>
        <p:sp>
          <p:nvSpPr>
            <p:cNvPr id="6" name="Text 18">
              <a:extLst>
                <a:ext uri="{FF2B5EF4-FFF2-40B4-BE49-F238E27FC236}">
                  <a16:creationId xmlns:a16="http://schemas.microsoft.com/office/drawing/2014/main" id="{7FD7F40C-7F64-E920-AE08-18D459288C95}"/>
                </a:ext>
              </a:extLst>
            </p:cNvPr>
            <p:cNvSpPr/>
            <p:nvPr/>
          </p:nvSpPr>
          <p:spPr>
            <a:xfrm>
              <a:off x="822959" y="2092286"/>
              <a:ext cx="2154295" cy="897802"/>
            </a:xfrm>
            <a:prstGeom prst="rect">
              <a:avLst/>
            </a:prstGeom>
            <a:noFill/>
            <a:ln/>
          </p:spPr>
          <p:txBody>
            <a:bodyPr wrap="square" rtlCol="0" anchor="ctr"/>
            <a:lstStyle/>
            <a:p>
              <a:pPr marL="0" indent="0">
                <a:buNone/>
              </a:pPr>
              <a:r>
                <a:rPr lang="en-US" sz="1600" dirty="0">
                  <a:highlight>
                    <a:srgbClr val="FFFF00"/>
                  </a:highlight>
                </a:rPr>
                <a:t>Fruit</a:t>
              </a: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 </a:t>
              </a:r>
            </a:p>
            <a:p>
              <a:pPr marL="0" indent="0">
                <a:buNone/>
              </a:pPr>
              <a:r>
                <a:rPr lang="en-US" sz="1600" dirty="0" err="1">
                  <a:solidFill>
                    <a:srgbClr val="1B2A1E"/>
                  </a:solidFill>
                  <a:latin typeface="Times New Roman" panose="02020603050405020304" pitchFamily="18" charset="0"/>
                  <a:ea typeface="Calibri" pitchFamily="34" charset="-122"/>
                  <a:cs typeface="Times New Roman" panose="02020603050405020304" pitchFamily="18" charset="0"/>
                </a:rPr>
                <a:t>Producces</a:t>
              </a:r>
              <a:r>
                <a:rPr lang="en-US" sz="1600" dirty="0">
                  <a:solidFill>
                    <a:srgbClr val="1B2A1E"/>
                  </a:solidFill>
                  <a:latin typeface="Times New Roman" panose="02020603050405020304" pitchFamily="18" charset="0"/>
                  <a:ea typeface="Calibri" pitchFamily="34" charset="-122"/>
                  <a:cs typeface="Times New Roman" panose="02020603050405020304" pitchFamily="18" charset="0"/>
                </a:rPr>
                <a:t> seeds for new plant and provide us food.</a:t>
              </a:r>
              <a:endParaRPr lang="en-US" sz="1600"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9A825"/>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4000" b="1" dirty="0">
                <a:solidFill>
                  <a:srgbClr val="1B5E20"/>
                </a:solidFill>
                <a:latin typeface="Times New Roman" panose="02020603050405020304" pitchFamily="18" charset="0"/>
                <a:ea typeface="Cambria" pitchFamily="34" charset="-122"/>
                <a:cs typeface="Times New Roman" panose="02020603050405020304" pitchFamily="18" charset="0"/>
              </a:rPr>
              <a:t>Functions of Plant Parts</a:t>
            </a:r>
            <a:endParaRPr lang="en-US" sz="40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960120"/>
            <a:ext cx="4206240" cy="1188720"/>
          </a:xfrm>
          <a:prstGeom prst="roundRect">
            <a:avLst>
              <a:gd name="adj" fmla="val 7692"/>
            </a:avLst>
          </a:prstGeom>
          <a:solidFill>
            <a:srgbClr val="FCE4EC"/>
          </a:solidFill>
          <a:ln w="19050">
            <a:solidFill>
              <a:srgbClr val="E91E63"/>
            </a:solidFill>
            <a:prstDash val="solid"/>
          </a:ln>
        </p:spPr>
      </p:sp>
      <p:sp>
        <p:nvSpPr>
          <p:cNvPr id="5" name="Text 3"/>
          <p:cNvSpPr/>
          <p:nvPr/>
        </p:nvSpPr>
        <p:spPr>
          <a:xfrm>
            <a:off x="411480" y="103327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Flower</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411480" y="139903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Reproduction — attracts pollinators; produces seeds after fertilization.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727448" y="960120"/>
            <a:ext cx="4206240" cy="1188720"/>
          </a:xfrm>
          <a:prstGeom prst="roundRect">
            <a:avLst>
              <a:gd name="adj" fmla="val 7692"/>
            </a:avLst>
          </a:prstGeom>
          <a:solidFill>
            <a:srgbClr val="E8F5E9"/>
          </a:solidFill>
          <a:ln w="19050">
            <a:solidFill>
              <a:srgbClr val="43A047"/>
            </a:solidFill>
            <a:prstDash val="solid"/>
          </a:ln>
        </p:spPr>
      </p:sp>
      <p:sp>
        <p:nvSpPr>
          <p:cNvPr id="8" name="Text 6"/>
          <p:cNvSpPr/>
          <p:nvPr/>
        </p:nvSpPr>
        <p:spPr>
          <a:xfrm>
            <a:off x="4864608" y="103327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Leaf</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4864608" y="139903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Photosynthesis — converts sunlight + CO₂ + water into glucose and oxygen.</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274320" y="2286000"/>
            <a:ext cx="4206240" cy="1188720"/>
          </a:xfrm>
          <a:prstGeom prst="roundRect">
            <a:avLst>
              <a:gd name="adj" fmla="val 7692"/>
            </a:avLst>
          </a:prstGeom>
          <a:solidFill>
            <a:srgbClr val="E0F7FA"/>
          </a:solidFill>
          <a:ln w="19050">
            <a:solidFill>
              <a:srgbClr val="00897B"/>
            </a:solidFill>
            <a:prstDash val="solid"/>
          </a:ln>
        </p:spPr>
      </p:sp>
      <p:sp>
        <p:nvSpPr>
          <p:cNvPr id="11" name="Text 9"/>
          <p:cNvSpPr/>
          <p:nvPr/>
        </p:nvSpPr>
        <p:spPr>
          <a:xfrm>
            <a:off x="411480" y="235915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Stem</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411480" y="272491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Support &amp; Transport — holds the plant upright; carries water (xylem) and food (phloem).</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4727448" y="2286000"/>
            <a:ext cx="4206240" cy="1188720"/>
          </a:xfrm>
          <a:prstGeom prst="roundRect">
            <a:avLst>
              <a:gd name="adj" fmla="val 7692"/>
            </a:avLst>
          </a:prstGeom>
          <a:solidFill>
            <a:srgbClr val="FFF8E1"/>
          </a:solidFill>
          <a:ln w="19050">
            <a:solidFill>
              <a:srgbClr val="F9A825"/>
            </a:solidFill>
            <a:prstDash val="solid"/>
          </a:ln>
        </p:spPr>
      </p:sp>
      <p:sp>
        <p:nvSpPr>
          <p:cNvPr id="14" name="Text 12"/>
          <p:cNvSpPr/>
          <p:nvPr/>
        </p:nvSpPr>
        <p:spPr>
          <a:xfrm>
            <a:off x="4864608" y="235915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Root</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4864608" y="272491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Absorption &amp; Anchoring — absorbs water and minerals; anchors plant in soil.</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274320" y="3611880"/>
            <a:ext cx="4206240" cy="1188720"/>
          </a:xfrm>
          <a:prstGeom prst="roundRect">
            <a:avLst>
              <a:gd name="adj" fmla="val 7692"/>
            </a:avLst>
          </a:prstGeom>
          <a:solidFill>
            <a:srgbClr val="FBE9E7"/>
          </a:solidFill>
          <a:ln w="19050">
            <a:solidFill>
              <a:srgbClr val="FF7043"/>
            </a:solidFill>
            <a:prstDash val="solid"/>
          </a:ln>
        </p:spPr>
      </p:sp>
      <p:sp>
        <p:nvSpPr>
          <p:cNvPr id="17" name="Text 15"/>
          <p:cNvSpPr/>
          <p:nvPr/>
        </p:nvSpPr>
        <p:spPr>
          <a:xfrm>
            <a:off x="411480" y="368503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Seed</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411480" y="405079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Reproduction — contains embryo and food; germinates to form a new plant.</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727448" y="3611880"/>
            <a:ext cx="4206240" cy="1188720"/>
          </a:xfrm>
          <a:prstGeom prst="roundRect">
            <a:avLst>
              <a:gd name="adj" fmla="val 7692"/>
            </a:avLst>
          </a:prstGeom>
          <a:solidFill>
            <a:srgbClr val="F3E5F5"/>
          </a:solidFill>
          <a:ln w="19050">
            <a:solidFill>
              <a:srgbClr val="7B1FA2"/>
            </a:solidFill>
            <a:prstDash val="solid"/>
          </a:ln>
        </p:spPr>
      </p:sp>
      <p:sp>
        <p:nvSpPr>
          <p:cNvPr id="20" name="Text 18"/>
          <p:cNvSpPr/>
          <p:nvPr/>
        </p:nvSpPr>
        <p:spPr>
          <a:xfrm>
            <a:off x="4864608" y="3685032"/>
            <a:ext cx="3931920" cy="347472"/>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 Fruit</a:t>
            </a:r>
            <a:endParaRPr lang="en-US" sz="2000" dirty="0">
              <a:latin typeface="Times New Roman" panose="02020603050405020304" pitchFamily="18" charset="0"/>
              <a:cs typeface="Times New Roman" panose="02020603050405020304" pitchFamily="18" charset="0"/>
            </a:endParaRPr>
          </a:p>
        </p:txBody>
      </p:sp>
      <p:sp>
        <p:nvSpPr>
          <p:cNvPr id="21" name="Text 19"/>
          <p:cNvSpPr/>
          <p:nvPr/>
        </p:nvSpPr>
        <p:spPr>
          <a:xfrm>
            <a:off x="4864608" y="4050792"/>
            <a:ext cx="3931920" cy="658368"/>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Seed Dispersal — protects seeds and attracts animals to spread them.</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2E"/>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A Closer Look at a Flower</a:t>
            </a:r>
            <a:endParaRPr lang="en-US" sz="3000" dirty="0"/>
          </a:p>
        </p:txBody>
      </p:sp>
      <p:pic>
        <p:nvPicPr>
          <p:cNvPr id="3" name="Image 0" descr="https://images.unsplash.com/photo-1490750967868-88df5691cc17?w=800&amp;q=80"/>
          <p:cNvPicPr>
            <a:picLocks noChangeAspect="1"/>
          </p:cNvPicPr>
          <p:nvPr/>
        </p:nvPicPr>
        <p:blipFill>
          <a:blip r:embed="rId3"/>
          <a:stretch>
            <a:fillRect/>
          </a:stretch>
        </p:blipFill>
        <p:spPr>
          <a:xfrm>
            <a:off x="1982565" y="829565"/>
            <a:ext cx="5058315" cy="3559555"/>
          </a:xfrm>
          <a:prstGeom prst="rect">
            <a:avLst/>
          </a:prstGeom>
          <a:effectLst>
            <a:outerShdw blurRad="101600" dist="38100" dir="2700000" algn="bl" rotWithShape="0">
              <a:srgbClr val="000000">
                <a:alpha val="14000"/>
              </a:srgbClr>
            </a:outerShdw>
          </a:effectLst>
        </p:spPr>
      </p:pic>
      <p:sp>
        <p:nvSpPr>
          <p:cNvPr id="4" name="Text 1"/>
          <p:cNvSpPr/>
          <p:nvPr/>
        </p:nvSpPr>
        <p:spPr>
          <a:xfrm>
            <a:off x="914400" y="4526280"/>
            <a:ext cx="7315200" cy="457200"/>
          </a:xfrm>
          <a:prstGeom prst="rect">
            <a:avLst/>
          </a:prstGeom>
          <a:noFill/>
          <a:ln/>
        </p:spPr>
        <p:txBody>
          <a:bodyPr wrap="square" rtlCol="0" anchor="ctr"/>
          <a:lstStyle/>
          <a:p>
            <a:pPr marL="0" indent="0" algn="ctr">
              <a:buNone/>
            </a:pPr>
            <a:r>
              <a:rPr lang="en-US" sz="1300" i="1" dirty="0">
                <a:solidFill>
                  <a:srgbClr val="B39DDB"/>
                </a:solidFill>
                <a:latin typeface="Calibri" pitchFamily="34" charset="0"/>
                <a:ea typeface="Calibri" pitchFamily="34" charset="-122"/>
                <a:cs typeface="Calibri" pitchFamily="34" charset="-120"/>
              </a:rPr>
              <a:t>A vibrant flower showcasing its colorful petals and reproductive structures</a:t>
            </a:r>
            <a:endParaRPr lang="en-US" sz="1300" dirty="0"/>
          </a:p>
        </p:txBody>
      </p:sp>
      <p:pic>
        <p:nvPicPr>
          <p:cNvPr id="2050" name="Picture 2" descr="26,024 Carpel Flower Royalty-Free Images, Stock Photos ...">
            <a:extLst>
              <a:ext uri="{FF2B5EF4-FFF2-40B4-BE49-F238E27FC236}">
                <a16:creationId xmlns:a16="http://schemas.microsoft.com/office/drawing/2014/main" id="{A185435E-A018-61E8-C3FB-0B201702DDF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383" b="6781"/>
          <a:stretch>
            <a:fillRect/>
          </a:stretch>
        </p:blipFill>
        <p:spPr bwMode="auto">
          <a:xfrm>
            <a:off x="1729409" y="829564"/>
            <a:ext cx="5874682" cy="38219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0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91E63"/>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Anatomy of a Flower</a:t>
            </a:r>
            <a:endParaRPr lang="en-US" sz="2800" dirty="0"/>
          </a:p>
        </p:txBody>
      </p:sp>
      <p:sp>
        <p:nvSpPr>
          <p:cNvPr id="16" name="Shape 14"/>
          <p:cNvSpPr/>
          <p:nvPr/>
        </p:nvSpPr>
        <p:spPr>
          <a:xfrm>
            <a:off x="6126480" y="100584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7" name="Text 15"/>
          <p:cNvSpPr/>
          <p:nvPr/>
        </p:nvSpPr>
        <p:spPr>
          <a:xfrm>
            <a:off x="6225139" y="10972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Petal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Brightly colored; attracts pollinators</a:t>
            </a:r>
            <a:endParaRPr lang="en-US" sz="1050" dirty="0"/>
          </a:p>
        </p:txBody>
      </p:sp>
      <p:pic>
        <p:nvPicPr>
          <p:cNvPr id="27" name="Picture 26">
            <a:extLst>
              <a:ext uri="{FF2B5EF4-FFF2-40B4-BE49-F238E27FC236}">
                <a16:creationId xmlns:a16="http://schemas.microsoft.com/office/drawing/2014/main" id="{F2F316C3-3F89-4C03-C4FA-66A9B97C11E4}"/>
              </a:ext>
            </a:extLst>
          </p:cNvPr>
          <p:cNvPicPr>
            <a:picLocks noChangeAspect="1"/>
          </p:cNvPicPr>
          <p:nvPr/>
        </p:nvPicPr>
        <p:blipFill>
          <a:blip r:embed="rId3"/>
          <a:stretch>
            <a:fillRect/>
          </a:stretch>
        </p:blipFill>
        <p:spPr>
          <a:xfrm>
            <a:off x="0" y="685800"/>
            <a:ext cx="6080760" cy="4251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ppt_x"/>
                                          </p:val>
                                        </p:tav>
                                        <p:tav tm="100000">
                                          <p:val>
                                            <p:strVal val="#ppt_x"/>
                                          </p:val>
                                        </p:tav>
                                      </p:tavLst>
                                    </p:anim>
                                    <p:anim calcmode="lin" valueType="num">
                                      <p:cBhvr additive="base">
                                        <p:cTn id="8"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0F5"/>
        </a:solidFill>
        <a:effectLst/>
      </p:bgPr>
    </p:bg>
    <p:spTree>
      <p:nvGrpSpPr>
        <p:cNvPr id="1" name="">
          <a:extLst>
            <a:ext uri="{FF2B5EF4-FFF2-40B4-BE49-F238E27FC236}">
              <a16:creationId xmlns:a16="http://schemas.microsoft.com/office/drawing/2014/main" id="{8BF7BF8F-9BEB-1F4B-8D03-18443936A7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A19136-B98B-41B2-98C3-2458EE4EB941}"/>
              </a:ext>
            </a:extLst>
          </p:cNvPr>
          <p:cNvSpPr/>
          <p:nvPr/>
        </p:nvSpPr>
        <p:spPr>
          <a:xfrm>
            <a:off x="0" y="0"/>
            <a:ext cx="9144000" cy="777240"/>
          </a:xfrm>
          <a:prstGeom prst="rect">
            <a:avLst/>
          </a:prstGeom>
          <a:solidFill>
            <a:srgbClr val="E91E63"/>
          </a:solidFill>
          <a:ln/>
        </p:spPr>
      </p:sp>
      <p:sp>
        <p:nvSpPr>
          <p:cNvPr id="3" name="Text 1">
            <a:extLst>
              <a:ext uri="{FF2B5EF4-FFF2-40B4-BE49-F238E27FC236}">
                <a16:creationId xmlns:a16="http://schemas.microsoft.com/office/drawing/2014/main" id="{4ED178B7-0E4A-9B35-4992-C21A7D244A9A}"/>
              </a:ext>
            </a:extLst>
          </p:cNvPr>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Anatomy of a Flower</a:t>
            </a:r>
            <a:endParaRPr lang="en-US" sz="2800" dirty="0"/>
          </a:p>
        </p:txBody>
      </p:sp>
      <p:sp>
        <p:nvSpPr>
          <p:cNvPr id="16" name="Shape 14">
            <a:extLst>
              <a:ext uri="{FF2B5EF4-FFF2-40B4-BE49-F238E27FC236}">
                <a16:creationId xmlns:a16="http://schemas.microsoft.com/office/drawing/2014/main" id="{96935E0E-17C2-4B52-8D87-A29A02F20894}"/>
              </a:ext>
            </a:extLst>
          </p:cNvPr>
          <p:cNvSpPr/>
          <p:nvPr/>
        </p:nvSpPr>
        <p:spPr>
          <a:xfrm>
            <a:off x="6126480" y="100584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7" name="Text 15">
            <a:extLst>
              <a:ext uri="{FF2B5EF4-FFF2-40B4-BE49-F238E27FC236}">
                <a16:creationId xmlns:a16="http://schemas.microsoft.com/office/drawing/2014/main" id="{AE1095E1-7BF5-121C-8413-A39F68816EA8}"/>
              </a:ext>
            </a:extLst>
          </p:cNvPr>
          <p:cNvSpPr/>
          <p:nvPr/>
        </p:nvSpPr>
        <p:spPr>
          <a:xfrm>
            <a:off x="6225139" y="10972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Petal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Brightly colored; attracts pollinators</a:t>
            </a:r>
            <a:endParaRPr lang="en-US" sz="1050" dirty="0"/>
          </a:p>
        </p:txBody>
      </p:sp>
      <p:sp>
        <p:nvSpPr>
          <p:cNvPr id="18" name="Shape 16">
            <a:extLst>
              <a:ext uri="{FF2B5EF4-FFF2-40B4-BE49-F238E27FC236}">
                <a16:creationId xmlns:a16="http://schemas.microsoft.com/office/drawing/2014/main" id="{55B2A278-9060-6ACA-61F5-E4C98582CD4C}"/>
              </a:ext>
            </a:extLst>
          </p:cNvPr>
          <p:cNvSpPr/>
          <p:nvPr/>
        </p:nvSpPr>
        <p:spPr>
          <a:xfrm>
            <a:off x="6080760" y="178308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9" name="Text 17">
            <a:extLst>
              <a:ext uri="{FF2B5EF4-FFF2-40B4-BE49-F238E27FC236}">
                <a16:creationId xmlns:a16="http://schemas.microsoft.com/office/drawing/2014/main" id="{0AE3461E-F465-0FDF-BC63-AFD8398172C9}"/>
              </a:ext>
            </a:extLst>
          </p:cNvPr>
          <p:cNvSpPr/>
          <p:nvPr/>
        </p:nvSpPr>
        <p:spPr>
          <a:xfrm>
            <a:off x="6217920" y="1816768"/>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Stamen</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Male part: anther + filament</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Produces pollen</a:t>
            </a:r>
            <a:endParaRPr lang="en-US" sz="1050" dirty="0"/>
          </a:p>
        </p:txBody>
      </p:sp>
      <p:pic>
        <p:nvPicPr>
          <p:cNvPr id="27" name="Picture 26">
            <a:extLst>
              <a:ext uri="{FF2B5EF4-FFF2-40B4-BE49-F238E27FC236}">
                <a16:creationId xmlns:a16="http://schemas.microsoft.com/office/drawing/2014/main" id="{6BA272CA-68B9-CEA2-7330-84A94CE0E821}"/>
              </a:ext>
            </a:extLst>
          </p:cNvPr>
          <p:cNvPicPr>
            <a:picLocks noChangeAspect="1"/>
          </p:cNvPicPr>
          <p:nvPr/>
        </p:nvPicPr>
        <p:blipFill>
          <a:blip r:embed="rId3"/>
          <a:stretch>
            <a:fillRect/>
          </a:stretch>
        </p:blipFill>
        <p:spPr>
          <a:xfrm>
            <a:off x="0" y="685800"/>
            <a:ext cx="6080760" cy="4251960"/>
          </a:xfrm>
          <a:prstGeom prst="rect">
            <a:avLst/>
          </a:prstGeom>
        </p:spPr>
      </p:pic>
    </p:spTree>
    <p:extLst>
      <p:ext uri="{BB962C8B-B14F-4D97-AF65-F5344CB8AC3E}">
        <p14:creationId xmlns:p14="http://schemas.microsoft.com/office/powerpoint/2010/main" val="269828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0F5"/>
        </a:solidFill>
        <a:effectLst/>
      </p:bgPr>
    </p:bg>
    <p:spTree>
      <p:nvGrpSpPr>
        <p:cNvPr id="1" name="">
          <a:extLst>
            <a:ext uri="{FF2B5EF4-FFF2-40B4-BE49-F238E27FC236}">
              <a16:creationId xmlns:a16="http://schemas.microsoft.com/office/drawing/2014/main" id="{DA40E6BD-A343-DA33-A020-1DD7EC9F2E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43998F-5810-C01F-13E8-4DAD61722B07}"/>
              </a:ext>
            </a:extLst>
          </p:cNvPr>
          <p:cNvSpPr/>
          <p:nvPr/>
        </p:nvSpPr>
        <p:spPr>
          <a:xfrm>
            <a:off x="0" y="0"/>
            <a:ext cx="9144000" cy="777240"/>
          </a:xfrm>
          <a:prstGeom prst="rect">
            <a:avLst/>
          </a:prstGeom>
          <a:solidFill>
            <a:srgbClr val="E91E63"/>
          </a:solidFill>
          <a:ln/>
        </p:spPr>
      </p:sp>
      <p:sp>
        <p:nvSpPr>
          <p:cNvPr id="3" name="Text 1">
            <a:extLst>
              <a:ext uri="{FF2B5EF4-FFF2-40B4-BE49-F238E27FC236}">
                <a16:creationId xmlns:a16="http://schemas.microsoft.com/office/drawing/2014/main" id="{5962A200-69AB-510C-1D62-470AD88816D3}"/>
              </a:ext>
            </a:extLst>
          </p:cNvPr>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Anatomy of a Flower</a:t>
            </a:r>
            <a:endParaRPr lang="en-US" sz="2800" dirty="0"/>
          </a:p>
        </p:txBody>
      </p:sp>
      <p:sp>
        <p:nvSpPr>
          <p:cNvPr id="16" name="Shape 14">
            <a:extLst>
              <a:ext uri="{FF2B5EF4-FFF2-40B4-BE49-F238E27FC236}">
                <a16:creationId xmlns:a16="http://schemas.microsoft.com/office/drawing/2014/main" id="{294526A5-682B-C89A-F3CD-8336C2CD4EED}"/>
              </a:ext>
            </a:extLst>
          </p:cNvPr>
          <p:cNvSpPr/>
          <p:nvPr/>
        </p:nvSpPr>
        <p:spPr>
          <a:xfrm>
            <a:off x="6126480" y="100584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7" name="Text 15">
            <a:extLst>
              <a:ext uri="{FF2B5EF4-FFF2-40B4-BE49-F238E27FC236}">
                <a16:creationId xmlns:a16="http://schemas.microsoft.com/office/drawing/2014/main" id="{193E5329-FF25-FA58-9A28-C1B8927470D9}"/>
              </a:ext>
            </a:extLst>
          </p:cNvPr>
          <p:cNvSpPr/>
          <p:nvPr/>
        </p:nvSpPr>
        <p:spPr>
          <a:xfrm>
            <a:off x="6225139" y="10972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Petal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Brightly colored; attracts pollinators</a:t>
            </a:r>
            <a:endParaRPr lang="en-US" sz="1050" dirty="0"/>
          </a:p>
        </p:txBody>
      </p:sp>
      <p:sp>
        <p:nvSpPr>
          <p:cNvPr id="18" name="Shape 16">
            <a:extLst>
              <a:ext uri="{FF2B5EF4-FFF2-40B4-BE49-F238E27FC236}">
                <a16:creationId xmlns:a16="http://schemas.microsoft.com/office/drawing/2014/main" id="{4178C72A-AF98-27E6-E060-9E693EF59A06}"/>
              </a:ext>
            </a:extLst>
          </p:cNvPr>
          <p:cNvSpPr/>
          <p:nvPr/>
        </p:nvSpPr>
        <p:spPr>
          <a:xfrm>
            <a:off x="6080760" y="178308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9" name="Text 17">
            <a:extLst>
              <a:ext uri="{FF2B5EF4-FFF2-40B4-BE49-F238E27FC236}">
                <a16:creationId xmlns:a16="http://schemas.microsoft.com/office/drawing/2014/main" id="{A9D4B42F-B701-90AB-273B-A24A94832E63}"/>
              </a:ext>
            </a:extLst>
          </p:cNvPr>
          <p:cNvSpPr/>
          <p:nvPr/>
        </p:nvSpPr>
        <p:spPr>
          <a:xfrm>
            <a:off x="6217920" y="1816768"/>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Stamen</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Male part: anther + filament</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Produces pollen</a:t>
            </a:r>
            <a:endParaRPr lang="en-US" sz="1050" dirty="0"/>
          </a:p>
        </p:txBody>
      </p:sp>
      <p:sp>
        <p:nvSpPr>
          <p:cNvPr id="20" name="Shape 18">
            <a:extLst>
              <a:ext uri="{FF2B5EF4-FFF2-40B4-BE49-F238E27FC236}">
                <a16:creationId xmlns:a16="http://schemas.microsoft.com/office/drawing/2014/main" id="{25861C19-FFD7-FE7C-D481-E97D78AEEBA9}"/>
              </a:ext>
            </a:extLst>
          </p:cNvPr>
          <p:cNvSpPr/>
          <p:nvPr/>
        </p:nvSpPr>
        <p:spPr>
          <a:xfrm>
            <a:off x="6080760" y="262890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21" name="Text 19">
            <a:extLst>
              <a:ext uri="{FF2B5EF4-FFF2-40B4-BE49-F238E27FC236}">
                <a16:creationId xmlns:a16="http://schemas.microsoft.com/office/drawing/2014/main" id="{A899A579-DEF6-FA23-D50B-261F421656AC}"/>
              </a:ext>
            </a:extLst>
          </p:cNvPr>
          <p:cNvSpPr/>
          <p:nvPr/>
        </p:nvSpPr>
        <p:spPr>
          <a:xfrm>
            <a:off x="6172200" y="2732372"/>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Pistil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Female part: stigma + style + ovary</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Receives pollen</a:t>
            </a:r>
            <a:endParaRPr lang="en-US" sz="1050" dirty="0"/>
          </a:p>
        </p:txBody>
      </p:sp>
      <p:pic>
        <p:nvPicPr>
          <p:cNvPr id="27" name="Picture 26">
            <a:extLst>
              <a:ext uri="{FF2B5EF4-FFF2-40B4-BE49-F238E27FC236}">
                <a16:creationId xmlns:a16="http://schemas.microsoft.com/office/drawing/2014/main" id="{C9F80630-1A74-CD9A-81F3-1B698D36353A}"/>
              </a:ext>
            </a:extLst>
          </p:cNvPr>
          <p:cNvPicPr>
            <a:picLocks noChangeAspect="1"/>
          </p:cNvPicPr>
          <p:nvPr/>
        </p:nvPicPr>
        <p:blipFill>
          <a:blip r:embed="rId3"/>
          <a:stretch>
            <a:fillRect/>
          </a:stretch>
        </p:blipFill>
        <p:spPr>
          <a:xfrm>
            <a:off x="0" y="685800"/>
            <a:ext cx="6080760" cy="4251960"/>
          </a:xfrm>
          <a:prstGeom prst="rect">
            <a:avLst/>
          </a:prstGeom>
        </p:spPr>
      </p:pic>
    </p:spTree>
    <p:extLst>
      <p:ext uri="{BB962C8B-B14F-4D97-AF65-F5344CB8AC3E}">
        <p14:creationId xmlns:p14="http://schemas.microsoft.com/office/powerpoint/2010/main" val="107152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0F5"/>
        </a:solidFill>
        <a:effectLst/>
      </p:bgPr>
    </p:bg>
    <p:spTree>
      <p:nvGrpSpPr>
        <p:cNvPr id="1" name="">
          <a:extLst>
            <a:ext uri="{FF2B5EF4-FFF2-40B4-BE49-F238E27FC236}">
              <a16:creationId xmlns:a16="http://schemas.microsoft.com/office/drawing/2014/main" id="{C864A04D-EA96-665A-F0E0-1E4654FE677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6BA04A-5E99-F30D-8988-E1CFC8A2736F}"/>
              </a:ext>
            </a:extLst>
          </p:cNvPr>
          <p:cNvSpPr/>
          <p:nvPr/>
        </p:nvSpPr>
        <p:spPr>
          <a:xfrm>
            <a:off x="0" y="0"/>
            <a:ext cx="9144000" cy="777240"/>
          </a:xfrm>
          <a:prstGeom prst="rect">
            <a:avLst/>
          </a:prstGeom>
          <a:solidFill>
            <a:srgbClr val="E91E63"/>
          </a:solidFill>
          <a:ln/>
        </p:spPr>
      </p:sp>
      <p:sp>
        <p:nvSpPr>
          <p:cNvPr id="3" name="Text 1">
            <a:extLst>
              <a:ext uri="{FF2B5EF4-FFF2-40B4-BE49-F238E27FC236}">
                <a16:creationId xmlns:a16="http://schemas.microsoft.com/office/drawing/2014/main" id="{30F26E62-3A70-5B44-C25F-193DF7B96E5A}"/>
              </a:ext>
            </a:extLst>
          </p:cNvPr>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Anatomy of a Flower</a:t>
            </a:r>
            <a:endParaRPr lang="en-US" sz="2800" dirty="0"/>
          </a:p>
        </p:txBody>
      </p:sp>
      <p:sp>
        <p:nvSpPr>
          <p:cNvPr id="16" name="Shape 14">
            <a:extLst>
              <a:ext uri="{FF2B5EF4-FFF2-40B4-BE49-F238E27FC236}">
                <a16:creationId xmlns:a16="http://schemas.microsoft.com/office/drawing/2014/main" id="{095C5714-D4A4-F0AC-7243-5CE1F6E3DA96}"/>
              </a:ext>
            </a:extLst>
          </p:cNvPr>
          <p:cNvSpPr/>
          <p:nvPr/>
        </p:nvSpPr>
        <p:spPr>
          <a:xfrm>
            <a:off x="6126480" y="100584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7" name="Text 15">
            <a:extLst>
              <a:ext uri="{FF2B5EF4-FFF2-40B4-BE49-F238E27FC236}">
                <a16:creationId xmlns:a16="http://schemas.microsoft.com/office/drawing/2014/main" id="{35AA7724-52B5-879A-3939-9A967F9A10F6}"/>
              </a:ext>
            </a:extLst>
          </p:cNvPr>
          <p:cNvSpPr/>
          <p:nvPr/>
        </p:nvSpPr>
        <p:spPr>
          <a:xfrm>
            <a:off x="6225139" y="10972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Petal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Brightly colored; attracts pollinators</a:t>
            </a:r>
            <a:endParaRPr lang="en-US" sz="1050" dirty="0"/>
          </a:p>
        </p:txBody>
      </p:sp>
      <p:sp>
        <p:nvSpPr>
          <p:cNvPr id="18" name="Shape 16">
            <a:extLst>
              <a:ext uri="{FF2B5EF4-FFF2-40B4-BE49-F238E27FC236}">
                <a16:creationId xmlns:a16="http://schemas.microsoft.com/office/drawing/2014/main" id="{1C1862CF-9AB3-89E9-E33A-4B9BBF38E803}"/>
              </a:ext>
            </a:extLst>
          </p:cNvPr>
          <p:cNvSpPr/>
          <p:nvPr/>
        </p:nvSpPr>
        <p:spPr>
          <a:xfrm>
            <a:off x="6080760" y="178308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9" name="Text 17">
            <a:extLst>
              <a:ext uri="{FF2B5EF4-FFF2-40B4-BE49-F238E27FC236}">
                <a16:creationId xmlns:a16="http://schemas.microsoft.com/office/drawing/2014/main" id="{19F979E5-161C-951D-A303-E1CA2D78E8ED}"/>
              </a:ext>
            </a:extLst>
          </p:cNvPr>
          <p:cNvSpPr/>
          <p:nvPr/>
        </p:nvSpPr>
        <p:spPr>
          <a:xfrm>
            <a:off x="6217920" y="1816768"/>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Stamen</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Male part: anther + filament</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Produces pollen</a:t>
            </a:r>
            <a:endParaRPr lang="en-US" sz="1050" dirty="0"/>
          </a:p>
        </p:txBody>
      </p:sp>
      <p:sp>
        <p:nvSpPr>
          <p:cNvPr id="20" name="Shape 18">
            <a:extLst>
              <a:ext uri="{FF2B5EF4-FFF2-40B4-BE49-F238E27FC236}">
                <a16:creationId xmlns:a16="http://schemas.microsoft.com/office/drawing/2014/main" id="{9CB7FE22-09D6-E7C6-6BBB-DBDD18ADD220}"/>
              </a:ext>
            </a:extLst>
          </p:cNvPr>
          <p:cNvSpPr/>
          <p:nvPr/>
        </p:nvSpPr>
        <p:spPr>
          <a:xfrm>
            <a:off x="6080760" y="262890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21" name="Text 19">
            <a:extLst>
              <a:ext uri="{FF2B5EF4-FFF2-40B4-BE49-F238E27FC236}">
                <a16:creationId xmlns:a16="http://schemas.microsoft.com/office/drawing/2014/main" id="{22BF4AF2-98AF-3C30-5DB9-86CD248F2893}"/>
              </a:ext>
            </a:extLst>
          </p:cNvPr>
          <p:cNvSpPr/>
          <p:nvPr/>
        </p:nvSpPr>
        <p:spPr>
          <a:xfrm>
            <a:off x="6172200" y="2732372"/>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Pistil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Female part: stigma + style + ovary</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Receives pollen</a:t>
            </a:r>
            <a:endParaRPr lang="en-US" sz="1050" dirty="0"/>
          </a:p>
        </p:txBody>
      </p:sp>
      <p:sp>
        <p:nvSpPr>
          <p:cNvPr id="22" name="Shape 20">
            <a:extLst>
              <a:ext uri="{FF2B5EF4-FFF2-40B4-BE49-F238E27FC236}">
                <a16:creationId xmlns:a16="http://schemas.microsoft.com/office/drawing/2014/main" id="{DD2CCD07-0E68-8947-246C-D0F4A7E0779B}"/>
              </a:ext>
            </a:extLst>
          </p:cNvPr>
          <p:cNvSpPr/>
          <p:nvPr/>
        </p:nvSpPr>
        <p:spPr>
          <a:xfrm>
            <a:off x="6080760" y="3462688"/>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23" name="Text 21">
            <a:extLst>
              <a:ext uri="{FF2B5EF4-FFF2-40B4-BE49-F238E27FC236}">
                <a16:creationId xmlns:a16="http://schemas.microsoft.com/office/drawing/2014/main" id="{FEB45782-DAD3-026F-35E1-12815D0A64A6}"/>
              </a:ext>
            </a:extLst>
          </p:cNvPr>
          <p:cNvSpPr/>
          <p:nvPr/>
        </p:nvSpPr>
        <p:spPr>
          <a:xfrm>
            <a:off x="6172200" y="34975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Sepal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Protects flower bud</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before it opens</a:t>
            </a:r>
            <a:endParaRPr lang="en-US" sz="1050" dirty="0"/>
          </a:p>
        </p:txBody>
      </p:sp>
      <p:pic>
        <p:nvPicPr>
          <p:cNvPr id="27" name="Picture 26">
            <a:extLst>
              <a:ext uri="{FF2B5EF4-FFF2-40B4-BE49-F238E27FC236}">
                <a16:creationId xmlns:a16="http://schemas.microsoft.com/office/drawing/2014/main" id="{0850E7C6-1758-3A60-4219-A0B155A16EE2}"/>
              </a:ext>
            </a:extLst>
          </p:cNvPr>
          <p:cNvPicPr>
            <a:picLocks noChangeAspect="1"/>
          </p:cNvPicPr>
          <p:nvPr/>
        </p:nvPicPr>
        <p:blipFill>
          <a:blip r:embed="rId3"/>
          <a:stretch>
            <a:fillRect/>
          </a:stretch>
        </p:blipFill>
        <p:spPr>
          <a:xfrm>
            <a:off x="0" y="685800"/>
            <a:ext cx="6080760" cy="4251960"/>
          </a:xfrm>
          <a:prstGeom prst="rect">
            <a:avLst/>
          </a:prstGeom>
        </p:spPr>
      </p:pic>
    </p:spTree>
    <p:extLst>
      <p:ext uri="{BB962C8B-B14F-4D97-AF65-F5344CB8AC3E}">
        <p14:creationId xmlns:p14="http://schemas.microsoft.com/office/powerpoint/2010/main" val="91477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0F5"/>
        </a:solidFill>
        <a:effectLst/>
      </p:bgPr>
    </p:bg>
    <p:spTree>
      <p:nvGrpSpPr>
        <p:cNvPr id="1" name="">
          <a:extLst>
            <a:ext uri="{FF2B5EF4-FFF2-40B4-BE49-F238E27FC236}">
              <a16:creationId xmlns:a16="http://schemas.microsoft.com/office/drawing/2014/main" id="{8352AC7B-7F65-9CB6-9F0F-7B6F1E2E4C7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783512-B55A-3E35-5F21-229047159E54}"/>
              </a:ext>
            </a:extLst>
          </p:cNvPr>
          <p:cNvSpPr/>
          <p:nvPr/>
        </p:nvSpPr>
        <p:spPr>
          <a:xfrm>
            <a:off x="0" y="0"/>
            <a:ext cx="9144000" cy="777240"/>
          </a:xfrm>
          <a:prstGeom prst="rect">
            <a:avLst/>
          </a:prstGeom>
          <a:solidFill>
            <a:srgbClr val="E91E63"/>
          </a:solidFill>
          <a:ln/>
        </p:spPr>
      </p:sp>
      <p:sp>
        <p:nvSpPr>
          <p:cNvPr id="3" name="Text 1">
            <a:extLst>
              <a:ext uri="{FF2B5EF4-FFF2-40B4-BE49-F238E27FC236}">
                <a16:creationId xmlns:a16="http://schemas.microsoft.com/office/drawing/2014/main" id="{968A18F8-F7D3-2A78-5E0E-CC8F0EDBD815}"/>
              </a:ext>
            </a:extLst>
          </p:cNvPr>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Anatomy of a Flower</a:t>
            </a:r>
            <a:endParaRPr lang="en-US" sz="2800" dirty="0"/>
          </a:p>
        </p:txBody>
      </p:sp>
      <p:sp>
        <p:nvSpPr>
          <p:cNvPr id="16" name="Shape 14">
            <a:extLst>
              <a:ext uri="{FF2B5EF4-FFF2-40B4-BE49-F238E27FC236}">
                <a16:creationId xmlns:a16="http://schemas.microsoft.com/office/drawing/2014/main" id="{6972E9E3-E377-E110-7A3B-093ADF55FBAC}"/>
              </a:ext>
            </a:extLst>
          </p:cNvPr>
          <p:cNvSpPr/>
          <p:nvPr/>
        </p:nvSpPr>
        <p:spPr>
          <a:xfrm>
            <a:off x="6126480" y="100584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7" name="Text 15">
            <a:extLst>
              <a:ext uri="{FF2B5EF4-FFF2-40B4-BE49-F238E27FC236}">
                <a16:creationId xmlns:a16="http://schemas.microsoft.com/office/drawing/2014/main" id="{46533934-9205-BB64-4622-C6AC1262CA98}"/>
              </a:ext>
            </a:extLst>
          </p:cNvPr>
          <p:cNvSpPr/>
          <p:nvPr/>
        </p:nvSpPr>
        <p:spPr>
          <a:xfrm>
            <a:off x="6225139" y="10972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Petal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Brightly colored; attracts pollinators</a:t>
            </a:r>
            <a:endParaRPr lang="en-US" sz="1050" dirty="0"/>
          </a:p>
        </p:txBody>
      </p:sp>
      <p:sp>
        <p:nvSpPr>
          <p:cNvPr id="18" name="Shape 16">
            <a:extLst>
              <a:ext uri="{FF2B5EF4-FFF2-40B4-BE49-F238E27FC236}">
                <a16:creationId xmlns:a16="http://schemas.microsoft.com/office/drawing/2014/main" id="{B293BF32-DB96-2CDE-BB2A-DDB38B9416D2}"/>
              </a:ext>
            </a:extLst>
          </p:cNvPr>
          <p:cNvSpPr/>
          <p:nvPr/>
        </p:nvSpPr>
        <p:spPr>
          <a:xfrm>
            <a:off x="6080760" y="178308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19" name="Text 17">
            <a:extLst>
              <a:ext uri="{FF2B5EF4-FFF2-40B4-BE49-F238E27FC236}">
                <a16:creationId xmlns:a16="http://schemas.microsoft.com/office/drawing/2014/main" id="{5FA850B9-A32A-A688-F95D-05C1867C1847}"/>
              </a:ext>
            </a:extLst>
          </p:cNvPr>
          <p:cNvSpPr/>
          <p:nvPr/>
        </p:nvSpPr>
        <p:spPr>
          <a:xfrm>
            <a:off x="6217920" y="1816768"/>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Stamen</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Male part: anther + filament</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Produces pollen</a:t>
            </a:r>
            <a:endParaRPr lang="en-US" sz="1050" dirty="0"/>
          </a:p>
        </p:txBody>
      </p:sp>
      <p:sp>
        <p:nvSpPr>
          <p:cNvPr id="20" name="Shape 18">
            <a:extLst>
              <a:ext uri="{FF2B5EF4-FFF2-40B4-BE49-F238E27FC236}">
                <a16:creationId xmlns:a16="http://schemas.microsoft.com/office/drawing/2014/main" id="{350EDA10-1750-89CC-64CD-FF3D635134E7}"/>
              </a:ext>
            </a:extLst>
          </p:cNvPr>
          <p:cNvSpPr/>
          <p:nvPr/>
        </p:nvSpPr>
        <p:spPr>
          <a:xfrm>
            <a:off x="6080760" y="2628900"/>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21" name="Text 19">
            <a:extLst>
              <a:ext uri="{FF2B5EF4-FFF2-40B4-BE49-F238E27FC236}">
                <a16:creationId xmlns:a16="http://schemas.microsoft.com/office/drawing/2014/main" id="{E57FE869-8674-E4FD-1971-84DF2B69E4F7}"/>
              </a:ext>
            </a:extLst>
          </p:cNvPr>
          <p:cNvSpPr/>
          <p:nvPr/>
        </p:nvSpPr>
        <p:spPr>
          <a:xfrm>
            <a:off x="6172200" y="2732372"/>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Pistil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Female part: stigma + style + ovary</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Receives pollen</a:t>
            </a:r>
            <a:endParaRPr lang="en-US" sz="1050" dirty="0"/>
          </a:p>
        </p:txBody>
      </p:sp>
      <p:sp>
        <p:nvSpPr>
          <p:cNvPr id="22" name="Shape 20">
            <a:extLst>
              <a:ext uri="{FF2B5EF4-FFF2-40B4-BE49-F238E27FC236}">
                <a16:creationId xmlns:a16="http://schemas.microsoft.com/office/drawing/2014/main" id="{5017F216-BDB5-E427-E5D5-64B5B659F172}"/>
              </a:ext>
            </a:extLst>
          </p:cNvPr>
          <p:cNvSpPr/>
          <p:nvPr/>
        </p:nvSpPr>
        <p:spPr>
          <a:xfrm>
            <a:off x="6080760" y="3462688"/>
            <a:ext cx="3017520" cy="685800"/>
          </a:xfrm>
          <a:prstGeom prst="roundRect">
            <a:avLst>
              <a:gd name="adj" fmla="val 10667"/>
            </a:avLst>
          </a:prstGeom>
          <a:solidFill>
            <a:srgbClr val="FFFFFF"/>
          </a:solidFill>
          <a:ln/>
          <a:effectLst>
            <a:outerShdw blurRad="101600" dist="38100" dir="2700000" algn="bl" rotWithShape="0">
              <a:srgbClr val="000000">
                <a:alpha val="14000"/>
              </a:srgbClr>
            </a:outerShdw>
          </a:effectLst>
        </p:spPr>
      </p:sp>
      <p:sp>
        <p:nvSpPr>
          <p:cNvPr id="23" name="Text 21">
            <a:extLst>
              <a:ext uri="{FF2B5EF4-FFF2-40B4-BE49-F238E27FC236}">
                <a16:creationId xmlns:a16="http://schemas.microsoft.com/office/drawing/2014/main" id="{C986920A-CA72-9E99-4659-13B762273364}"/>
              </a:ext>
            </a:extLst>
          </p:cNvPr>
          <p:cNvSpPr/>
          <p:nvPr/>
        </p:nvSpPr>
        <p:spPr>
          <a:xfrm>
            <a:off x="6172200" y="3497580"/>
            <a:ext cx="2834640" cy="640080"/>
          </a:xfrm>
          <a:prstGeom prst="rect">
            <a:avLst/>
          </a:prstGeom>
          <a:noFill/>
          <a:ln/>
        </p:spPr>
        <p:txBody>
          <a:bodyPr wrap="square" rtlCol="0" anchor="ctr"/>
          <a:lstStyle/>
          <a:p>
            <a:pPr marL="0" indent="0">
              <a:buNone/>
            </a:pPr>
            <a:r>
              <a:rPr lang="en-US" sz="1050" dirty="0">
                <a:solidFill>
                  <a:srgbClr val="1B2A1E"/>
                </a:solidFill>
                <a:latin typeface="Calibri" pitchFamily="34" charset="0"/>
                <a:ea typeface="Calibri" pitchFamily="34" charset="-122"/>
                <a:cs typeface="Calibri" pitchFamily="34" charset="-120"/>
              </a:rPr>
              <a:t>Sepal</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Protects flower bud</a:t>
            </a:r>
            <a:endParaRPr lang="en-US" sz="1050" dirty="0"/>
          </a:p>
          <a:p>
            <a:pPr marL="0" indent="0">
              <a:buNone/>
            </a:pPr>
            <a:r>
              <a:rPr lang="en-US" sz="1050" dirty="0">
                <a:solidFill>
                  <a:srgbClr val="1B2A1E"/>
                </a:solidFill>
                <a:latin typeface="Calibri" pitchFamily="34" charset="0"/>
                <a:ea typeface="Calibri" pitchFamily="34" charset="-122"/>
                <a:cs typeface="Calibri" pitchFamily="34" charset="-120"/>
              </a:rPr>
              <a:t>before it opens</a:t>
            </a:r>
            <a:endParaRPr lang="en-US" sz="1050" dirty="0"/>
          </a:p>
        </p:txBody>
      </p:sp>
      <p:pic>
        <p:nvPicPr>
          <p:cNvPr id="27" name="Picture 26">
            <a:extLst>
              <a:ext uri="{FF2B5EF4-FFF2-40B4-BE49-F238E27FC236}">
                <a16:creationId xmlns:a16="http://schemas.microsoft.com/office/drawing/2014/main" id="{EA34BAD4-1460-B5F7-6D7A-6F60B413A4F9}"/>
              </a:ext>
            </a:extLst>
          </p:cNvPr>
          <p:cNvPicPr>
            <a:picLocks noChangeAspect="1"/>
          </p:cNvPicPr>
          <p:nvPr/>
        </p:nvPicPr>
        <p:blipFill>
          <a:blip r:embed="rId3"/>
          <a:stretch>
            <a:fillRect/>
          </a:stretch>
        </p:blipFill>
        <p:spPr>
          <a:xfrm>
            <a:off x="0" y="685800"/>
            <a:ext cx="6080760" cy="4251960"/>
          </a:xfrm>
          <a:prstGeom prst="rect">
            <a:avLst/>
          </a:prstGeom>
        </p:spPr>
      </p:pic>
    </p:spTree>
    <p:extLst>
      <p:ext uri="{BB962C8B-B14F-4D97-AF65-F5344CB8AC3E}">
        <p14:creationId xmlns:p14="http://schemas.microsoft.com/office/powerpoint/2010/main" val="759760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B1FA2"/>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4000" b="1" dirty="0">
                <a:solidFill>
                  <a:srgbClr val="FFFFFF"/>
                </a:solidFill>
                <a:latin typeface="Times New Roman" panose="02020603050405020304" pitchFamily="18" charset="0"/>
                <a:ea typeface="Cambria" pitchFamily="34" charset="-122"/>
                <a:cs typeface="Times New Roman" panose="02020603050405020304" pitchFamily="18" charset="0"/>
              </a:rPr>
              <a:t>🔬 Key Flower Part Definitions</a:t>
            </a:r>
            <a:endParaRPr lang="en-US" sz="40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914400"/>
            <a:ext cx="4206240" cy="1234440"/>
          </a:xfrm>
          <a:prstGeom prst="roundRect">
            <a:avLst>
              <a:gd name="adj" fmla="val 7407"/>
            </a:avLst>
          </a:prstGeom>
          <a:solidFill>
            <a:srgbClr val="F8BBD9"/>
          </a:solidFill>
          <a:ln/>
          <a:effectLst>
            <a:outerShdw blurRad="101600" dist="38100" dir="2700000" algn="bl" rotWithShape="0">
              <a:srgbClr val="000000">
                <a:alpha val="14000"/>
              </a:srgbClr>
            </a:outerShdw>
          </a:effectLst>
        </p:spPr>
      </p:sp>
      <p:sp>
        <p:nvSpPr>
          <p:cNvPr id="5" name="Text 3"/>
          <p:cNvSpPr/>
          <p:nvPr/>
        </p:nvSpPr>
        <p:spPr>
          <a:xfrm>
            <a:off x="402336" y="9875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Petal</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402336" y="13716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Modified leaf, often brightly colored, that attracts pollinators (bees, butterflies, birds) to the flower.</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727448" y="914400"/>
            <a:ext cx="4206240" cy="1234440"/>
          </a:xfrm>
          <a:prstGeom prst="roundRect">
            <a:avLst>
              <a:gd name="adj" fmla="val 7407"/>
            </a:avLst>
          </a:prstGeom>
          <a:solidFill>
            <a:srgbClr val="C8E6C9"/>
          </a:solidFill>
          <a:ln/>
          <a:effectLst>
            <a:outerShdw blurRad="101600" dist="38100" dir="2700000" algn="bl" rotWithShape="0">
              <a:srgbClr val="000000">
                <a:alpha val="14000"/>
              </a:srgbClr>
            </a:outerShdw>
          </a:effectLst>
        </p:spPr>
      </p:sp>
      <p:sp>
        <p:nvSpPr>
          <p:cNvPr id="8" name="Text 6"/>
          <p:cNvSpPr/>
          <p:nvPr/>
        </p:nvSpPr>
        <p:spPr>
          <a:xfrm>
            <a:off x="4855464" y="9875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Sepal</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4855464" y="13716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Small, leaf-like structures below the petals. They protect the flower bud before it opens. Together called the calyx.</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274320" y="2286000"/>
            <a:ext cx="4206240" cy="1234440"/>
          </a:xfrm>
          <a:prstGeom prst="roundRect">
            <a:avLst>
              <a:gd name="adj" fmla="val 7407"/>
            </a:avLst>
          </a:prstGeom>
          <a:solidFill>
            <a:srgbClr val="FFF9C4"/>
          </a:solidFill>
          <a:ln/>
          <a:effectLst>
            <a:outerShdw blurRad="101600" dist="38100" dir="2700000" algn="bl" rotWithShape="0">
              <a:srgbClr val="000000">
                <a:alpha val="14000"/>
              </a:srgbClr>
            </a:outerShdw>
          </a:effectLst>
        </p:spPr>
      </p:sp>
      <p:sp>
        <p:nvSpPr>
          <p:cNvPr id="11" name="Text 9"/>
          <p:cNvSpPr/>
          <p:nvPr/>
        </p:nvSpPr>
        <p:spPr>
          <a:xfrm>
            <a:off x="402336" y="23591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Stamen</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402336" y="27432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The male reproductive organ. Made of the filament (stalk) and anther (tip that produces pollen).</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4727448" y="2286000"/>
            <a:ext cx="4206240" cy="1234440"/>
          </a:xfrm>
          <a:prstGeom prst="roundRect">
            <a:avLst>
              <a:gd name="adj" fmla="val 7407"/>
            </a:avLst>
          </a:prstGeom>
          <a:solidFill>
            <a:srgbClr val="E1BEE7"/>
          </a:solidFill>
          <a:ln/>
          <a:effectLst>
            <a:outerShdw blurRad="101600" dist="38100" dir="2700000" algn="bl" rotWithShape="0">
              <a:srgbClr val="000000">
                <a:alpha val="14000"/>
              </a:srgbClr>
            </a:outerShdw>
          </a:effectLst>
        </p:spPr>
      </p:sp>
      <p:sp>
        <p:nvSpPr>
          <p:cNvPr id="14" name="Text 12"/>
          <p:cNvSpPr/>
          <p:nvPr/>
        </p:nvSpPr>
        <p:spPr>
          <a:xfrm>
            <a:off x="4855464" y="23591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Pistil</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4855464" y="27432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The female reproductive organ. Consists of stigma (top), style (tube), and ovary (base containing ovules/eggs).</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274320" y="3657600"/>
            <a:ext cx="4206240" cy="1234440"/>
          </a:xfrm>
          <a:prstGeom prst="roundRect">
            <a:avLst>
              <a:gd name="adj" fmla="val 7407"/>
            </a:avLst>
          </a:prstGeom>
          <a:solidFill>
            <a:srgbClr val="FFE0B2"/>
          </a:solidFill>
          <a:ln/>
          <a:effectLst>
            <a:outerShdw blurRad="101600" dist="38100" dir="2700000" algn="bl" rotWithShape="0">
              <a:srgbClr val="000000">
                <a:alpha val="14000"/>
              </a:srgbClr>
            </a:outerShdw>
          </a:effectLst>
        </p:spPr>
      </p:sp>
      <p:sp>
        <p:nvSpPr>
          <p:cNvPr id="17" name="Text 15"/>
          <p:cNvSpPr/>
          <p:nvPr/>
        </p:nvSpPr>
        <p:spPr>
          <a:xfrm>
            <a:off x="402336" y="37307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Receptacle</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402336" y="41148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The thickened end of the flower stalk (peduncle) where all flower parts are attached.</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727448" y="3657600"/>
            <a:ext cx="4206240" cy="1234440"/>
          </a:xfrm>
          <a:prstGeom prst="roundRect">
            <a:avLst>
              <a:gd name="adj" fmla="val 7407"/>
            </a:avLst>
          </a:prstGeom>
          <a:solidFill>
            <a:srgbClr val="B3E5FC"/>
          </a:solidFill>
          <a:ln/>
          <a:effectLst>
            <a:outerShdw blurRad="101600" dist="38100" dir="2700000" algn="bl" rotWithShape="0">
              <a:srgbClr val="000000">
                <a:alpha val="14000"/>
              </a:srgbClr>
            </a:outerShdw>
          </a:effectLst>
        </p:spPr>
      </p:sp>
      <p:sp>
        <p:nvSpPr>
          <p:cNvPr id="20" name="Text 18"/>
          <p:cNvSpPr/>
          <p:nvPr/>
        </p:nvSpPr>
        <p:spPr>
          <a:xfrm>
            <a:off x="4855464" y="3730752"/>
            <a:ext cx="3931920" cy="365760"/>
          </a:xfrm>
          <a:prstGeom prst="rect">
            <a:avLst/>
          </a:prstGeom>
          <a:noFill/>
          <a:ln/>
        </p:spPr>
        <p:txBody>
          <a:bodyPr wrap="square" rtlCol="0" anchor="ctr"/>
          <a:lstStyle/>
          <a:p>
            <a:pPr marL="0" indent="0">
              <a:buNone/>
            </a:pPr>
            <a:r>
              <a:rPr lang="en-US" sz="2000" b="1" dirty="0">
                <a:solidFill>
                  <a:srgbClr val="1B2A1E"/>
                </a:solidFill>
                <a:latin typeface="Times New Roman" panose="02020603050405020304" pitchFamily="18" charset="0"/>
                <a:ea typeface="Cambria" pitchFamily="34" charset="-122"/>
                <a:cs typeface="Times New Roman" panose="02020603050405020304" pitchFamily="18" charset="0"/>
              </a:rPr>
              <a:t>Nectary</a:t>
            </a:r>
            <a:endParaRPr lang="en-US" sz="2000" dirty="0">
              <a:latin typeface="Times New Roman" panose="02020603050405020304" pitchFamily="18" charset="0"/>
              <a:cs typeface="Times New Roman" panose="02020603050405020304" pitchFamily="18" charset="0"/>
            </a:endParaRPr>
          </a:p>
        </p:txBody>
      </p:sp>
      <p:sp>
        <p:nvSpPr>
          <p:cNvPr id="21" name="Text 19"/>
          <p:cNvSpPr/>
          <p:nvPr/>
        </p:nvSpPr>
        <p:spPr>
          <a:xfrm>
            <a:off x="4855464" y="4114800"/>
            <a:ext cx="3931920" cy="713232"/>
          </a:xfrm>
          <a:prstGeom prst="rect">
            <a:avLst/>
          </a:prstGeom>
          <a:noFill/>
          <a:ln/>
        </p:spPr>
        <p:txBody>
          <a:bodyPr wrap="square" rtlCol="0" anchor="ctr"/>
          <a:lstStyle/>
          <a:p>
            <a:pPr marL="0" indent="0">
              <a:buNone/>
            </a:pPr>
            <a:r>
              <a:rPr lang="en-US" sz="1600" dirty="0">
                <a:solidFill>
                  <a:srgbClr val="212121"/>
                </a:solidFill>
                <a:latin typeface="Times New Roman" panose="02020603050405020304" pitchFamily="18" charset="0"/>
                <a:ea typeface="Calibri" pitchFamily="34" charset="-122"/>
                <a:cs typeface="Times New Roman" panose="02020603050405020304" pitchFamily="18" charset="0"/>
              </a:rPr>
              <a:t>Glands that produce sweet nectar to attract pollinators. Usually found at the base of petals.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EB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277BD"/>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Monocot vs Dicot — Comparison</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3166147375"/>
              </p:ext>
            </p:extLst>
          </p:nvPr>
        </p:nvGraphicFramePr>
        <p:xfrm>
          <a:off x="274320" y="914400"/>
          <a:ext cx="8503920" cy="3974592"/>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658368">
                <a:tc>
                  <a:txBody>
                    <a:bodyP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Feature</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277BD"/>
                    </a:solidFill>
                  </a:tcPr>
                </a:tc>
                <a:tc>
                  <a:txBody>
                    <a:bodyP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 Monocot</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 Dicot</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65100"/>
                    </a:solidFill>
                  </a:tcPr>
                </a:tc>
                <a:extLst>
                  <a:ext uri="{0D108BD9-81ED-4DB2-BD59-A6C34878D82A}">
                    <a16:rowId xmlns:a16="http://schemas.microsoft.com/office/drawing/2014/main" val="10000"/>
                  </a:ext>
                </a:extLst>
              </a:tr>
              <a:tr h="658368">
                <a:tc>
                  <a:txBody>
                    <a:bodyPr/>
                    <a:lstStyle/>
                    <a:p>
                      <a:pPr marL="0" indent="0" algn="l">
                        <a:buNone/>
                      </a:pPr>
                      <a:r>
                        <a:rPr lang="en-US" sz="1800" b="1" dirty="0">
                          <a:solidFill>
                            <a:srgbClr val="000000"/>
                          </a:solidFill>
                          <a:latin typeface="Times New Roman" panose="02020603050405020304" pitchFamily="18" charset="0"/>
                          <a:ea typeface="Cambria" pitchFamily="34" charset="-122"/>
                          <a:cs typeface="Times New Roman" panose="02020603050405020304" pitchFamily="18" charset="0"/>
                        </a:rPr>
                        <a:t>Root</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6EAF8"/>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Fibrous root system (many thin roots)</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BF5FB"/>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Taproot system (one main large root)</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EF9E7"/>
                    </a:solidFill>
                  </a:tcPr>
                </a:tc>
                <a:extLst>
                  <a:ext uri="{0D108BD9-81ED-4DB2-BD59-A6C34878D82A}">
                    <a16:rowId xmlns:a16="http://schemas.microsoft.com/office/drawing/2014/main" val="10001"/>
                  </a:ext>
                </a:extLst>
              </a:tr>
              <a:tr h="658368">
                <a:tc>
                  <a:txBody>
                    <a:bodyPr/>
                    <a:lstStyle/>
                    <a:p>
                      <a:pPr marL="0" indent="0" algn="l">
                        <a:buNone/>
                      </a:pPr>
                      <a:r>
                        <a:rPr lang="en-US" sz="1800" b="1" dirty="0">
                          <a:solidFill>
                            <a:srgbClr val="000000"/>
                          </a:solidFill>
                          <a:latin typeface="Times New Roman" panose="02020603050405020304" pitchFamily="18" charset="0"/>
                          <a:ea typeface="Cambria" pitchFamily="34" charset="-122"/>
                          <a:cs typeface="Times New Roman" panose="02020603050405020304" pitchFamily="18" charset="0"/>
                        </a:rPr>
                        <a:t>Stem</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6EAF8"/>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Vascular bundles scattered throughout stem</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BF5FB"/>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Vascular bundles arranged in a ring</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EF9E7"/>
                    </a:solidFill>
                  </a:tcPr>
                </a:tc>
                <a:extLst>
                  <a:ext uri="{0D108BD9-81ED-4DB2-BD59-A6C34878D82A}">
                    <a16:rowId xmlns:a16="http://schemas.microsoft.com/office/drawing/2014/main" val="10002"/>
                  </a:ext>
                </a:extLst>
              </a:tr>
              <a:tr h="658368">
                <a:tc>
                  <a:txBody>
                    <a:bodyPr/>
                    <a:lstStyle/>
                    <a:p>
                      <a:pPr marL="0" indent="0" algn="l">
                        <a:buNone/>
                      </a:pPr>
                      <a:r>
                        <a:rPr lang="en-US" sz="1800" b="1" dirty="0">
                          <a:solidFill>
                            <a:srgbClr val="000000"/>
                          </a:solidFill>
                          <a:latin typeface="Times New Roman" panose="02020603050405020304" pitchFamily="18" charset="0"/>
                          <a:ea typeface="Cambria" pitchFamily="34" charset="-122"/>
                          <a:cs typeface="Times New Roman" panose="02020603050405020304" pitchFamily="18" charset="0"/>
                        </a:rPr>
                        <a:t>Leaf</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6EAF8"/>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Parallel leaf veins</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BF5FB"/>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Net (reticulate) leaf veins</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EF9E7"/>
                    </a:solidFill>
                  </a:tcPr>
                </a:tc>
                <a:extLst>
                  <a:ext uri="{0D108BD9-81ED-4DB2-BD59-A6C34878D82A}">
                    <a16:rowId xmlns:a16="http://schemas.microsoft.com/office/drawing/2014/main" val="10003"/>
                  </a:ext>
                </a:extLst>
              </a:tr>
              <a:tr h="658368">
                <a:tc>
                  <a:txBody>
                    <a:bodyPr/>
                    <a:lstStyle/>
                    <a:p>
                      <a:pPr marL="0" indent="0" algn="l">
                        <a:buNone/>
                      </a:pPr>
                      <a:r>
                        <a:rPr lang="en-US" sz="1800" b="1" dirty="0">
                          <a:solidFill>
                            <a:srgbClr val="000000"/>
                          </a:solidFill>
                          <a:latin typeface="Times New Roman" panose="02020603050405020304" pitchFamily="18" charset="0"/>
                          <a:ea typeface="Cambria" pitchFamily="34" charset="-122"/>
                          <a:cs typeface="Times New Roman" panose="02020603050405020304" pitchFamily="18" charset="0"/>
                        </a:rPr>
                        <a:t>Flower</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6EAF8"/>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Petals in multiples of 3 (3 or 6)</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BF5FB"/>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Petals in multiples of 4 or 5</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EF9E7"/>
                    </a:solidFill>
                  </a:tcPr>
                </a:tc>
                <a:extLst>
                  <a:ext uri="{0D108BD9-81ED-4DB2-BD59-A6C34878D82A}">
                    <a16:rowId xmlns:a16="http://schemas.microsoft.com/office/drawing/2014/main" val="10004"/>
                  </a:ext>
                </a:extLst>
              </a:tr>
              <a:tr h="658368">
                <a:tc>
                  <a:txBody>
                    <a:bodyPr/>
                    <a:lstStyle/>
                    <a:p>
                      <a:pPr marL="0" indent="0" algn="l">
                        <a:buNone/>
                      </a:pPr>
                      <a:r>
                        <a:rPr lang="en-US" sz="1800" b="1" dirty="0">
                          <a:solidFill>
                            <a:srgbClr val="000000"/>
                          </a:solidFill>
                          <a:latin typeface="Times New Roman" panose="02020603050405020304" pitchFamily="18" charset="0"/>
                          <a:ea typeface="Cambria" pitchFamily="34" charset="-122"/>
                          <a:cs typeface="Times New Roman" panose="02020603050405020304" pitchFamily="18" charset="0"/>
                        </a:rPr>
                        <a:t>Seed</a:t>
                      </a:r>
                      <a:endParaRPr lang="en-US" sz="1800" dirty="0">
                        <a:latin typeface="Times New Roman" panose="02020603050405020304" pitchFamily="18" charset="0"/>
                        <a:ea typeface="Cambria"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D6EAF8"/>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1 cotyledon (monocot = mono = one)</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BF5FB"/>
                    </a:solidFill>
                  </a:tcPr>
                </a:tc>
                <a:tc>
                  <a:txBody>
                    <a:bodyPr/>
                    <a:lstStyle/>
                    <a:p>
                      <a:pPr marL="0" indent="0" algn="l">
                        <a:buNone/>
                      </a:pPr>
                      <a:r>
                        <a:rPr lang="en-US" sz="1600" dirty="0">
                          <a:solidFill>
                            <a:srgbClr val="000000"/>
                          </a:solidFill>
                          <a:latin typeface="Times New Roman" panose="02020603050405020304" pitchFamily="18" charset="0"/>
                          <a:ea typeface="Calibri" pitchFamily="34" charset="-122"/>
                          <a:cs typeface="Times New Roman" panose="02020603050405020304" pitchFamily="18" charset="0"/>
                        </a:rPr>
                        <a:t>2 cotyledons (dicot = di = two)</a:t>
                      </a:r>
                      <a:endParaRPr lang="en-US" sz="1600" dirty="0">
                        <a:latin typeface="Times New Roman" panose="02020603050405020304" pitchFamily="18" charset="0"/>
                        <a:ea typeface="Calibri" charset="0"/>
                        <a:cs typeface="Times New Roman" panose="02020603050405020304" pitchFamily="18" charset="0"/>
                      </a:endParaRPr>
                    </a:p>
                  </a:txBody>
                  <a:tcPr marL="164592" marR="164592" marT="91440" marB="9144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EF9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8EAF6"/>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565C0"/>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Examples of Monocot Plants</a:t>
            </a:r>
            <a:endParaRPr lang="en-US" sz="2800" dirty="0"/>
          </a:p>
        </p:txBody>
      </p:sp>
      <p:sp>
        <p:nvSpPr>
          <p:cNvPr id="4" name="Shape 2"/>
          <p:cNvSpPr/>
          <p:nvPr/>
        </p:nvSpPr>
        <p:spPr>
          <a:xfrm>
            <a:off x="228600"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6" name="Text 3"/>
          <p:cNvSpPr/>
          <p:nvPr/>
        </p:nvSpPr>
        <p:spPr>
          <a:xfrm>
            <a:off x="320040" y="2450592"/>
            <a:ext cx="1049451" cy="411480"/>
          </a:xfrm>
          <a:prstGeom prst="rect">
            <a:avLst/>
          </a:prstGeom>
          <a:noFill/>
          <a:ln/>
        </p:spPr>
        <p:txBody>
          <a:bodyPr wrap="square" rtlCol="0" anchor="ctr"/>
          <a:lstStyle/>
          <a:p>
            <a:pPr marL="0" indent="0">
              <a:buNone/>
            </a:pPr>
            <a:endParaRPr lang="en-US" sz="1300" dirty="0"/>
          </a:p>
        </p:txBody>
      </p:sp>
      <p:sp>
        <p:nvSpPr>
          <p:cNvPr id="7" name="Text 4"/>
          <p:cNvSpPr/>
          <p:nvPr/>
        </p:nvSpPr>
        <p:spPr>
          <a:xfrm>
            <a:off x="320039" y="3244908"/>
            <a:ext cx="1828800" cy="1508760"/>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Staple food for half the world's population. Fibrous roots, parallel leaf veins.</a:t>
            </a:r>
            <a:endParaRPr lang="en-US" sz="1400" dirty="0">
              <a:latin typeface="Times New Roman" panose="02020603050405020304" pitchFamily="18" charset="0"/>
              <a:cs typeface="Times New Roman" panose="02020603050405020304" pitchFamily="18" charset="0"/>
            </a:endParaRPr>
          </a:p>
        </p:txBody>
      </p:sp>
      <p:sp>
        <p:nvSpPr>
          <p:cNvPr id="8" name="Shape 5"/>
          <p:cNvSpPr/>
          <p:nvPr/>
        </p:nvSpPr>
        <p:spPr>
          <a:xfrm>
            <a:off x="2404872"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1" name="Text 7"/>
          <p:cNvSpPr/>
          <p:nvPr/>
        </p:nvSpPr>
        <p:spPr>
          <a:xfrm>
            <a:off x="2483417" y="3382068"/>
            <a:ext cx="1828800" cy="1508760"/>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One of the most widely grown crops globally. Flowers in 3s; scattered vascular bundles.</a:t>
            </a:r>
            <a:endParaRPr lang="en-US" sz="1400" dirty="0">
              <a:latin typeface="Times New Roman" panose="02020603050405020304" pitchFamily="18" charset="0"/>
              <a:cs typeface="Times New Roman" panose="02020603050405020304" pitchFamily="18" charset="0"/>
            </a:endParaRPr>
          </a:p>
        </p:txBody>
      </p:sp>
      <p:sp>
        <p:nvSpPr>
          <p:cNvPr id="12" name="Shape 8"/>
          <p:cNvSpPr/>
          <p:nvPr/>
        </p:nvSpPr>
        <p:spPr>
          <a:xfrm>
            <a:off x="4581144"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5" name="Text 10"/>
          <p:cNvSpPr/>
          <p:nvPr/>
        </p:nvSpPr>
        <p:spPr>
          <a:xfrm>
            <a:off x="4681728" y="3492191"/>
            <a:ext cx="1828800" cy="1071012"/>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Ornamental flower with petals in multiples of 3 and parallel-veined leaves.</a:t>
            </a:r>
            <a:endParaRPr lang="en-US" sz="1400" dirty="0">
              <a:latin typeface="Times New Roman" panose="02020603050405020304" pitchFamily="18" charset="0"/>
              <a:cs typeface="Times New Roman" panose="02020603050405020304" pitchFamily="18" charset="0"/>
            </a:endParaRPr>
          </a:p>
        </p:txBody>
      </p:sp>
      <p:sp>
        <p:nvSpPr>
          <p:cNvPr id="16" name="Shape 11"/>
          <p:cNvSpPr/>
          <p:nvPr/>
        </p:nvSpPr>
        <p:spPr>
          <a:xfrm>
            <a:off x="6757416"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9" name="Text 13"/>
          <p:cNvSpPr/>
          <p:nvPr/>
        </p:nvSpPr>
        <p:spPr>
          <a:xfrm>
            <a:off x="6848856" y="3541329"/>
            <a:ext cx="1828800" cy="1161839"/>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Large tropical monocot with fibrous root system and a pseudostem made of leaf bases.</a:t>
            </a:r>
            <a:endParaRPr lang="en-US" sz="1400" dirty="0">
              <a:latin typeface="Times New Roman" panose="02020603050405020304" pitchFamily="18" charset="0"/>
              <a:cs typeface="Times New Roman" panose="02020603050405020304" pitchFamily="18" charset="0"/>
            </a:endParaRPr>
          </a:p>
        </p:txBody>
      </p:sp>
      <p:sp>
        <p:nvSpPr>
          <p:cNvPr id="20" name="Text 14"/>
          <p:cNvSpPr/>
          <p:nvPr/>
        </p:nvSpPr>
        <p:spPr>
          <a:xfrm>
            <a:off x="274320" y="4716101"/>
            <a:ext cx="8595360" cy="274320"/>
          </a:xfrm>
          <a:prstGeom prst="rect">
            <a:avLst/>
          </a:prstGeom>
          <a:noFill/>
          <a:ln/>
        </p:spPr>
        <p:txBody>
          <a:bodyPr wrap="square" rtlCol="0" anchor="ctr"/>
          <a:lstStyle/>
          <a:p>
            <a:pPr marL="0" indent="0" algn="ctr">
              <a:buNone/>
            </a:pPr>
            <a:r>
              <a:rPr lang="en-US" i="1" dirty="0">
                <a:solidFill>
                  <a:srgbClr val="1565C0"/>
                </a:solidFill>
                <a:latin typeface="Times New Roman" panose="02020603050405020304" pitchFamily="18" charset="0"/>
                <a:ea typeface="Calibri" pitchFamily="34" charset="-122"/>
                <a:cs typeface="Times New Roman" panose="02020603050405020304" pitchFamily="18" charset="0"/>
              </a:rPr>
              <a:t>Key trait: Parallel leaf veins  |  Fibrous roots  |  Flower parts in 3s  |  1 seed leaf</a:t>
            </a:r>
            <a:endParaRPr lang="en-US" dirty="0">
              <a:latin typeface="Times New Roman" panose="02020603050405020304" pitchFamily="18" charset="0"/>
              <a:cs typeface="Times New Roman" panose="02020603050405020304" pitchFamily="18" charset="0"/>
            </a:endParaRPr>
          </a:p>
        </p:txBody>
      </p:sp>
      <p:pic>
        <p:nvPicPr>
          <p:cNvPr id="1026" name="Picture 2" descr="Rice sprouts vector stock illustration. A cereal plant with grains on the stem grown in the field. The ear of a wild flower. Isolated on a white background.">
            <a:extLst>
              <a:ext uri="{FF2B5EF4-FFF2-40B4-BE49-F238E27FC236}">
                <a16:creationId xmlns:a16="http://schemas.microsoft.com/office/drawing/2014/main" id="{A706C4CD-13CB-9007-B451-F187F779F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178" y="1024128"/>
            <a:ext cx="1342523" cy="25255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ize plant">
            <a:extLst>
              <a:ext uri="{FF2B5EF4-FFF2-40B4-BE49-F238E27FC236}">
                <a16:creationId xmlns:a16="http://schemas.microsoft.com/office/drawing/2014/main" id="{DD142CBC-DF7A-3885-D122-FC875B1D1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975" y="1007493"/>
            <a:ext cx="1647683" cy="24677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ree Bright red tulips in a wooden planter outdoors, symbolizing spring. Stock Photo">
            <a:extLst>
              <a:ext uri="{FF2B5EF4-FFF2-40B4-BE49-F238E27FC236}">
                <a16:creationId xmlns:a16="http://schemas.microsoft.com/office/drawing/2014/main" id="{310FD4D3-F0DD-71DD-1E80-AC4DD29FC9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985838"/>
            <a:ext cx="1929384" cy="248943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nana tree isolated on white background">
            <a:extLst>
              <a:ext uri="{FF2B5EF4-FFF2-40B4-BE49-F238E27FC236}">
                <a16:creationId xmlns:a16="http://schemas.microsoft.com/office/drawing/2014/main" id="{4556DEDE-9549-43DE-FEDE-877F491E36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8856" y="1084194"/>
            <a:ext cx="1821703" cy="2405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3E0"/>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65100"/>
          </a:solidFill>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Examples of Dicot Plants</a:t>
            </a:r>
            <a:endParaRPr lang="en-US" sz="2800" dirty="0"/>
          </a:p>
        </p:txBody>
      </p:sp>
      <p:sp>
        <p:nvSpPr>
          <p:cNvPr id="4" name="Shape 2"/>
          <p:cNvSpPr/>
          <p:nvPr/>
        </p:nvSpPr>
        <p:spPr>
          <a:xfrm>
            <a:off x="228600" y="868680"/>
            <a:ext cx="2011680" cy="3774379"/>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7" name="Text 4"/>
          <p:cNvSpPr/>
          <p:nvPr/>
        </p:nvSpPr>
        <p:spPr>
          <a:xfrm>
            <a:off x="261651" y="3469652"/>
            <a:ext cx="1828800" cy="1102348"/>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Classic dicot with net-veined leaves, petals in 5s, and a strong taproot system.</a:t>
            </a:r>
            <a:endParaRPr lang="en-US" sz="1400" dirty="0">
              <a:latin typeface="Times New Roman" panose="02020603050405020304" pitchFamily="18" charset="0"/>
              <a:cs typeface="Times New Roman" panose="02020603050405020304" pitchFamily="18" charset="0"/>
            </a:endParaRPr>
          </a:p>
        </p:txBody>
      </p:sp>
      <p:sp>
        <p:nvSpPr>
          <p:cNvPr id="8" name="Shape 5"/>
          <p:cNvSpPr/>
          <p:nvPr/>
        </p:nvSpPr>
        <p:spPr>
          <a:xfrm>
            <a:off x="2404872" y="868680"/>
            <a:ext cx="2011680" cy="3774379"/>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1" name="Text 7"/>
          <p:cNvSpPr/>
          <p:nvPr/>
        </p:nvSpPr>
        <p:spPr>
          <a:xfrm>
            <a:off x="2496312" y="3494991"/>
            <a:ext cx="1828800" cy="1148068"/>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Tall dicot with a </a:t>
            </a:r>
            <a:r>
              <a:rPr lang="en-US" sz="1600" dirty="0">
                <a:solidFill>
                  <a:srgbClr val="212121"/>
                </a:solidFill>
                <a:latin typeface="Calibri" pitchFamily="34" charset="0"/>
                <a:ea typeface="Calibri" pitchFamily="34" charset="-122"/>
                <a:cs typeface="Calibri" pitchFamily="34" charset="-120"/>
              </a:rPr>
              <a:t>large</a:t>
            </a:r>
            <a:r>
              <a:rPr lang="en-US" sz="1400" dirty="0">
                <a:solidFill>
                  <a:srgbClr val="212121"/>
                </a:solidFill>
                <a:latin typeface="Calibri" pitchFamily="34" charset="0"/>
                <a:ea typeface="Calibri" pitchFamily="34" charset="-122"/>
                <a:cs typeface="Calibri" pitchFamily="34" charset="-120"/>
              </a:rPr>
              <a:t> compound flower head. Taproots anchor deeply into soil.</a:t>
            </a:r>
            <a:endParaRPr lang="en-US" sz="1400" dirty="0"/>
          </a:p>
        </p:txBody>
      </p:sp>
      <p:sp>
        <p:nvSpPr>
          <p:cNvPr id="12" name="Shape 8"/>
          <p:cNvSpPr/>
          <p:nvPr/>
        </p:nvSpPr>
        <p:spPr>
          <a:xfrm>
            <a:off x="4581144"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5" name="Text 10"/>
          <p:cNvSpPr/>
          <p:nvPr/>
        </p:nvSpPr>
        <p:spPr>
          <a:xfrm>
            <a:off x="4672584" y="3546487"/>
            <a:ext cx="1828800" cy="1168449"/>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Clear 2-cotyledon seed;</a:t>
            </a:r>
          </a:p>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 net-veined leaves; taproot anchors plant firmly.</a:t>
            </a:r>
            <a:endParaRPr lang="en-US" sz="1400" dirty="0">
              <a:latin typeface="Times New Roman" panose="02020603050405020304" pitchFamily="18" charset="0"/>
              <a:cs typeface="Times New Roman" panose="02020603050405020304" pitchFamily="18" charset="0"/>
            </a:endParaRPr>
          </a:p>
        </p:txBody>
      </p:sp>
      <p:sp>
        <p:nvSpPr>
          <p:cNvPr id="16" name="Shape 11"/>
          <p:cNvSpPr/>
          <p:nvPr/>
        </p:nvSpPr>
        <p:spPr>
          <a:xfrm>
            <a:off x="6757416" y="868680"/>
            <a:ext cx="2011680" cy="3794760"/>
          </a:xfrm>
          <a:prstGeom prst="roundRect">
            <a:avLst>
              <a:gd name="adj" fmla="val 4545"/>
            </a:avLst>
          </a:prstGeom>
          <a:solidFill>
            <a:srgbClr val="FFFFFF"/>
          </a:solidFill>
          <a:ln/>
          <a:effectLst>
            <a:outerShdw blurRad="101600" dist="38100" dir="2700000" algn="bl" rotWithShape="0">
              <a:srgbClr val="000000">
                <a:alpha val="14000"/>
              </a:srgbClr>
            </a:outerShdw>
          </a:effectLst>
        </p:spPr>
      </p:sp>
      <p:sp>
        <p:nvSpPr>
          <p:cNvPr id="18" name="Text 12"/>
          <p:cNvSpPr/>
          <p:nvPr/>
        </p:nvSpPr>
        <p:spPr>
          <a:xfrm>
            <a:off x="10244841" y="2518772"/>
            <a:ext cx="919835" cy="257651"/>
          </a:xfrm>
          <a:prstGeom prst="rect">
            <a:avLst/>
          </a:prstGeom>
          <a:noFill/>
          <a:ln/>
        </p:spPr>
        <p:txBody>
          <a:bodyPr wrap="square" rtlCol="0" anchor="ctr"/>
          <a:lstStyle/>
          <a:p>
            <a:pPr marL="0" indent="0">
              <a:buNone/>
            </a:pPr>
            <a:endParaRPr lang="en-US" sz="1300" dirty="0"/>
          </a:p>
        </p:txBody>
      </p:sp>
      <p:sp>
        <p:nvSpPr>
          <p:cNvPr id="19" name="Text 13"/>
          <p:cNvSpPr/>
          <p:nvPr/>
        </p:nvSpPr>
        <p:spPr>
          <a:xfrm>
            <a:off x="6848856" y="3423224"/>
            <a:ext cx="1828800" cy="1508760"/>
          </a:xfrm>
          <a:prstGeom prst="rect">
            <a:avLst/>
          </a:prstGeom>
          <a:noFill/>
          <a:ln/>
        </p:spPr>
        <p:txBody>
          <a:bodyPr wrap="square" rtlCol="0" anchor="ctr"/>
          <a:lstStyle/>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Dicot with reticulate (netted) leaf veins;</a:t>
            </a:r>
          </a:p>
          <a:p>
            <a:pPr marL="0" indent="0">
              <a:buNone/>
            </a:pPr>
            <a:r>
              <a:rPr lang="en-US" sz="1400" dirty="0">
                <a:solidFill>
                  <a:srgbClr val="212121"/>
                </a:solidFill>
                <a:latin typeface="Times New Roman" panose="02020603050405020304" pitchFamily="18" charset="0"/>
                <a:ea typeface="Calibri" pitchFamily="34" charset="-122"/>
                <a:cs typeface="Times New Roman" panose="02020603050405020304" pitchFamily="18" charset="0"/>
              </a:rPr>
              <a:t> 5-petalled flowers; edible fruit.</a:t>
            </a:r>
            <a:endParaRPr lang="en-US" sz="1400" dirty="0">
              <a:latin typeface="Times New Roman" panose="02020603050405020304" pitchFamily="18" charset="0"/>
              <a:cs typeface="Times New Roman" panose="02020603050405020304" pitchFamily="18" charset="0"/>
            </a:endParaRPr>
          </a:p>
        </p:txBody>
      </p:sp>
      <p:sp>
        <p:nvSpPr>
          <p:cNvPr id="20" name="Text 14"/>
          <p:cNvSpPr/>
          <p:nvPr/>
        </p:nvSpPr>
        <p:spPr>
          <a:xfrm>
            <a:off x="274320" y="4754880"/>
            <a:ext cx="8595360" cy="274320"/>
          </a:xfrm>
          <a:prstGeom prst="rect">
            <a:avLst/>
          </a:prstGeom>
          <a:noFill/>
          <a:ln/>
        </p:spPr>
        <p:txBody>
          <a:bodyPr wrap="square" rtlCol="0" anchor="ctr"/>
          <a:lstStyle/>
          <a:p>
            <a:pPr marL="0" indent="0" algn="ctr">
              <a:buNone/>
            </a:pPr>
            <a:r>
              <a:rPr lang="en-US" i="1" dirty="0">
                <a:solidFill>
                  <a:srgbClr val="E65100"/>
                </a:solidFill>
                <a:latin typeface="Times New Roman" panose="02020603050405020304" pitchFamily="18" charset="0"/>
                <a:ea typeface="Calibri" pitchFamily="34" charset="-122"/>
                <a:cs typeface="Times New Roman" panose="02020603050405020304" pitchFamily="18" charset="0"/>
              </a:rPr>
              <a:t>Key trait: Net leaf veins  |  Taproot  |  Flower parts in 4s or 5s  |  2 seed leaves</a:t>
            </a:r>
            <a:endParaRPr lang="en-US" dirty="0">
              <a:latin typeface="Times New Roman" panose="02020603050405020304" pitchFamily="18" charset="0"/>
              <a:cs typeface="Times New Roman" panose="02020603050405020304" pitchFamily="18" charset="0"/>
            </a:endParaRPr>
          </a:p>
        </p:txBody>
      </p:sp>
      <p:pic>
        <p:nvPicPr>
          <p:cNvPr id="2050" name="Picture 2" descr="Red roses growing in a green container">
            <a:extLst>
              <a:ext uri="{FF2B5EF4-FFF2-40B4-BE49-F238E27FC236}">
                <a16:creationId xmlns:a16="http://schemas.microsoft.com/office/drawing/2014/main" id="{FCC096AD-587E-5F67-79F4-FDE6AEC562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249" r="43411"/>
          <a:stretch>
            <a:fillRect/>
          </a:stretch>
        </p:blipFill>
        <p:spPr bwMode="auto">
          <a:xfrm>
            <a:off x="261651" y="945354"/>
            <a:ext cx="1920240" cy="237072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unflower plant depicted in various stages of growth, showcasing its lifecycle from seedling to blooming, isolated on a white background, generative ai">
            <a:extLst>
              <a:ext uri="{FF2B5EF4-FFF2-40B4-BE49-F238E27FC236}">
                <a16:creationId xmlns:a16="http://schemas.microsoft.com/office/drawing/2014/main" id="{DC1AB9B9-6DA6-21EF-3571-00438829EF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5776" b="13718"/>
          <a:stretch>
            <a:fillRect/>
          </a:stretch>
        </p:blipFill>
        <p:spPr bwMode="auto">
          <a:xfrm>
            <a:off x="2496312" y="904898"/>
            <a:ext cx="1640997" cy="24986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ung Bean pod is a plant in the legume family. photo">
            <a:extLst>
              <a:ext uri="{FF2B5EF4-FFF2-40B4-BE49-F238E27FC236}">
                <a16:creationId xmlns:a16="http://schemas.microsoft.com/office/drawing/2014/main" id="{DD28EA95-6E38-83C0-538F-F94B9DD985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634" r="-2013"/>
          <a:stretch>
            <a:fillRect/>
          </a:stretch>
        </p:blipFill>
        <p:spPr bwMode="auto">
          <a:xfrm>
            <a:off x="4718303" y="945354"/>
            <a:ext cx="1828801" cy="240723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 tomato plant bearing numerous ripe and green tomatoes on a transparent background">
            <a:extLst>
              <a:ext uri="{FF2B5EF4-FFF2-40B4-BE49-F238E27FC236}">
                <a16:creationId xmlns:a16="http://schemas.microsoft.com/office/drawing/2014/main" id="{327DCB72-20DE-9B0F-C213-5586A2A112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4737" y="925431"/>
            <a:ext cx="1724691" cy="2525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6400800" y="-731520"/>
            <a:ext cx="3657600" cy="3657600"/>
          </a:xfrm>
          <a:prstGeom prst="ellipse">
            <a:avLst/>
          </a:prstGeom>
          <a:solidFill>
            <a:srgbClr val="43A047">
              <a:alpha val="40000"/>
            </a:srgbClr>
          </a:solidFill>
          <a:ln/>
        </p:spPr>
      </p:sp>
      <p:sp>
        <p:nvSpPr>
          <p:cNvPr id="3" name="Shape 1"/>
          <p:cNvSpPr/>
          <p:nvPr/>
        </p:nvSpPr>
        <p:spPr>
          <a:xfrm>
            <a:off x="-914400" y="3200400"/>
            <a:ext cx="3200400" cy="3200400"/>
          </a:xfrm>
          <a:prstGeom prst="ellipse">
            <a:avLst/>
          </a:prstGeom>
          <a:solidFill>
            <a:srgbClr val="2E7D32">
              <a:alpha val="50000"/>
            </a:srgbClr>
          </a:solidFill>
          <a:ln/>
        </p:spPr>
      </p:sp>
      <p:sp>
        <p:nvSpPr>
          <p:cNvPr id="4" name="Text 2"/>
          <p:cNvSpPr/>
          <p:nvPr/>
        </p:nvSpPr>
        <p:spPr>
          <a:xfrm>
            <a:off x="457200" y="228600"/>
            <a:ext cx="8229600" cy="731520"/>
          </a:xfrm>
          <a:prstGeom prst="rect">
            <a:avLst/>
          </a:prstGeom>
          <a:noFill/>
          <a:ln/>
        </p:spPr>
        <p:txBody>
          <a:bodyPr wrap="square" rtlCol="0" anchor="ctr"/>
          <a:lstStyle/>
          <a:p>
            <a:pPr marL="0" indent="0">
              <a:buNone/>
            </a:pPr>
            <a:r>
              <a:rPr lang="en-US" sz="4800" b="1" dirty="0">
                <a:solidFill>
                  <a:srgbClr val="FFFFFF"/>
                </a:solidFill>
                <a:latin typeface="Times New Roman" panose="02020603050405020304" pitchFamily="18" charset="0"/>
                <a:ea typeface="Cambria" pitchFamily="34" charset="-122"/>
                <a:cs typeface="Times New Roman" panose="02020603050405020304" pitchFamily="18" charset="0"/>
              </a:rPr>
              <a:t>📚 What We've Learned</a:t>
            </a:r>
            <a:endParaRPr lang="en-US" sz="4800" dirty="0">
              <a:latin typeface="Times New Roman" panose="02020603050405020304" pitchFamily="18" charset="0"/>
              <a:cs typeface="Times New Roman" panose="02020603050405020304" pitchFamily="18" charset="0"/>
            </a:endParaRPr>
          </a:p>
        </p:txBody>
      </p:sp>
      <p:sp>
        <p:nvSpPr>
          <p:cNvPr id="5" name="Shape 3"/>
          <p:cNvSpPr/>
          <p:nvPr/>
        </p:nvSpPr>
        <p:spPr>
          <a:xfrm>
            <a:off x="365760" y="1170432"/>
            <a:ext cx="384048" cy="384048"/>
          </a:xfrm>
          <a:prstGeom prst="ellipse">
            <a:avLst/>
          </a:prstGeom>
          <a:solidFill>
            <a:srgbClr val="F9A825"/>
          </a:solidFill>
          <a:ln/>
        </p:spPr>
      </p:sp>
      <p:sp>
        <p:nvSpPr>
          <p:cNvPr id="6" name="Text 4"/>
          <p:cNvSpPr/>
          <p:nvPr/>
        </p:nvSpPr>
        <p:spPr>
          <a:xfrm>
            <a:off x="365760" y="1170432"/>
            <a:ext cx="384048" cy="384048"/>
          </a:xfrm>
          <a:prstGeom prst="rect">
            <a:avLst/>
          </a:prstGeom>
          <a:noFill/>
          <a:ln/>
        </p:spPr>
        <p:txBody>
          <a:bodyPr wrap="square" rtlCol="0" anchor="ctr"/>
          <a:lstStyle/>
          <a:p>
            <a:pPr marL="0" indent="0" algn="ctr">
              <a:buNone/>
            </a:pPr>
            <a:r>
              <a:rPr lang="en-US" sz="1400" b="1" dirty="0">
                <a:solidFill>
                  <a:srgbClr val="1B5E20"/>
                </a:solidFill>
                <a:latin typeface="Times New Roman" panose="02020603050405020304" pitchFamily="18" charset="0"/>
                <a:ea typeface="Cambria" pitchFamily="34" charset="-122"/>
                <a:cs typeface="Times New Roman" panose="02020603050405020304" pitchFamily="18" charset="0"/>
              </a:rPr>
              <a:t>01</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914400" y="1188720"/>
            <a:ext cx="7772400" cy="384048"/>
          </a:xfrm>
          <a:prstGeom prst="rect">
            <a:avLst/>
          </a:prstGeom>
          <a:noFill/>
          <a:ln/>
        </p:spPr>
        <p:txBody>
          <a:bodyPr wrap="square" rtlCol="0" anchor="ctr"/>
          <a:lstStyle/>
          <a:p>
            <a:pPr marL="0" indent="0">
              <a:buNone/>
            </a:pPr>
            <a:r>
              <a:rPr lang="en-US" sz="2000" dirty="0">
                <a:solidFill>
                  <a:srgbClr val="A5D6A7"/>
                </a:solidFill>
                <a:latin typeface="Times New Roman" panose="02020603050405020304" pitchFamily="18" charset="0"/>
                <a:ea typeface="Calibri" pitchFamily="34" charset="-122"/>
                <a:cs typeface="Times New Roman" panose="02020603050405020304" pitchFamily="18" charset="0"/>
              </a:rPr>
              <a:t>Plants are autotrophs — they make food using photosynthesis.</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365760" y="1883664"/>
            <a:ext cx="384048" cy="384048"/>
          </a:xfrm>
          <a:prstGeom prst="ellipse">
            <a:avLst/>
          </a:prstGeom>
          <a:solidFill>
            <a:srgbClr val="F9A825"/>
          </a:solidFill>
          <a:ln/>
        </p:spPr>
      </p:sp>
      <p:sp>
        <p:nvSpPr>
          <p:cNvPr id="9" name="Text 7"/>
          <p:cNvSpPr/>
          <p:nvPr/>
        </p:nvSpPr>
        <p:spPr>
          <a:xfrm>
            <a:off x="365760" y="1883664"/>
            <a:ext cx="384048" cy="384048"/>
          </a:xfrm>
          <a:prstGeom prst="rect">
            <a:avLst/>
          </a:prstGeom>
          <a:noFill/>
          <a:ln/>
        </p:spPr>
        <p:txBody>
          <a:bodyPr wrap="square" rtlCol="0" anchor="ctr"/>
          <a:lstStyle/>
          <a:p>
            <a:pPr marL="0" indent="0" algn="ctr">
              <a:buNone/>
            </a:pPr>
            <a:r>
              <a:rPr lang="en-US" sz="1400" b="1" dirty="0">
                <a:solidFill>
                  <a:srgbClr val="1B5E20"/>
                </a:solidFill>
                <a:latin typeface="Times New Roman" panose="02020603050405020304" pitchFamily="18" charset="0"/>
                <a:ea typeface="Cambria" pitchFamily="34" charset="-122"/>
                <a:cs typeface="Times New Roman" panose="02020603050405020304" pitchFamily="18" charset="0"/>
              </a:rPr>
              <a:t>02</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914400" y="1901952"/>
            <a:ext cx="7772400" cy="384048"/>
          </a:xfrm>
          <a:prstGeom prst="rect">
            <a:avLst/>
          </a:prstGeom>
          <a:noFill/>
          <a:ln/>
        </p:spPr>
        <p:txBody>
          <a:bodyPr wrap="square" rtlCol="0" anchor="ctr"/>
          <a:lstStyle/>
          <a:p>
            <a:pPr marL="0" indent="0">
              <a:buNone/>
            </a:pPr>
            <a:r>
              <a:rPr lang="en-US" sz="2000" dirty="0">
                <a:solidFill>
                  <a:srgbClr val="A5D6A7"/>
                </a:solidFill>
                <a:latin typeface="Times New Roman" panose="02020603050405020304" pitchFamily="18" charset="0"/>
                <a:ea typeface="Calibri" pitchFamily="34" charset="-122"/>
                <a:cs typeface="Times New Roman" panose="02020603050405020304" pitchFamily="18" charset="0"/>
              </a:rPr>
              <a:t>Every plant part (root, stem, leaf, flower, seed) has a specific function.</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365760" y="2596896"/>
            <a:ext cx="384048" cy="384048"/>
          </a:xfrm>
          <a:prstGeom prst="ellipse">
            <a:avLst/>
          </a:prstGeom>
          <a:solidFill>
            <a:srgbClr val="F9A825"/>
          </a:solidFill>
          <a:ln/>
        </p:spPr>
      </p:sp>
      <p:sp>
        <p:nvSpPr>
          <p:cNvPr id="12" name="Text 10"/>
          <p:cNvSpPr/>
          <p:nvPr/>
        </p:nvSpPr>
        <p:spPr>
          <a:xfrm>
            <a:off x="365760" y="2596896"/>
            <a:ext cx="384048" cy="384048"/>
          </a:xfrm>
          <a:prstGeom prst="rect">
            <a:avLst/>
          </a:prstGeom>
          <a:noFill/>
          <a:ln/>
        </p:spPr>
        <p:txBody>
          <a:bodyPr wrap="square" rtlCol="0" anchor="ctr"/>
          <a:lstStyle/>
          <a:p>
            <a:pPr marL="0" indent="0" algn="ctr">
              <a:buNone/>
            </a:pPr>
            <a:r>
              <a:rPr lang="en-US" sz="1400" b="1" dirty="0">
                <a:solidFill>
                  <a:srgbClr val="1B5E20"/>
                </a:solidFill>
                <a:latin typeface="Times New Roman" panose="02020603050405020304" pitchFamily="18" charset="0"/>
                <a:ea typeface="Cambria" pitchFamily="34" charset="-122"/>
                <a:cs typeface="Times New Roman" panose="02020603050405020304" pitchFamily="18" charset="0"/>
              </a:rPr>
              <a:t>03</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914400" y="2615184"/>
            <a:ext cx="7772400" cy="384048"/>
          </a:xfrm>
          <a:prstGeom prst="rect">
            <a:avLst/>
          </a:prstGeom>
          <a:noFill/>
          <a:ln/>
        </p:spPr>
        <p:txBody>
          <a:bodyPr wrap="square" rtlCol="0" anchor="ctr"/>
          <a:lstStyle/>
          <a:p>
            <a:pPr marL="0" indent="0">
              <a:buNone/>
            </a:pPr>
            <a:r>
              <a:rPr lang="en-US" sz="2000" dirty="0">
                <a:solidFill>
                  <a:srgbClr val="A5D6A7"/>
                </a:solidFill>
                <a:latin typeface="Times New Roman" panose="02020603050405020304" pitchFamily="18" charset="0"/>
                <a:ea typeface="Calibri" pitchFamily="34" charset="-122"/>
                <a:cs typeface="Times New Roman" panose="02020603050405020304" pitchFamily="18" charset="0"/>
              </a:rPr>
              <a:t>Flowers have male (stamen) and female (pistil) reproductive organs.</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365760" y="3310128"/>
            <a:ext cx="384048" cy="384048"/>
          </a:xfrm>
          <a:prstGeom prst="ellipse">
            <a:avLst/>
          </a:prstGeom>
          <a:solidFill>
            <a:srgbClr val="F9A825"/>
          </a:solidFill>
          <a:ln/>
        </p:spPr>
      </p:sp>
      <p:sp>
        <p:nvSpPr>
          <p:cNvPr id="15" name="Text 13"/>
          <p:cNvSpPr/>
          <p:nvPr/>
        </p:nvSpPr>
        <p:spPr>
          <a:xfrm>
            <a:off x="365760" y="3310128"/>
            <a:ext cx="384048" cy="384048"/>
          </a:xfrm>
          <a:prstGeom prst="rect">
            <a:avLst/>
          </a:prstGeom>
          <a:noFill/>
          <a:ln/>
        </p:spPr>
        <p:txBody>
          <a:bodyPr wrap="square" rtlCol="0" anchor="ctr"/>
          <a:lstStyle/>
          <a:p>
            <a:pPr marL="0" indent="0" algn="ctr">
              <a:buNone/>
            </a:pPr>
            <a:r>
              <a:rPr lang="en-US" sz="1400" b="1" dirty="0">
                <a:solidFill>
                  <a:srgbClr val="1B5E20"/>
                </a:solidFill>
                <a:latin typeface="Times New Roman" panose="02020603050405020304" pitchFamily="18" charset="0"/>
                <a:ea typeface="Cambria" pitchFamily="34" charset="-122"/>
                <a:cs typeface="Times New Roman" panose="02020603050405020304" pitchFamily="18" charset="0"/>
              </a:rPr>
              <a:t>04</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914400" y="3328416"/>
            <a:ext cx="7772400" cy="384048"/>
          </a:xfrm>
          <a:prstGeom prst="rect">
            <a:avLst/>
          </a:prstGeom>
          <a:noFill/>
          <a:ln/>
        </p:spPr>
        <p:txBody>
          <a:bodyPr wrap="square" rtlCol="0" anchor="ctr"/>
          <a:lstStyle/>
          <a:p>
            <a:pPr marL="0" indent="0">
              <a:buNone/>
            </a:pPr>
            <a:r>
              <a:rPr lang="en-US" sz="2000" dirty="0">
                <a:solidFill>
                  <a:srgbClr val="A5D6A7"/>
                </a:solidFill>
                <a:latin typeface="Times New Roman" panose="02020603050405020304" pitchFamily="18" charset="0"/>
                <a:ea typeface="Calibri" pitchFamily="34" charset="-122"/>
                <a:cs typeface="Times New Roman" panose="02020603050405020304" pitchFamily="18" charset="0"/>
              </a:rPr>
              <a:t>Monocots: 1 cotyledon, parallel veins, fibrous roots, petals in 3s.</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365760" y="4023360"/>
            <a:ext cx="384048" cy="384048"/>
          </a:xfrm>
          <a:prstGeom prst="ellipse">
            <a:avLst/>
          </a:prstGeom>
          <a:solidFill>
            <a:srgbClr val="F9A825"/>
          </a:solidFill>
          <a:ln/>
        </p:spPr>
      </p:sp>
      <p:sp>
        <p:nvSpPr>
          <p:cNvPr id="18" name="Text 16"/>
          <p:cNvSpPr/>
          <p:nvPr/>
        </p:nvSpPr>
        <p:spPr>
          <a:xfrm>
            <a:off x="365760" y="4023360"/>
            <a:ext cx="384048" cy="384048"/>
          </a:xfrm>
          <a:prstGeom prst="rect">
            <a:avLst/>
          </a:prstGeom>
          <a:noFill/>
          <a:ln/>
        </p:spPr>
        <p:txBody>
          <a:bodyPr wrap="square" rtlCol="0" anchor="ctr"/>
          <a:lstStyle/>
          <a:p>
            <a:pPr marL="0" indent="0" algn="ctr">
              <a:buNone/>
            </a:pPr>
            <a:r>
              <a:rPr lang="en-US" sz="1400" b="1" dirty="0">
                <a:solidFill>
                  <a:srgbClr val="1B5E20"/>
                </a:solidFill>
                <a:latin typeface="Times New Roman" panose="02020603050405020304" pitchFamily="18" charset="0"/>
                <a:ea typeface="Cambria" pitchFamily="34" charset="-122"/>
                <a:cs typeface="Times New Roman" panose="02020603050405020304" pitchFamily="18" charset="0"/>
              </a:rPr>
              <a:t>05</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914400" y="4041648"/>
            <a:ext cx="7772400" cy="384048"/>
          </a:xfrm>
          <a:prstGeom prst="rect">
            <a:avLst/>
          </a:prstGeom>
          <a:noFill/>
          <a:ln/>
        </p:spPr>
        <p:txBody>
          <a:bodyPr wrap="square" rtlCol="0" anchor="ctr"/>
          <a:lstStyle/>
          <a:p>
            <a:pPr marL="0" indent="0">
              <a:buNone/>
            </a:pPr>
            <a:r>
              <a:rPr lang="en-US" sz="2000" dirty="0">
                <a:solidFill>
                  <a:srgbClr val="A5D6A7"/>
                </a:solidFill>
                <a:latin typeface="Times New Roman" panose="02020603050405020304" pitchFamily="18" charset="0"/>
                <a:ea typeface="Calibri" pitchFamily="34" charset="-122"/>
                <a:cs typeface="Times New Roman" panose="02020603050405020304" pitchFamily="18" charset="0"/>
              </a:rPr>
              <a:t>Dicots: 2 cotyledons, net veins, taproot, petals in 4s or 5s.</a:t>
            </a:r>
            <a:endParaRPr lang="en-US" sz="2000" dirty="0">
              <a:latin typeface="Times New Roman" panose="02020603050405020304" pitchFamily="18" charset="0"/>
              <a:cs typeface="Times New Roman" panose="02020603050405020304" pitchFamily="18" charset="0"/>
            </a:endParaRPr>
          </a:p>
        </p:txBody>
      </p:sp>
      <p:sp>
        <p:nvSpPr>
          <p:cNvPr id="20" name="Shape 18"/>
          <p:cNvSpPr/>
          <p:nvPr/>
        </p:nvSpPr>
        <p:spPr>
          <a:xfrm>
            <a:off x="1371600" y="4572000"/>
            <a:ext cx="6400800" cy="411480"/>
          </a:xfrm>
          <a:prstGeom prst="roundRect">
            <a:avLst>
              <a:gd name="adj" fmla="val 17778"/>
            </a:avLst>
          </a:prstGeom>
          <a:solidFill>
            <a:srgbClr val="F9A825"/>
          </a:solidFill>
          <a:ln/>
        </p:spPr>
      </p:sp>
      <p:sp>
        <p:nvSpPr>
          <p:cNvPr id="21" name="Text 19"/>
          <p:cNvSpPr/>
          <p:nvPr/>
        </p:nvSpPr>
        <p:spPr>
          <a:xfrm>
            <a:off x="1371600" y="4572000"/>
            <a:ext cx="6400800" cy="411480"/>
          </a:xfrm>
          <a:prstGeom prst="rect">
            <a:avLst/>
          </a:prstGeom>
          <a:noFill/>
          <a:ln/>
        </p:spPr>
        <p:txBody>
          <a:bodyPr wrap="square" rtlCol="0" anchor="ctr"/>
          <a:lstStyle/>
          <a:p>
            <a:pPr marL="0" indent="0" algn="ctr">
              <a:buNone/>
            </a:pPr>
            <a:r>
              <a:rPr lang="en-US" sz="2000" b="1" dirty="0">
                <a:solidFill>
                  <a:srgbClr val="1B5E20"/>
                </a:solidFill>
                <a:latin typeface="Times New Roman" panose="02020603050405020304" pitchFamily="18" charset="0"/>
                <a:ea typeface="Cambria" pitchFamily="34" charset="-122"/>
                <a:cs typeface="Times New Roman" panose="02020603050405020304" pitchFamily="18" charset="0"/>
              </a:rPr>
              <a:t>🌿 Plants — The Foundation of All Life on Earth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4157</TotalTime>
  <Words>1694</Words>
  <Application>Microsoft Office PowerPoint</Application>
  <PresentationFormat>On-screen Show (16:9)</PresentationFormat>
  <Paragraphs>191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World of Plants</dc:title>
  <dc:subject>PptxGenJS Presentation</dc:subject>
  <dc:creator>Science Classroom</dc:creator>
  <cp:lastModifiedBy>DELL</cp:lastModifiedBy>
  <cp:revision>4</cp:revision>
  <dcterms:created xsi:type="dcterms:W3CDTF">2026-06-17T04:27:00Z</dcterms:created>
  <dcterms:modified xsi:type="dcterms:W3CDTF">2026-06-22T05:02:18Z</dcterms:modified>
</cp:coreProperties>
</file>