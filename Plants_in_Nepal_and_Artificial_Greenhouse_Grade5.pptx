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10" r:id="rId5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741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goal aloud. Ask students to give a thumbs-up if it sounds interesting. Tell them we will keep coming back to these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map of Nepal. Let students predict individually, then discuss with a partner, then share with the class. Do not confirm the answer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Nepal runs from very high mountains in the north to flat plains in the south. Ask: which region do you live in?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ask students to imagine standing on a very high, windy, cold mountain. Would a banana tree survive there? Why not?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pictures of each tree if available. These are all coniferous / cone-bearing trees suited to cold, high places.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answer first. Reveal: pointed leaves reduce water loss — helpful in the cold, dry Himalayan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big idea of the whole first half of the lesson — altitude, temperature, rainfall, sunlight, soil and water together decide which plants can grow in a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each question first (THINK-PAIR-SHARE / VOTE). Let students predict before revealing the answer shown here in smaller italic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244F26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800600"/>
            <a:ext cx="2377440" cy="1463040"/>
          </a:xfrm>
          <a:prstGeom prst="triangle">
            <a:avLst/>
          </a:prstGeom>
          <a:solidFill>
            <a:srgbClr val="3D6B41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4434840"/>
            <a:ext cx="2926080" cy="1828800"/>
          </a:xfrm>
          <a:prstGeom prst="triangle">
            <a:avLst/>
          </a:prstGeom>
          <a:solidFill>
            <a:srgbClr val="4B7C4E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0" y="4709160"/>
            <a:ext cx="2194560" cy="1554480"/>
          </a:xfrm>
          <a:prstGeom prst="triangle">
            <a:avLst/>
          </a:prstGeom>
          <a:solidFill>
            <a:srgbClr val="3D6B41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0" y="4526280"/>
            <a:ext cx="822960" cy="45720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0" y="4023360"/>
            <a:ext cx="1828800" cy="18288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546336" y="4901184"/>
            <a:ext cx="1024128" cy="621792"/>
          </a:xfrm>
          <a:prstGeom prst="rect">
            <a:avLst/>
          </a:prstGeom>
          <a:solidFill>
            <a:srgbClr val="FFFFFF"/>
          </a:solidFill>
          <a:ln w="22225">
            <a:solidFill>
              <a:srgbClr val="E68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73184" y="4389120"/>
            <a:ext cx="1170432" cy="512064"/>
          </a:xfrm>
          <a:prstGeom prst="triangle">
            <a:avLst/>
          </a:prstGeom>
          <a:solidFill>
            <a:srgbClr val="E68A2E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0" y="4901184"/>
            <a:ext cx="0" cy="621792"/>
          </a:xfrm>
          <a:prstGeom prst="line">
            <a:avLst/>
          </a:prstGeom>
          <a:noFill/>
          <a:ln w="12700">
            <a:solidFill>
              <a:srgbClr val="E68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0" y="4901184"/>
            <a:ext cx="0" cy="621792"/>
          </a:xfrm>
          <a:prstGeom prst="line">
            <a:avLst/>
          </a:prstGeom>
          <a:noFill/>
          <a:ln w="12700">
            <a:solidFill>
              <a:srgbClr val="E68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0" y="457200"/>
            <a:ext cx="1097280" cy="10972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14816" y="676656"/>
            <a:ext cx="658368" cy="658368"/>
          </a:xfrm>
          <a:prstGeom prst="sun">
            <a:avLst/>
          </a:prstGeom>
          <a:solidFill>
            <a:srgbClr val="E6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E9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5  ·  SCIENCE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182880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Plants in Different Regions of Nepal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Artificial Greenhouse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Himalayan Region  •  Hilly Region  •  Terai Region  •  Greenhouses &amp; Plastic Tunnels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READY TO LEARN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07040" y="365760"/>
            <a:ext cx="1280160" cy="1280160"/>
          </a:xfrm>
          <a:prstGeom prst="ellipse">
            <a:avLst/>
          </a:prstGeom>
          <a:solidFill>
            <a:srgbClr val="E9F1E6"/>
          </a:solidFill>
          <a:ln/>
        </p:spPr>
      </p:sp>
      <p:sp>
        <p:nvSpPr>
          <p:cNvPr id="5" name="Shape 3"/>
          <p:cNvSpPr/>
          <p:nvPr/>
        </p:nvSpPr>
        <p:spPr>
          <a:xfrm>
            <a:off x="10863072" y="62179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67898" y="826618"/>
            <a:ext cx="358445" cy="358445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lesson, I can...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Nepal's three ecological regions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different plants grow in different regions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plants found in the Himalayan, Hilly and Terai regions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an artificial greenhouse is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 cold frame and a plastic tunnel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35040" y="19202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 greenhouse is constructed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 greenhouse works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uses and importance of a greenhouse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greenhouses help grow off-season vegetables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greenhouse model-making activity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2377440"/>
            <a:ext cx="2011680" cy="20116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7475" y="3343046"/>
            <a:ext cx="965606" cy="804672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890979" y="3061411"/>
            <a:ext cx="1005840" cy="100584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172614" y="3061411"/>
            <a:ext cx="402336" cy="281635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0" y="2377440"/>
            <a:ext cx="2011680" cy="20116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32704" y="2699309"/>
            <a:ext cx="804672" cy="523037"/>
          </a:xfrm>
          <a:prstGeom prst="triangle">
            <a:avLst/>
          </a:prstGeom>
          <a:solidFill>
            <a:srgbClr val="6E9C4A"/>
          </a:solidFill>
          <a:ln/>
        </p:spPr>
      </p:sp>
      <p:sp>
        <p:nvSpPr>
          <p:cNvPr id="8" name="Shape 6"/>
          <p:cNvSpPr/>
          <p:nvPr/>
        </p:nvSpPr>
        <p:spPr>
          <a:xfrm>
            <a:off x="5491886" y="3081528"/>
            <a:ext cx="1086307" cy="643738"/>
          </a:xfrm>
          <a:prstGeom prst="triangle">
            <a:avLst/>
          </a:prstGeom>
          <a:solidFill>
            <a:srgbClr val="6E9C4A"/>
          </a:solidFill>
          <a:ln/>
        </p:spPr>
      </p:sp>
      <p:sp>
        <p:nvSpPr>
          <p:cNvPr id="9" name="Shape 7"/>
          <p:cNvSpPr/>
          <p:nvPr/>
        </p:nvSpPr>
        <p:spPr>
          <a:xfrm>
            <a:off x="5944514" y="3725266"/>
            <a:ext cx="181051" cy="281635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10" name="Shape 8"/>
          <p:cNvSpPr/>
          <p:nvPr/>
        </p:nvSpPr>
        <p:spPr>
          <a:xfrm>
            <a:off x="9052560" y="2377440"/>
            <a:ext cx="2011680" cy="20116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957816" y="2779776"/>
            <a:ext cx="201168" cy="683971"/>
          </a:xfrm>
          <a:prstGeom prst="triangle">
            <a:avLst/>
          </a:prstGeom>
          <a:solidFill>
            <a:srgbClr val="E68A2E"/>
          </a:solidFill>
          <a:ln/>
        </p:spPr>
      </p:sp>
      <p:sp>
        <p:nvSpPr>
          <p:cNvPr id="12" name="Shape 10"/>
          <p:cNvSpPr/>
          <p:nvPr/>
        </p:nvSpPr>
        <p:spPr>
          <a:xfrm rot="-1500000">
            <a:off x="9615830" y="3182112"/>
            <a:ext cx="321869" cy="482803"/>
          </a:xfrm>
          <a:prstGeom prst="triangle">
            <a:avLst/>
          </a:prstGeom>
          <a:solidFill>
            <a:srgbClr val="E68A2E"/>
          </a:solidFill>
          <a:ln/>
        </p:spPr>
      </p:sp>
      <p:sp>
        <p:nvSpPr>
          <p:cNvPr id="13" name="Shape 11"/>
          <p:cNvSpPr/>
          <p:nvPr/>
        </p:nvSpPr>
        <p:spPr>
          <a:xfrm rot="1500000">
            <a:off x="10179101" y="3182112"/>
            <a:ext cx="321869" cy="482803"/>
          </a:xfrm>
          <a:prstGeom prst="triangle">
            <a:avLst/>
          </a:prstGeom>
          <a:solidFill>
            <a:srgbClr val="E6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 →  DISCUSS  →  ANSWER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10058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the same plants grow everywhere in Nepal?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Himalayan mountains, the Hilly region and the Terai plains.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9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predict?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PLANTS DIFFER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Nepal's Three Ecological Regions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035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Nepal is divided into three ecological regions: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Himalayan region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Hilly region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Terai region</a:t>
            </a:r>
            <a:endParaRPr lang="en-US" sz="1700" dirty="0"/>
          </a:p>
          <a:p>
            <a:pPr marL="0" indent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region has a different: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 (height of the land)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and temperature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sunlight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of rainfall</a:t>
            </a:r>
            <a:endParaRPr lang="en-US" sz="1700" dirty="0"/>
          </a:p>
          <a:p>
            <a:pPr marL="0" indent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So, different types of plants grow in different regions.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0" y="137160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3F6B8C"/>
          </a:solidFill>
          <a:ln/>
        </p:spPr>
      </p:sp>
      <p:sp>
        <p:nvSpPr>
          <p:cNvPr id="6" name="Shape 4"/>
          <p:cNvSpPr/>
          <p:nvPr/>
        </p:nvSpPr>
        <p:spPr>
          <a:xfrm>
            <a:off x="7543800" y="1691640"/>
            <a:ext cx="914400" cy="9144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71816" y="2130552"/>
            <a:ext cx="438912" cy="36576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946136" y="2002536"/>
            <a:ext cx="457200" cy="45720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074152" y="2002536"/>
            <a:ext cx="182880" cy="12801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1737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HIMALAYAN REGION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0" y="306324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5C7A3D"/>
          </a:solidFill>
          <a:ln/>
        </p:spPr>
      </p:sp>
      <p:sp>
        <p:nvSpPr>
          <p:cNvPr id="12" name="Shape 10"/>
          <p:cNvSpPr/>
          <p:nvPr/>
        </p:nvSpPr>
        <p:spPr>
          <a:xfrm>
            <a:off x="7543800" y="3383280"/>
            <a:ext cx="914400" cy="9144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18120" y="3529584"/>
            <a:ext cx="365760" cy="237744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54112" y="3703320"/>
            <a:ext cx="493776" cy="292608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9852" y="3995928"/>
            <a:ext cx="82296" cy="128016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HILLY REGION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0" y="475488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C4772A"/>
          </a:solidFill>
          <a:ln/>
        </p:spPr>
      </p:sp>
      <p:sp>
        <p:nvSpPr>
          <p:cNvPr id="18" name="Shape 16"/>
          <p:cNvSpPr/>
          <p:nvPr/>
        </p:nvSpPr>
        <p:spPr>
          <a:xfrm>
            <a:off x="7543800" y="5074920"/>
            <a:ext cx="914400" cy="9144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0" y="5257800"/>
            <a:ext cx="91440" cy="31089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 rot="-1500000">
            <a:off x="7799832" y="5440680"/>
            <a:ext cx="146304" cy="21945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 rot="1500000">
            <a:off x="8055864" y="5440680"/>
            <a:ext cx="146304" cy="21945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5120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TERAI REGION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HIMALAYAN REGION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F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Plants in the Himalayan Region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320040"/>
            <a:ext cx="1371600" cy="1371600"/>
          </a:xfrm>
          <a:prstGeom prst="ellipse">
            <a:avLst/>
          </a:prstGeom>
          <a:solidFill>
            <a:srgbClr val="E9F1F7"/>
          </a:solidFill>
          <a:ln/>
        </p:spPr>
      </p:sp>
      <p:sp>
        <p:nvSpPr>
          <p:cNvPr id="5" name="Shape 3"/>
          <p:cNvSpPr/>
          <p:nvPr/>
        </p:nvSpPr>
        <p:spPr>
          <a:xfrm>
            <a:off x="10753344" y="978408"/>
            <a:ext cx="658368" cy="548640"/>
          </a:xfrm>
          <a:prstGeom prst="triangle">
            <a:avLst/>
          </a:prstGeom>
          <a:solidFill>
            <a:srgbClr val="3F6B8C"/>
          </a:solidFill>
          <a:ln/>
        </p:spPr>
      </p:sp>
      <p:sp>
        <p:nvSpPr>
          <p:cNvPr id="6" name="Shape 4"/>
          <p:cNvSpPr/>
          <p:nvPr/>
        </p:nvSpPr>
        <p:spPr>
          <a:xfrm>
            <a:off x="11164824" y="786384"/>
            <a:ext cx="685800" cy="685800"/>
          </a:xfrm>
          <a:prstGeom prst="triangle">
            <a:avLst/>
          </a:prstGeom>
          <a:solidFill>
            <a:srgbClr val="3F6B8C"/>
          </a:solidFill>
          <a:ln/>
        </p:spPr>
      </p:sp>
      <p:sp>
        <p:nvSpPr>
          <p:cNvPr id="7" name="Shape 5"/>
          <p:cNvSpPr/>
          <p:nvPr/>
        </p:nvSpPr>
        <p:spPr>
          <a:xfrm>
            <a:off x="11356848" y="786384"/>
            <a:ext cx="274320" cy="192024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6583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Himalayan region is a very high place.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very little rainfall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cold temperatures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infertile land</a:t>
            </a:r>
            <a:endParaRPr lang="en-US" sz="1700" dirty="0"/>
          </a:p>
          <a:p>
            <a:pPr marL="0" indent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So, only certain plants grow well there.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plants are coniferous plants (cone-bearing trees)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are tall trees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are thorny bushes</a:t>
            </a:r>
            <a:endParaRPr lang="en-US" sz="1700" dirty="0"/>
          </a:p>
          <a:p>
            <a:pPr marL="0" indent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Leaf shape: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Himalayan plants have pointed leaves.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89520" y="1463040"/>
            <a:ext cx="4114800" cy="4846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3F6B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9640" y="1645920"/>
            <a:ext cx="2194560" cy="2194560"/>
          </a:xfrm>
          <a:prstGeom prst="ellipse">
            <a:avLst/>
          </a:prstGeom>
          <a:solidFill>
            <a:srgbClr val="E9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8856878" y="2699309"/>
            <a:ext cx="1053389" cy="877824"/>
          </a:xfrm>
          <a:prstGeom prst="triangle">
            <a:avLst/>
          </a:prstGeom>
          <a:solidFill>
            <a:srgbClr val="3F6B8C"/>
          </a:solidFill>
          <a:ln/>
        </p:spPr>
      </p:sp>
      <p:sp>
        <p:nvSpPr>
          <p:cNvPr id="12" name="Shape 10"/>
          <p:cNvSpPr/>
          <p:nvPr/>
        </p:nvSpPr>
        <p:spPr>
          <a:xfrm>
            <a:off x="9515246" y="2392070"/>
            <a:ext cx="1097280" cy="1097280"/>
          </a:xfrm>
          <a:prstGeom prst="triangle">
            <a:avLst/>
          </a:prstGeom>
          <a:solidFill>
            <a:srgbClr val="3F6B8C"/>
          </a:solidFill>
          <a:ln/>
        </p:spPr>
      </p:sp>
      <p:sp>
        <p:nvSpPr>
          <p:cNvPr id="13" name="Shape 11"/>
          <p:cNvSpPr/>
          <p:nvPr/>
        </p:nvSpPr>
        <p:spPr>
          <a:xfrm>
            <a:off x="9822485" y="2392070"/>
            <a:ext cx="438912" cy="307238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909560" y="3886200"/>
            <a:ext cx="1188720" cy="1188720"/>
          </a:xfrm>
          <a:prstGeom prst="ellipse">
            <a:avLst/>
          </a:prstGeom>
          <a:solidFill>
            <a:srgbClr val="E9F1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66176" y="4076395"/>
            <a:ext cx="475488" cy="309067"/>
          </a:xfrm>
          <a:prstGeom prst="triangle">
            <a:avLst/>
          </a:prstGeom>
          <a:solidFill>
            <a:srgbClr val="2E4B33"/>
          </a:solidFill>
          <a:ln/>
        </p:spPr>
      </p:sp>
      <p:sp>
        <p:nvSpPr>
          <p:cNvPr id="16" name="Shape 14"/>
          <p:cNvSpPr/>
          <p:nvPr/>
        </p:nvSpPr>
        <p:spPr>
          <a:xfrm>
            <a:off x="8182966" y="4302252"/>
            <a:ext cx="641909" cy="380390"/>
          </a:xfrm>
          <a:prstGeom prst="triangle">
            <a:avLst/>
          </a:prstGeom>
          <a:solidFill>
            <a:srgbClr val="2E4B33"/>
          </a:solidFill>
          <a:ln/>
        </p:spPr>
      </p:sp>
      <p:sp>
        <p:nvSpPr>
          <p:cNvPr id="17" name="Shape 15"/>
          <p:cNvSpPr/>
          <p:nvPr/>
        </p:nvSpPr>
        <p:spPr>
          <a:xfrm>
            <a:off x="8450428" y="4682642"/>
            <a:ext cx="106985" cy="166421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12680" y="3886200"/>
            <a:ext cx="1188720" cy="1188720"/>
          </a:xfrm>
          <a:prstGeom prst="ellipse">
            <a:avLst/>
          </a:prstGeom>
          <a:solidFill>
            <a:srgbClr val="E9F1F7"/>
          </a:solidFill>
          <a:ln/>
        </p:spPr>
      </p:sp>
      <p:sp>
        <p:nvSpPr>
          <p:cNvPr id="19" name="Shape 17"/>
          <p:cNvSpPr/>
          <p:nvPr/>
        </p:nvSpPr>
        <p:spPr>
          <a:xfrm>
            <a:off x="10369296" y="4076395"/>
            <a:ext cx="475488" cy="309067"/>
          </a:xfrm>
          <a:prstGeom prst="triangle">
            <a:avLst/>
          </a:prstGeom>
          <a:solidFill>
            <a:srgbClr val="2E4B33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86086" y="4302252"/>
            <a:ext cx="641909" cy="380390"/>
          </a:xfrm>
          <a:prstGeom prst="triangle">
            <a:avLst/>
          </a:prstGeom>
          <a:solidFill>
            <a:srgbClr val="2E4B33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53548" y="4682642"/>
            <a:ext cx="106985" cy="166421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5577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• High • Rocky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HIMALAYAN REGION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F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Himalayan Plant Examples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3F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1371600" cy="1371600"/>
          </a:xfrm>
          <a:prstGeom prst="ellipse">
            <a:avLst/>
          </a:prstGeom>
          <a:solidFill>
            <a:srgbClr val="E9F1F7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2093976"/>
            <a:ext cx="548640" cy="356616"/>
          </a:xfrm>
          <a:prstGeom prst="triangle">
            <a:avLst/>
          </a:prstGeom>
          <a:solidFill>
            <a:srgbClr val="3F6B8C"/>
          </a:solidFill>
          <a:ln/>
        </p:spPr>
      </p:sp>
      <p:sp>
        <p:nvSpPr>
          <p:cNvPr id="7" name="Shape 5"/>
          <p:cNvSpPr/>
          <p:nvPr/>
        </p:nvSpPr>
        <p:spPr>
          <a:xfrm>
            <a:off x="1184148" y="2354580"/>
            <a:ext cx="740664" cy="438912"/>
          </a:xfrm>
          <a:prstGeom prst="triangle">
            <a:avLst/>
          </a:prstGeom>
          <a:solidFill>
            <a:srgbClr val="3F6B8C"/>
          </a:solidFill>
          <a:ln/>
        </p:spPr>
      </p:sp>
      <p:sp>
        <p:nvSpPr>
          <p:cNvPr id="8" name="Shape 6"/>
          <p:cNvSpPr/>
          <p:nvPr/>
        </p:nvSpPr>
        <p:spPr>
          <a:xfrm>
            <a:off x="1492758" y="2793492"/>
            <a:ext cx="123444" cy="192024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F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Juniper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377440" y="22860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cone-bearing shrub with sharp, pointed leaves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3F6B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874520"/>
            <a:ext cx="1371600" cy="1371600"/>
          </a:xfrm>
          <a:prstGeom prst="ellipse">
            <a:avLst/>
          </a:prstGeom>
          <a:solidFill>
            <a:srgbClr val="E9F1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2093976"/>
            <a:ext cx="548640" cy="356616"/>
          </a:xfrm>
          <a:prstGeom prst="triangle">
            <a:avLst/>
          </a:prstGeom>
          <a:solidFill>
            <a:srgbClr val="3F6B8C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1988" y="2354580"/>
            <a:ext cx="740664" cy="438912"/>
          </a:xfrm>
          <a:prstGeom prst="triangle">
            <a:avLst/>
          </a:prstGeom>
          <a:solidFill>
            <a:srgbClr val="3F6B8C"/>
          </a:solidFill>
          <a:ln/>
        </p:spPr>
      </p:sp>
      <p:sp>
        <p:nvSpPr>
          <p:cNvPr id="15" name="Shape 13"/>
          <p:cNvSpPr/>
          <p:nvPr/>
        </p:nvSpPr>
        <p:spPr>
          <a:xfrm>
            <a:off x="7070598" y="2793492"/>
            <a:ext cx="123444" cy="192024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F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Birch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955280" y="22860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tree with thin bark, grows at high altitude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3F6B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343400"/>
            <a:ext cx="1371600" cy="1371600"/>
          </a:xfrm>
          <a:prstGeom prst="ellipse">
            <a:avLst/>
          </a:prstGeom>
          <a:solidFill>
            <a:srgbClr val="E9F1F7"/>
          </a:solidFill>
          <a:ln/>
        </p:spPr>
      </p:sp>
      <p:sp>
        <p:nvSpPr>
          <p:cNvPr id="20" name="Shape 18"/>
          <p:cNvSpPr/>
          <p:nvPr/>
        </p:nvSpPr>
        <p:spPr>
          <a:xfrm>
            <a:off x="1280160" y="4562856"/>
            <a:ext cx="548640" cy="356616"/>
          </a:xfrm>
          <a:prstGeom prst="triangle">
            <a:avLst/>
          </a:prstGeom>
          <a:solidFill>
            <a:srgbClr val="3F6B8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4148" y="4823460"/>
            <a:ext cx="740664" cy="438912"/>
          </a:xfrm>
          <a:prstGeom prst="triangle">
            <a:avLst/>
          </a:prstGeom>
          <a:solidFill>
            <a:srgbClr val="3F6B8C"/>
          </a:solidFill>
          <a:ln/>
        </p:spPr>
      </p:sp>
      <p:sp>
        <p:nvSpPr>
          <p:cNvPr id="22" name="Shape 20"/>
          <p:cNvSpPr/>
          <p:nvPr/>
        </p:nvSpPr>
        <p:spPr>
          <a:xfrm>
            <a:off x="1492758" y="5262372"/>
            <a:ext cx="123444" cy="192024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23" name="Text 21"/>
          <p:cNvSpPr/>
          <p:nvPr/>
        </p:nvSpPr>
        <p:spPr>
          <a:xfrm>
            <a:off x="2377440" y="4251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F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Spruce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2377440" y="475488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Coniferous tree with needle-like pointed leaves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393192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3F6B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4343400"/>
            <a:ext cx="1371600" cy="1371600"/>
          </a:xfrm>
          <a:prstGeom prst="ellipse">
            <a:avLst/>
          </a:prstGeom>
          <a:solidFill>
            <a:srgbClr val="E9F1F7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0" y="4562856"/>
            <a:ext cx="548640" cy="356616"/>
          </a:xfrm>
          <a:prstGeom prst="triangle">
            <a:avLst/>
          </a:prstGeom>
          <a:solidFill>
            <a:srgbClr val="3F6B8C"/>
          </a:solidFill>
          <a:ln/>
        </p:spPr>
      </p:sp>
      <p:sp>
        <p:nvSpPr>
          <p:cNvPr id="28" name="Shape 26"/>
          <p:cNvSpPr/>
          <p:nvPr/>
        </p:nvSpPr>
        <p:spPr>
          <a:xfrm>
            <a:off x="6761988" y="4823460"/>
            <a:ext cx="740664" cy="438912"/>
          </a:xfrm>
          <a:prstGeom prst="triangle">
            <a:avLst/>
          </a:prstGeom>
          <a:solidFill>
            <a:srgbClr val="3F6B8C"/>
          </a:solidFill>
          <a:ln/>
        </p:spPr>
      </p:sp>
      <p:sp>
        <p:nvSpPr>
          <p:cNvPr id="29" name="Shape 27"/>
          <p:cNvSpPr/>
          <p:nvPr/>
        </p:nvSpPr>
        <p:spPr>
          <a:xfrm>
            <a:off x="7070598" y="5262372"/>
            <a:ext cx="123444" cy="192024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0" y="4251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F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Deodar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7955280" y="475488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Himalayan cedar tree, cone-bearing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HIMALAYAN REGION — ADAPTATION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F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Himalayan Plants Have Pointed Leaves?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852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3F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20240"/>
            <a:ext cx="1188720" cy="1188720"/>
          </a:xfrm>
          <a:prstGeom prst="ellipse">
            <a:avLst/>
          </a:prstGeom>
          <a:solidFill>
            <a:srgbClr val="E9F1F7"/>
          </a:solidFill>
          <a:ln/>
        </p:spPr>
      </p:sp>
      <p:sp>
        <p:nvSpPr>
          <p:cNvPr id="6" name="Shape 4"/>
          <p:cNvSpPr/>
          <p:nvPr/>
        </p:nvSpPr>
        <p:spPr>
          <a:xfrm rot="13500000">
            <a:off x="1292962" y="2253082"/>
            <a:ext cx="523037" cy="523037"/>
          </a:xfrm>
          <a:prstGeom prst="heart">
            <a:avLst/>
          </a:prstGeom>
          <a:solidFill>
            <a:srgbClr val="3F6B8C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82880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Pointed leaves help reduce the loss of water from the plant.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10881360" cy="2194560"/>
          </a:xfrm>
          <a:prstGeom prst="roundRect">
            <a:avLst>
              <a:gd name="adj" fmla="val 4167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NOTE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“Plants with very long roots, rough barks, and pointed leaves, etc. are found in the Himalayan region.”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all adaptations — special features that help Himalayan plants survive cold, dry, windy conditions.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F6B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1554480"/>
            <a:ext cx="1828800" cy="18288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1810512"/>
            <a:ext cx="109728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plants in the Himalayan region have pointed leaves?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9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answer before we reveal it!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HILLY REGION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C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Plants in the Hilly Region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320040"/>
            <a:ext cx="1371600" cy="1371600"/>
          </a:xfrm>
          <a:prstGeom prst="ellipse">
            <a:avLst/>
          </a:prstGeom>
          <a:solidFill>
            <a:srgbClr val="EFF5E7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0" y="539496"/>
            <a:ext cx="548640" cy="356616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6" name="Shape 4"/>
          <p:cNvSpPr/>
          <p:nvPr/>
        </p:nvSpPr>
        <p:spPr>
          <a:xfrm>
            <a:off x="10876788" y="800100"/>
            <a:ext cx="740664" cy="438912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7" name="Shape 5"/>
          <p:cNvSpPr/>
          <p:nvPr/>
        </p:nvSpPr>
        <p:spPr>
          <a:xfrm>
            <a:off x="11185398" y="1239012"/>
            <a:ext cx="123444" cy="192024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65836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Hilly region: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comparatively more rainfall than the Himalayan region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valleys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some fertile lands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suitable slopes facing south, which receive good sunlight</a:t>
            </a:r>
            <a:endParaRPr lang="en-US" sz="1700" dirty="0"/>
          </a:p>
          <a:p>
            <a:pPr marL="0" indent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So, many types of plants can grow there.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89520" y="1463040"/>
            <a:ext cx="4114800" cy="4846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5C7A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1920240"/>
            <a:ext cx="1828800" cy="1828800"/>
          </a:xfrm>
          <a:prstGeom prst="ellipse">
            <a:avLst/>
          </a:prstGeom>
          <a:solidFill>
            <a:srgbClr val="EFF5E7"/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0" y="2212848"/>
            <a:ext cx="731520" cy="475488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12" name="Shape 10"/>
          <p:cNvSpPr/>
          <p:nvPr/>
        </p:nvSpPr>
        <p:spPr>
          <a:xfrm>
            <a:off x="8284464" y="2560320"/>
            <a:ext cx="987552" cy="585216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13" name="Shape 11"/>
          <p:cNvSpPr/>
          <p:nvPr/>
        </p:nvSpPr>
        <p:spPr>
          <a:xfrm>
            <a:off x="8695944" y="3145536"/>
            <a:ext cx="164592" cy="256032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14" name="Shape 12"/>
          <p:cNvSpPr/>
          <p:nvPr/>
        </p:nvSpPr>
        <p:spPr>
          <a:xfrm>
            <a:off x="9692640" y="3291840"/>
            <a:ext cx="1463040" cy="1463040"/>
          </a:xfrm>
          <a:prstGeom prst="ellipse">
            <a:avLst/>
          </a:prstGeom>
          <a:solidFill>
            <a:srgbClr val="EFF5E7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51008" y="3584448"/>
            <a:ext cx="146304" cy="497434"/>
          </a:xfrm>
          <a:prstGeom prst="triangle">
            <a:avLst/>
          </a:prstGeom>
          <a:solidFill>
            <a:srgbClr val="E68A2E"/>
          </a:solidFill>
          <a:ln/>
        </p:spPr>
      </p:sp>
      <p:sp>
        <p:nvSpPr>
          <p:cNvPr id="16" name="Shape 14"/>
          <p:cNvSpPr/>
          <p:nvPr/>
        </p:nvSpPr>
        <p:spPr>
          <a:xfrm rot="-1500000">
            <a:off x="10102291" y="3877056"/>
            <a:ext cx="234086" cy="351130"/>
          </a:xfrm>
          <a:prstGeom prst="triangle">
            <a:avLst/>
          </a:prstGeom>
          <a:solidFill>
            <a:srgbClr val="E68A2E"/>
          </a:solidFill>
          <a:ln/>
        </p:spPr>
      </p:sp>
      <p:sp>
        <p:nvSpPr>
          <p:cNvPr id="17" name="Shape 15"/>
          <p:cNvSpPr/>
          <p:nvPr/>
        </p:nvSpPr>
        <p:spPr>
          <a:xfrm rot="1500000">
            <a:off x="10511942" y="3877056"/>
            <a:ext cx="234086" cy="351130"/>
          </a:xfrm>
          <a:prstGeom prst="triangle">
            <a:avLst/>
          </a:prstGeom>
          <a:solidFill>
            <a:srgbClr val="E6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5577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Valleys • Slopes • Sunshine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HILLY REGION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C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Hilly Region Plant Examples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5C7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851660"/>
            <a:ext cx="1051560" cy="1051560"/>
          </a:xfrm>
          <a:prstGeom prst="ellipse">
            <a:avLst/>
          </a:prstGeom>
          <a:solidFill>
            <a:srgbClr val="EFF5E7"/>
          </a:solidFill>
          <a:ln/>
        </p:spPr>
      </p:sp>
      <p:sp>
        <p:nvSpPr>
          <p:cNvPr id="6" name="Shape 4"/>
          <p:cNvSpPr/>
          <p:nvPr/>
        </p:nvSpPr>
        <p:spPr>
          <a:xfrm>
            <a:off x="1687068" y="2019910"/>
            <a:ext cx="420624" cy="273406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7" name="Shape 5"/>
          <p:cNvSpPr/>
          <p:nvPr/>
        </p:nvSpPr>
        <p:spPr>
          <a:xfrm>
            <a:off x="1613459" y="2219706"/>
            <a:ext cx="567842" cy="336499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8" name="Shape 6"/>
          <p:cNvSpPr/>
          <p:nvPr/>
        </p:nvSpPr>
        <p:spPr>
          <a:xfrm>
            <a:off x="1850060" y="2556205"/>
            <a:ext cx="94640" cy="147218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63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5C7A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851660"/>
            <a:ext cx="1051560" cy="1051560"/>
          </a:xfrm>
          <a:prstGeom prst="ellipse">
            <a:avLst/>
          </a:prstGeom>
          <a:solidFill>
            <a:srgbClr val="EFF5E7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0268" y="2019910"/>
            <a:ext cx="420624" cy="273406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6659" y="2219706"/>
            <a:ext cx="567842" cy="336499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3260" y="2556205"/>
            <a:ext cx="94640" cy="147218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3063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5C7A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1851660"/>
            <a:ext cx="1051560" cy="1051560"/>
          </a:xfrm>
          <a:prstGeom prst="ellipse">
            <a:avLst/>
          </a:prstGeom>
          <a:solidFill>
            <a:srgbClr val="EFF5E7"/>
          </a:solidFill>
          <a:ln/>
        </p:spPr>
      </p:sp>
      <p:sp>
        <p:nvSpPr>
          <p:cNvPr id="18" name="Shape 16"/>
          <p:cNvSpPr/>
          <p:nvPr/>
        </p:nvSpPr>
        <p:spPr>
          <a:xfrm>
            <a:off x="7173468" y="2019910"/>
            <a:ext cx="420624" cy="273406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19" name="Shape 17"/>
          <p:cNvSpPr/>
          <p:nvPr/>
        </p:nvSpPr>
        <p:spPr>
          <a:xfrm>
            <a:off x="7099859" y="2219706"/>
            <a:ext cx="567842" cy="336499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20" name="Shape 18"/>
          <p:cNvSpPr/>
          <p:nvPr/>
        </p:nvSpPr>
        <p:spPr>
          <a:xfrm>
            <a:off x="7336460" y="2556205"/>
            <a:ext cx="94640" cy="147218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3063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Walnut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869680" y="14630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5C7A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1851660"/>
            <a:ext cx="1051560" cy="1051560"/>
          </a:xfrm>
          <a:prstGeom prst="ellipse">
            <a:avLst/>
          </a:prstGeom>
          <a:solidFill>
            <a:srgbClr val="EFF5E7"/>
          </a:solidFill>
          <a:ln/>
        </p:spPr>
      </p:sp>
      <p:sp>
        <p:nvSpPr>
          <p:cNvPr id="24" name="Shape 22"/>
          <p:cNvSpPr/>
          <p:nvPr/>
        </p:nvSpPr>
        <p:spPr>
          <a:xfrm>
            <a:off x="9916668" y="2019910"/>
            <a:ext cx="420624" cy="273406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25" name="Shape 23"/>
          <p:cNvSpPr/>
          <p:nvPr/>
        </p:nvSpPr>
        <p:spPr>
          <a:xfrm>
            <a:off x="9843059" y="2219706"/>
            <a:ext cx="567842" cy="336499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79660" y="2556205"/>
            <a:ext cx="94640" cy="147218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27" name="Text 25"/>
          <p:cNvSpPr/>
          <p:nvPr/>
        </p:nvSpPr>
        <p:spPr>
          <a:xfrm>
            <a:off x="8869680" y="3063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Rhododendron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384048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5C7A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4229100"/>
            <a:ext cx="1051560" cy="1051560"/>
          </a:xfrm>
          <a:prstGeom prst="ellipse">
            <a:avLst/>
          </a:prstGeom>
          <a:solidFill>
            <a:srgbClr val="EFF5E7"/>
          </a:solidFill>
          <a:ln/>
        </p:spPr>
      </p:sp>
      <p:sp>
        <p:nvSpPr>
          <p:cNvPr id="30" name="Shape 28"/>
          <p:cNvSpPr/>
          <p:nvPr/>
        </p:nvSpPr>
        <p:spPr>
          <a:xfrm>
            <a:off x="1844802" y="4439412"/>
            <a:ext cx="105156" cy="357530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31" name="Shape 29"/>
          <p:cNvSpPr/>
          <p:nvPr/>
        </p:nvSpPr>
        <p:spPr>
          <a:xfrm rot="-1500000">
            <a:off x="1666037" y="4649724"/>
            <a:ext cx="168250" cy="252374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32" name="Shape 30"/>
          <p:cNvSpPr/>
          <p:nvPr/>
        </p:nvSpPr>
        <p:spPr>
          <a:xfrm rot="1500000">
            <a:off x="1960474" y="4649724"/>
            <a:ext cx="168250" cy="252374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54406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383280" y="384048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5C7A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4229100"/>
            <a:ext cx="1051560" cy="1051560"/>
          </a:xfrm>
          <a:prstGeom prst="ellipse">
            <a:avLst/>
          </a:prstGeom>
          <a:solidFill>
            <a:srgbClr val="EFF5E7"/>
          </a:solidFill>
          <a:ln/>
        </p:spPr>
      </p:sp>
      <p:sp>
        <p:nvSpPr>
          <p:cNvPr id="36" name="Shape 34"/>
          <p:cNvSpPr/>
          <p:nvPr/>
        </p:nvSpPr>
        <p:spPr>
          <a:xfrm>
            <a:off x="4588002" y="4439412"/>
            <a:ext cx="105156" cy="357530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37" name="Shape 35"/>
          <p:cNvSpPr/>
          <p:nvPr/>
        </p:nvSpPr>
        <p:spPr>
          <a:xfrm rot="-1500000">
            <a:off x="4409237" y="4649724"/>
            <a:ext cx="168250" cy="252374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38" name="Shape 36"/>
          <p:cNvSpPr/>
          <p:nvPr/>
        </p:nvSpPr>
        <p:spPr>
          <a:xfrm rot="1500000">
            <a:off x="4703674" y="4649724"/>
            <a:ext cx="168250" cy="252374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39" name="Text 37"/>
          <p:cNvSpPr/>
          <p:nvPr/>
        </p:nvSpPr>
        <p:spPr>
          <a:xfrm>
            <a:off x="3383280" y="54406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Maize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26480" y="384048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5C7A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0" y="4229100"/>
            <a:ext cx="1051560" cy="1051560"/>
          </a:xfrm>
          <a:prstGeom prst="ellipse">
            <a:avLst/>
          </a:prstGeom>
          <a:solidFill>
            <a:srgbClr val="EFF5E7"/>
          </a:solidFill>
          <a:ln/>
        </p:spPr>
      </p:sp>
      <p:sp>
        <p:nvSpPr>
          <p:cNvPr id="42" name="Shape 40"/>
          <p:cNvSpPr/>
          <p:nvPr/>
        </p:nvSpPr>
        <p:spPr>
          <a:xfrm>
            <a:off x="7331202" y="4439412"/>
            <a:ext cx="105156" cy="357530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43" name="Shape 41"/>
          <p:cNvSpPr/>
          <p:nvPr/>
        </p:nvSpPr>
        <p:spPr>
          <a:xfrm rot="-1500000">
            <a:off x="7152437" y="4649724"/>
            <a:ext cx="168250" cy="252374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44" name="Shape 42"/>
          <p:cNvSpPr/>
          <p:nvPr/>
        </p:nvSpPr>
        <p:spPr>
          <a:xfrm rot="1500000">
            <a:off x="7446874" y="4649724"/>
            <a:ext cx="168250" cy="252374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45" name="Text 43"/>
          <p:cNvSpPr/>
          <p:nvPr/>
        </p:nvSpPr>
        <p:spPr>
          <a:xfrm>
            <a:off x="6126480" y="54406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Millet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in the Hilly region generally have flat leaves.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CONTRAST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Himalayan Region vs. Hilly Region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698480" cy="402336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HIMALAYAN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little rainfall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rainfall than Himalayan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Infertile land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fertile lands, valleys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Sunlight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Cold, limited sunlight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South-facing slopes get good sunlight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Pointed leaves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leaves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Coniferous plants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different plants (trees, crops)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0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7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TERAI REGION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47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Plants in the Terai Region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320040"/>
            <a:ext cx="1371600" cy="1371600"/>
          </a:xfrm>
          <a:prstGeom prst="ellipse">
            <a:avLst/>
          </a:prstGeom>
          <a:solidFill>
            <a:srgbClr val="FBF0E1"/>
          </a:solidFill>
          <a:ln/>
        </p:spPr>
      </p:sp>
      <p:sp>
        <p:nvSpPr>
          <p:cNvPr id="5" name="Shape 3"/>
          <p:cNvSpPr/>
          <p:nvPr/>
        </p:nvSpPr>
        <p:spPr>
          <a:xfrm>
            <a:off x="11178540" y="594360"/>
            <a:ext cx="137160" cy="466344"/>
          </a:xfrm>
          <a:prstGeom prst="triangle">
            <a:avLst/>
          </a:prstGeom>
          <a:solidFill>
            <a:srgbClr val="C4772A"/>
          </a:solidFill>
          <a:ln/>
        </p:spPr>
      </p:sp>
      <p:sp>
        <p:nvSpPr>
          <p:cNvPr id="6" name="Shape 4"/>
          <p:cNvSpPr/>
          <p:nvPr/>
        </p:nvSpPr>
        <p:spPr>
          <a:xfrm rot="-1500000">
            <a:off x="10945368" y="868680"/>
            <a:ext cx="219456" cy="329184"/>
          </a:xfrm>
          <a:prstGeom prst="triangle">
            <a:avLst/>
          </a:prstGeom>
          <a:solidFill>
            <a:srgbClr val="C4772A"/>
          </a:solidFill>
          <a:ln/>
        </p:spPr>
      </p:sp>
      <p:sp>
        <p:nvSpPr>
          <p:cNvPr id="7" name="Shape 5"/>
          <p:cNvSpPr/>
          <p:nvPr/>
        </p:nvSpPr>
        <p:spPr>
          <a:xfrm rot="1500000">
            <a:off x="11329416" y="868680"/>
            <a:ext cx="219456" cy="329184"/>
          </a:xfrm>
          <a:prstGeom prst="triangle">
            <a:avLst/>
          </a:prstGeom>
          <a:solidFill>
            <a:srgbClr val="C477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65836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Terai region: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flat land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sufficient water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fertile</a:t>
            </a:r>
            <a:endParaRPr lang="en-US" sz="1700" dirty="0"/>
          </a:p>
          <a:p>
            <a:pPr marL="0" indent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So, many plants grow well in the Terai.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89520" y="1463040"/>
            <a:ext cx="4114800" cy="4846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7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0" y="1828800"/>
            <a:ext cx="1828800" cy="1828800"/>
          </a:xfrm>
          <a:prstGeom prst="ellipse">
            <a:avLst/>
          </a:prstGeom>
          <a:solidFill>
            <a:srgbClr val="FBF0E1"/>
          </a:solidFill>
          <a:ln/>
        </p:spPr>
      </p:sp>
      <p:sp>
        <p:nvSpPr>
          <p:cNvPr id="11" name="Shape 9"/>
          <p:cNvSpPr/>
          <p:nvPr/>
        </p:nvSpPr>
        <p:spPr>
          <a:xfrm>
            <a:off x="8778240" y="2194560"/>
            <a:ext cx="182880" cy="621792"/>
          </a:xfrm>
          <a:prstGeom prst="triangle">
            <a:avLst/>
          </a:prstGeom>
          <a:solidFill>
            <a:srgbClr val="C4772A"/>
          </a:solidFill>
          <a:ln/>
        </p:spPr>
      </p:sp>
      <p:sp>
        <p:nvSpPr>
          <p:cNvPr id="12" name="Shape 10"/>
          <p:cNvSpPr/>
          <p:nvPr/>
        </p:nvSpPr>
        <p:spPr>
          <a:xfrm rot="-1500000">
            <a:off x="8467344" y="2560320"/>
            <a:ext cx="292608" cy="438912"/>
          </a:xfrm>
          <a:prstGeom prst="triangle">
            <a:avLst/>
          </a:prstGeom>
          <a:solidFill>
            <a:srgbClr val="C4772A"/>
          </a:solidFill>
          <a:ln/>
        </p:spPr>
      </p:sp>
      <p:sp>
        <p:nvSpPr>
          <p:cNvPr id="13" name="Shape 11"/>
          <p:cNvSpPr/>
          <p:nvPr/>
        </p:nvSpPr>
        <p:spPr>
          <a:xfrm rot="1500000">
            <a:off x="8979408" y="2560320"/>
            <a:ext cx="292608" cy="438912"/>
          </a:xfrm>
          <a:prstGeom prst="triangle">
            <a:avLst/>
          </a:prstGeom>
          <a:solidFill>
            <a:srgbClr val="C4772A"/>
          </a:solidFill>
          <a:ln/>
        </p:spPr>
      </p:sp>
      <p:sp>
        <p:nvSpPr>
          <p:cNvPr id="14" name="Shape 12"/>
          <p:cNvSpPr/>
          <p:nvPr/>
        </p:nvSpPr>
        <p:spPr>
          <a:xfrm>
            <a:off x="9692640" y="3566160"/>
            <a:ext cx="1280160" cy="1280160"/>
          </a:xfrm>
          <a:prstGeom prst="ellipse">
            <a:avLst/>
          </a:prstGeom>
          <a:solidFill>
            <a:srgbClr val="FBF0E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53498" y="4180637"/>
            <a:ext cx="358445" cy="409651"/>
          </a:xfrm>
          <a:prstGeom prst="ellipse">
            <a:avLst/>
          </a:prstGeom>
          <a:solidFill>
            <a:srgbClr val="3F6B8C"/>
          </a:solidFill>
          <a:ln/>
        </p:spPr>
      </p:sp>
      <p:sp>
        <p:nvSpPr>
          <p:cNvPr id="16" name="Shape 14"/>
          <p:cNvSpPr/>
          <p:nvPr/>
        </p:nvSpPr>
        <p:spPr>
          <a:xfrm rot="10800000">
            <a:off x="10153498" y="3822192"/>
            <a:ext cx="358445" cy="332842"/>
          </a:xfrm>
          <a:prstGeom prst="triangle">
            <a:avLst/>
          </a:prstGeom>
          <a:solidFill>
            <a:srgbClr val="3F6B8C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5577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• Fertile • Well-watered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0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7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TERAI REGION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47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Terai Region Plant Examples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7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828800"/>
            <a:ext cx="1371600" cy="1371600"/>
          </a:xfrm>
          <a:prstGeom prst="ellipse">
            <a:avLst/>
          </a:prstGeom>
          <a:solidFill>
            <a:srgbClr val="FBF0E1"/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2048256"/>
            <a:ext cx="548640" cy="356616"/>
          </a:xfrm>
          <a:prstGeom prst="triangle">
            <a:avLst/>
          </a:prstGeom>
          <a:solidFill>
            <a:srgbClr val="C4772A"/>
          </a:solidFill>
          <a:ln/>
        </p:spPr>
      </p:sp>
      <p:sp>
        <p:nvSpPr>
          <p:cNvPr id="7" name="Shape 5"/>
          <p:cNvSpPr/>
          <p:nvPr/>
        </p:nvSpPr>
        <p:spPr>
          <a:xfrm>
            <a:off x="1504188" y="2308860"/>
            <a:ext cx="740664" cy="438912"/>
          </a:xfrm>
          <a:prstGeom prst="triangle">
            <a:avLst/>
          </a:prstGeom>
          <a:solidFill>
            <a:srgbClr val="C4772A"/>
          </a:solidFill>
          <a:ln/>
        </p:spPr>
      </p:sp>
      <p:sp>
        <p:nvSpPr>
          <p:cNvPr id="8" name="Shape 6"/>
          <p:cNvSpPr/>
          <p:nvPr/>
        </p:nvSpPr>
        <p:spPr>
          <a:xfrm>
            <a:off x="1812798" y="2747772"/>
            <a:ext cx="123444" cy="192024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7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7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86200" y="1828800"/>
            <a:ext cx="1371600" cy="1371600"/>
          </a:xfrm>
          <a:prstGeom prst="ellipse">
            <a:avLst/>
          </a:prstGeom>
          <a:solidFill>
            <a:srgbClr val="FBF0E1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2048256"/>
            <a:ext cx="548640" cy="356616"/>
          </a:xfrm>
          <a:prstGeom prst="triangle">
            <a:avLst/>
          </a:prstGeom>
          <a:solidFill>
            <a:srgbClr val="C4772A"/>
          </a:solidFill>
          <a:ln/>
        </p:spPr>
      </p:sp>
      <p:sp>
        <p:nvSpPr>
          <p:cNvPr id="13" name="Shape 11"/>
          <p:cNvSpPr/>
          <p:nvPr/>
        </p:nvSpPr>
        <p:spPr>
          <a:xfrm>
            <a:off x="4201668" y="2308860"/>
            <a:ext cx="740664" cy="438912"/>
          </a:xfrm>
          <a:prstGeom prst="triangle">
            <a:avLst/>
          </a:prstGeom>
          <a:solidFill>
            <a:srgbClr val="C4772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10278" y="2747772"/>
            <a:ext cx="123444" cy="192024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7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Sissoo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146304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7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1828800"/>
            <a:ext cx="1371600" cy="1371600"/>
          </a:xfrm>
          <a:prstGeom prst="ellipse">
            <a:avLst/>
          </a:prstGeom>
          <a:solidFill>
            <a:srgbClr val="FBF0E1"/>
          </a:solidFill>
          <a:ln/>
        </p:spPr>
      </p:sp>
      <p:sp>
        <p:nvSpPr>
          <p:cNvPr id="18" name="Shape 16"/>
          <p:cNvSpPr/>
          <p:nvPr/>
        </p:nvSpPr>
        <p:spPr>
          <a:xfrm>
            <a:off x="6995160" y="2048256"/>
            <a:ext cx="548640" cy="356616"/>
          </a:xfrm>
          <a:prstGeom prst="triangle">
            <a:avLst/>
          </a:prstGeom>
          <a:solidFill>
            <a:srgbClr val="C4772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99148" y="2308860"/>
            <a:ext cx="740664" cy="438912"/>
          </a:xfrm>
          <a:prstGeom prst="triangle">
            <a:avLst/>
          </a:prstGeom>
          <a:solidFill>
            <a:srgbClr val="C4772A"/>
          </a:solidFill>
          <a:ln/>
        </p:spPr>
      </p:sp>
      <p:sp>
        <p:nvSpPr>
          <p:cNvPr id="20" name="Shape 18"/>
          <p:cNvSpPr/>
          <p:nvPr/>
        </p:nvSpPr>
        <p:spPr>
          <a:xfrm>
            <a:off x="7207758" y="2747772"/>
            <a:ext cx="123444" cy="192024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7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Mango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732520" y="146304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77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81160" y="1828800"/>
            <a:ext cx="1371600" cy="1371600"/>
          </a:xfrm>
          <a:prstGeom prst="ellipse">
            <a:avLst/>
          </a:prstGeom>
          <a:solidFill>
            <a:srgbClr val="FBF0E1"/>
          </a:solidFill>
          <a:ln/>
        </p:spPr>
      </p:sp>
      <p:sp>
        <p:nvSpPr>
          <p:cNvPr id="24" name="Shape 22"/>
          <p:cNvSpPr/>
          <p:nvPr/>
        </p:nvSpPr>
        <p:spPr>
          <a:xfrm>
            <a:off x="9692640" y="2048256"/>
            <a:ext cx="548640" cy="356616"/>
          </a:xfrm>
          <a:prstGeom prst="triangle">
            <a:avLst/>
          </a:prstGeom>
          <a:solidFill>
            <a:srgbClr val="C4772A"/>
          </a:solidFill>
          <a:ln/>
        </p:spPr>
      </p:sp>
      <p:sp>
        <p:nvSpPr>
          <p:cNvPr id="25" name="Shape 23"/>
          <p:cNvSpPr/>
          <p:nvPr/>
        </p:nvSpPr>
        <p:spPr>
          <a:xfrm>
            <a:off x="9596628" y="2308860"/>
            <a:ext cx="740664" cy="438912"/>
          </a:xfrm>
          <a:prstGeom prst="triangle">
            <a:avLst/>
          </a:prstGeom>
          <a:solidFill>
            <a:srgbClr val="C4772A"/>
          </a:solidFill>
          <a:ln/>
        </p:spPr>
      </p:sp>
      <p:sp>
        <p:nvSpPr>
          <p:cNvPr id="26" name="Shape 24"/>
          <p:cNvSpPr/>
          <p:nvPr/>
        </p:nvSpPr>
        <p:spPr>
          <a:xfrm>
            <a:off x="9905238" y="2747772"/>
            <a:ext cx="123444" cy="192024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27" name="Text 25"/>
          <p:cNvSpPr/>
          <p:nvPr/>
        </p:nvSpPr>
        <p:spPr>
          <a:xfrm>
            <a:off x="8732520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7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Banana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420624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Plants in the Terai region: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large, flat leaves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faster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more seeds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faster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Different Plants Grow in Different Regions?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6E9C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377440" y="1554480"/>
            <a:ext cx="164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42032" y="15544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6E9C4A"/>
          </a:solidFill>
          <a:ln/>
        </p:spPr>
      </p:sp>
      <p:sp>
        <p:nvSpPr>
          <p:cNvPr id="7" name="Text 5"/>
          <p:cNvSpPr/>
          <p:nvPr/>
        </p:nvSpPr>
        <p:spPr>
          <a:xfrm>
            <a:off x="2542032" y="15544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87952" y="1554480"/>
            <a:ext cx="164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52544" y="15544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6E9C4A"/>
          </a:solidFill>
          <a:ln/>
        </p:spPr>
      </p:sp>
      <p:sp>
        <p:nvSpPr>
          <p:cNvPr id="10" name="Text 8"/>
          <p:cNvSpPr/>
          <p:nvPr/>
        </p:nvSpPr>
        <p:spPr>
          <a:xfrm>
            <a:off x="4352544" y="15544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98464" y="1554480"/>
            <a:ext cx="164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63056" y="15544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6E9C4A"/>
          </a:solidFill>
          <a:ln/>
        </p:spPr>
      </p:sp>
      <p:sp>
        <p:nvSpPr>
          <p:cNvPr id="13" name="Text 11"/>
          <p:cNvSpPr/>
          <p:nvPr/>
        </p:nvSpPr>
        <p:spPr>
          <a:xfrm>
            <a:off x="6163056" y="15544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808976" y="1554480"/>
            <a:ext cx="164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973568" y="15544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6E9C4A"/>
          </a:solidFill>
          <a:ln/>
        </p:spPr>
      </p:sp>
      <p:sp>
        <p:nvSpPr>
          <p:cNvPr id="16" name="Text 14"/>
          <p:cNvSpPr/>
          <p:nvPr/>
        </p:nvSpPr>
        <p:spPr>
          <a:xfrm>
            <a:off x="7973568" y="15544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19488" y="1554480"/>
            <a:ext cx="164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784080" y="15544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6E9C4A"/>
          </a:solidFill>
          <a:ln/>
        </p:spPr>
      </p:sp>
      <p:sp>
        <p:nvSpPr>
          <p:cNvPr id="19" name="Text 17"/>
          <p:cNvSpPr/>
          <p:nvPr/>
        </p:nvSpPr>
        <p:spPr>
          <a:xfrm>
            <a:off x="9784080" y="15544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40680" y="2606040"/>
            <a:ext cx="1188720" cy="11887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844845" y="2843784"/>
            <a:ext cx="380390" cy="713232"/>
          </a:xfrm>
          <a:prstGeom prst="downArrow">
            <a:avLst/>
          </a:prstGeom>
          <a:solidFill>
            <a:srgbClr val="E68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0" y="4023360"/>
            <a:ext cx="5760720" cy="1280160"/>
          </a:xfrm>
          <a:prstGeom prst="roundRect">
            <a:avLst>
              <a:gd name="adj" fmla="val 7143"/>
            </a:avLst>
          </a:prstGeom>
          <a:solidFill>
            <a:srgbClr val="E68A2E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402336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PLANTS GROW IN DIFFERENT REGIONS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FACT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About This...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45920"/>
            <a:ext cx="1005840" cy="1005840"/>
          </a:xfrm>
          <a:prstGeom prst="ellipse">
            <a:avLst/>
          </a:prstGeom>
          <a:solidFill>
            <a:srgbClr val="E9F1E6"/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1227125" y="2068373"/>
            <a:ext cx="563270" cy="201168"/>
          </a:xfrm>
          <a:prstGeom prst="chevron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64592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“Some birds, fish, or animals are seasonal migrants. Why?”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94560" y="233172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travel to warm places from cold places because of seasonal changes.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881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4160520"/>
            <a:ext cx="1005840" cy="1005840"/>
          </a:xfrm>
          <a:prstGeom prst="ellipse">
            <a:avLst/>
          </a:prstGeom>
          <a:solidFill>
            <a:srgbClr val="E9F1E6"/>
          </a:solidFill>
          <a:ln/>
        </p:spPr>
      </p:sp>
      <p:sp>
        <p:nvSpPr>
          <p:cNvPr id="11" name="Shape 9"/>
          <p:cNvSpPr/>
          <p:nvPr/>
        </p:nvSpPr>
        <p:spPr>
          <a:xfrm rot="13500000">
            <a:off x="1287475" y="4442155"/>
            <a:ext cx="442570" cy="442570"/>
          </a:xfrm>
          <a:prstGeom prst="hear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416052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“Even in the same place, different plants grow in different months.”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94560" y="484632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plants receive different amounts of sunlight at different times of the year.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68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1463040"/>
            <a:ext cx="1828800" cy="18288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1719072"/>
            <a:ext cx="109728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farmers do when there is not enough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sunlight, or when the weather is too cold?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0" y="512064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51206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GREENHOUSE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0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GREENHOUSE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Artificial Greenhouse?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320040"/>
            <a:ext cx="1371600" cy="137160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5" name="Shape 3"/>
          <p:cNvSpPr/>
          <p:nvPr/>
        </p:nvSpPr>
        <p:spPr>
          <a:xfrm>
            <a:off x="10863072" y="978408"/>
            <a:ext cx="768096" cy="466344"/>
          </a:xfrm>
          <a:prstGeom prst="rect">
            <a:avLst/>
          </a:prstGeom>
          <a:solidFill>
            <a:srgbClr val="FFFFFF"/>
          </a:solidFill>
          <a:ln w="22225">
            <a:solidFill>
              <a:srgbClr val="E6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08208" y="594360"/>
            <a:ext cx="877824" cy="384048"/>
          </a:xfrm>
          <a:prstGeom prst="triangle">
            <a:avLst/>
          </a:prstGeom>
          <a:solidFill>
            <a:srgbClr val="E68A2E"/>
          </a:solidFill>
          <a:ln/>
        </p:spPr>
      </p:sp>
      <p:sp>
        <p:nvSpPr>
          <p:cNvPr id="7" name="Shape 5"/>
          <p:cNvSpPr/>
          <p:nvPr/>
        </p:nvSpPr>
        <p:spPr>
          <a:xfrm>
            <a:off x="11109960" y="978408"/>
            <a:ext cx="0" cy="466344"/>
          </a:xfrm>
          <a:prstGeom prst="line">
            <a:avLst/>
          </a:prstGeom>
          <a:noFill/>
          <a:ln w="12700">
            <a:solidFill>
              <a:srgbClr val="E6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84280" y="978408"/>
            <a:ext cx="0" cy="466344"/>
          </a:xfrm>
          <a:prstGeom prst="line">
            <a:avLst/>
          </a:prstGeom>
          <a:noFill/>
          <a:ln w="12700">
            <a:solidFill>
              <a:srgbClr val="E68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9966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Farming needs a suitable environment.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some areas, there is not enough solar energy (sunlight) for plants.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these areas, farmers build tunnels or houses for plants.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tunnels/houses trap solar energy inside so plants stay warm.</a:t>
            </a:r>
            <a:endParaRPr lang="en-US" sz="1700" dirty="0"/>
          </a:p>
          <a:p>
            <a:pPr marL="0" indent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special houses are called artificial greenhouses.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822960"/>
            <a:ext cx="2194560" cy="219456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20563" y="1876349"/>
            <a:ext cx="1228954" cy="746150"/>
          </a:xfrm>
          <a:prstGeom prst="rect">
            <a:avLst/>
          </a:prstGeom>
          <a:solidFill>
            <a:srgbClr val="FFFFFF"/>
          </a:solidFill>
          <a:ln w="22225">
            <a:solidFill>
              <a:srgbClr val="E68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2781" y="1261872"/>
            <a:ext cx="1404518" cy="614477"/>
          </a:xfrm>
          <a:prstGeom prst="triangle">
            <a:avLst/>
          </a:prstGeom>
          <a:solidFill>
            <a:srgbClr val="E68A2E"/>
          </a:solidFill>
          <a:ln/>
        </p:spPr>
      </p:sp>
      <p:sp>
        <p:nvSpPr>
          <p:cNvPr id="5" name="Shape 3"/>
          <p:cNvSpPr/>
          <p:nvPr/>
        </p:nvSpPr>
        <p:spPr>
          <a:xfrm>
            <a:off x="5815584" y="1876349"/>
            <a:ext cx="0" cy="746150"/>
          </a:xfrm>
          <a:prstGeom prst="line">
            <a:avLst/>
          </a:prstGeom>
          <a:noFill/>
          <a:ln w="12700">
            <a:solidFill>
              <a:srgbClr val="E6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54496" y="1876349"/>
            <a:ext cx="0" cy="746150"/>
          </a:xfrm>
          <a:prstGeom prst="line">
            <a:avLst/>
          </a:prstGeom>
          <a:noFill/>
          <a:ln w="12700">
            <a:solidFill>
              <a:srgbClr val="E6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474720"/>
            <a:ext cx="99669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3474720"/>
            <a:ext cx="9235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house made of glass or plastic to grow plants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called an artificial greenhouse.”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0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OF GREENHOUSE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Forms of an Artificial Greenhouse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68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3060" y="1645920"/>
            <a:ext cx="1463040" cy="146304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6" name="Shape 4"/>
          <p:cNvSpPr/>
          <p:nvPr/>
        </p:nvSpPr>
        <p:spPr>
          <a:xfrm>
            <a:off x="1944929" y="2348179"/>
            <a:ext cx="819302" cy="497434"/>
          </a:xfrm>
          <a:prstGeom prst="rect">
            <a:avLst/>
          </a:prstGeom>
          <a:solidFill>
            <a:srgbClr val="FFFFFF"/>
          </a:solidFill>
          <a:ln w="22225">
            <a:solidFill>
              <a:srgbClr val="E6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86407" y="1938528"/>
            <a:ext cx="936346" cy="409651"/>
          </a:xfrm>
          <a:prstGeom prst="triangle">
            <a:avLst/>
          </a:prstGeom>
          <a:solidFill>
            <a:srgbClr val="E68A2E"/>
          </a:solidFill>
          <a:ln/>
        </p:spPr>
      </p:sp>
      <p:sp>
        <p:nvSpPr>
          <p:cNvPr id="8" name="Shape 6"/>
          <p:cNvSpPr/>
          <p:nvPr/>
        </p:nvSpPr>
        <p:spPr>
          <a:xfrm>
            <a:off x="2208276" y="2348179"/>
            <a:ext cx="0" cy="497434"/>
          </a:xfrm>
          <a:prstGeom prst="line">
            <a:avLst/>
          </a:prstGeom>
          <a:noFill/>
          <a:ln w="12700">
            <a:solidFill>
              <a:srgbClr val="E68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00884" y="2348179"/>
            <a:ext cx="0" cy="497434"/>
          </a:xfrm>
          <a:prstGeom prst="line">
            <a:avLst/>
          </a:prstGeom>
          <a:noFill/>
          <a:ln w="12700">
            <a:solidFill>
              <a:srgbClr val="E6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004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Greenhouse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full-sized house made of glass or plastic, built to grow plants in a warm, trapped-sunlight environment.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6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26380" y="1645920"/>
            <a:ext cx="1463040" cy="146304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14" name="Shape 12"/>
          <p:cNvSpPr/>
          <p:nvPr/>
        </p:nvSpPr>
        <p:spPr>
          <a:xfrm>
            <a:off x="5736031" y="2055571"/>
            <a:ext cx="643738" cy="643738"/>
          </a:xfrm>
          <a:prstGeom prst="star5">
            <a:avLst/>
          </a:prstGeom>
          <a:solidFill>
            <a:srgbClr val="E68A2E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32004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Frame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379476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small artificial greenhouse — a low box with a transparent top, used for a few young plants.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0" y="155448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68A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29700" y="1645920"/>
            <a:ext cx="1463040" cy="146304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3786" y="2201875"/>
            <a:ext cx="994867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68A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4177" y="2465222"/>
            <a:ext cx="234086" cy="234086"/>
          </a:xfrm>
          <a:prstGeom prst="triangle">
            <a:avLst/>
          </a:prstGeom>
          <a:solidFill>
            <a:srgbClr val="6E9C4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32004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Plastic Tunnel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379476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tunnel made using bamboo and transparent plastic, built over rows of crops.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0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TUNNEL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Plastic Tunnel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320040"/>
            <a:ext cx="1371600" cy="137160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5" name="Shape 3"/>
          <p:cNvSpPr/>
          <p:nvPr/>
        </p:nvSpPr>
        <p:spPr>
          <a:xfrm>
            <a:off x="10780776" y="841248"/>
            <a:ext cx="932688" cy="6858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6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37392" y="1088136"/>
            <a:ext cx="219456" cy="219456"/>
          </a:xfrm>
          <a:prstGeom prst="triangle">
            <a:avLst/>
          </a:prstGeom>
          <a:solidFill>
            <a:srgbClr val="6E9C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56692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plastic tunnel is made using: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 (for the frame)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plastic (for the covering)</a:t>
            </a:r>
            <a:endParaRPr lang="en-US" sz="1700" dirty="0"/>
          </a:p>
          <a:p>
            <a:pPr marL="0" indent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does: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 a warmer environment for plants growing underneath it.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0" y="155448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68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554480"/>
            <a:ext cx="2743200" cy="274320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10" name="Shape 8"/>
          <p:cNvSpPr/>
          <p:nvPr/>
        </p:nvSpPr>
        <p:spPr>
          <a:xfrm>
            <a:off x="8211312" y="2596896"/>
            <a:ext cx="1865376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68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24544" y="3090672"/>
            <a:ext cx="438912" cy="438912"/>
          </a:xfrm>
          <a:prstGeom prst="triangle">
            <a:avLst/>
          </a:prstGeom>
          <a:solidFill>
            <a:srgbClr val="6E9C4A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49377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 frame + transparent plastic sheet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0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TUNNEL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 of the Plastic Tunnel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68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1280160" cy="128016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6" name="Shape 4"/>
          <p:cNvSpPr/>
          <p:nvPr/>
        </p:nvSpPr>
        <p:spPr>
          <a:xfrm>
            <a:off x="1490472" y="2267712"/>
            <a:ext cx="128016" cy="435254"/>
          </a:xfrm>
          <a:prstGeom prst="triangle">
            <a:avLst/>
          </a:prstGeom>
          <a:solidFill>
            <a:srgbClr val="E68A2E"/>
          </a:solidFill>
          <a:ln/>
        </p:spPr>
      </p:sp>
      <p:sp>
        <p:nvSpPr>
          <p:cNvPr id="7" name="Shape 5"/>
          <p:cNvSpPr/>
          <p:nvPr/>
        </p:nvSpPr>
        <p:spPr>
          <a:xfrm rot="-1500000">
            <a:off x="1272845" y="2523744"/>
            <a:ext cx="204826" cy="307238"/>
          </a:xfrm>
          <a:prstGeom prst="triangle">
            <a:avLst/>
          </a:prstGeom>
          <a:solidFill>
            <a:srgbClr val="E68A2E"/>
          </a:solidFill>
          <a:ln/>
        </p:spPr>
      </p:sp>
      <p:sp>
        <p:nvSpPr>
          <p:cNvPr id="8" name="Shape 6"/>
          <p:cNvSpPr/>
          <p:nvPr/>
        </p:nvSpPr>
        <p:spPr>
          <a:xfrm rot="1500000">
            <a:off x="1631290" y="2523744"/>
            <a:ext cx="204826" cy="307238"/>
          </a:xfrm>
          <a:prstGeom prst="triangle">
            <a:avLst/>
          </a:prstGeom>
          <a:solidFill>
            <a:srgbClr val="E68A2E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155448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grow seasonal vegetables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68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011680"/>
            <a:ext cx="1280160" cy="128016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12" name="Shape 10"/>
          <p:cNvSpPr/>
          <p:nvPr/>
        </p:nvSpPr>
        <p:spPr>
          <a:xfrm>
            <a:off x="7055510" y="2242109"/>
            <a:ext cx="153619" cy="61447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78701" y="2805379"/>
            <a:ext cx="307238" cy="307238"/>
          </a:xfrm>
          <a:prstGeom prst="ellipse">
            <a:avLst/>
          </a:prstGeom>
          <a:solidFill>
            <a:srgbClr val="E6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155448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plants from cold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68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480560"/>
            <a:ext cx="1280160" cy="128016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17" name="Shape 15"/>
          <p:cNvSpPr/>
          <p:nvPr/>
        </p:nvSpPr>
        <p:spPr>
          <a:xfrm>
            <a:off x="1272845" y="4839005"/>
            <a:ext cx="563270" cy="563270"/>
          </a:xfrm>
          <a:prstGeom prst="star5">
            <a:avLst/>
          </a:prstGeom>
          <a:solidFill>
            <a:srgbClr val="E6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2377440" y="402336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plants from frost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68A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480560"/>
            <a:ext cx="1280160" cy="128016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21" name="Shape 19"/>
          <p:cNvSpPr/>
          <p:nvPr/>
        </p:nvSpPr>
        <p:spPr>
          <a:xfrm>
            <a:off x="6748272" y="4839005"/>
            <a:ext cx="768096" cy="115214"/>
          </a:xfrm>
          <a:prstGeom prst="wave">
            <a:avLst/>
          </a:prstGeom>
          <a:solidFill>
            <a:srgbClr val="E68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6748272" y="5043830"/>
            <a:ext cx="768096" cy="115214"/>
          </a:xfrm>
          <a:prstGeom prst="wave">
            <a:avLst/>
          </a:prstGeom>
          <a:solidFill>
            <a:srgbClr val="E68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6748272" y="5248656"/>
            <a:ext cx="768096" cy="115214"/>
          </a:xfrm>
          <a:prstGeom prst="wave">
            <a:avLst/>
          </a:prstGeom>
          <a:solidFill>
            <a:srgbClr val="E68A2E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402336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plants from insects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1371600"/>
            <a:ext cx="2011680" cy="20116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71770" y="2337206"/>
            <a:ext cx="1126541" cy="683971"/>
          </a:xfrm>
          <a:prstGeom prst="rect">
            <a:avLst/>
          </a:prstGeom>
          <a:solidFill>
            <a:srgbClr val="FFFFFF"/>
          </a:solidFill>
          <a:ln w="22225">
            <a:solidFill>
              <a:srgbClr val="E68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1302" y="1773936"/>
            <a:ext cx="1287475" cy="563270"/>
          </a:xfrm>
          <a:prstGeom prst="triangle">
            <a:avLst/>
          </a:prstGeom>
          <a:solidFill>
            <a:srgbClr val="E68A2E"/>
          </a:solidFill>
          <a:ln/>
        </p:spPr>
      </p:sp>
      <p:sp>
        <p:nvSpPr>
          <p:cNvPr id="5" name="Shape 3"/>
          <p:cNvSpPr/>
          <p:nvPr/>
        </p:nvSpPr>
        <p:spPr>
          <a:xfrm>
            <a:off x="5833872" y="2337206"/>
            <a:ext cx="0" cy="683971"/>
          </a:xfrm>
          <a:prstGeom prst="line">
            <a:avLst/>
          </a:prstGeom>
          <a:noFill/>
          <a:ln w="12700">
            <a:solidFill>
              <a:srgbClr val="E6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6208" y="2337206"/>
            <a:ext cx="0" cy="683971"/>
          </a:xfrm>
          <a:prstGeom prst="line">
            <a:avLst/>
          </a:prstGeom>
          <a:noFill/>
          <a:ln w="12700">
            <a:solidFill>
              <a:srgbClr val="E6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we construct a simple greenhouse?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9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one step by step!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0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OF A GREENHOUSE — STEP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920240" y="1600200"/>
            <a:ext cx="9052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of all, a frame is made of bamboo or poles.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920240" y="3108960"/>
            <a:ext cx="90525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6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49240" y="3474720"/>
            <a:ext cx="2194560" cy="219456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9" name="Shape 7"/>
          <p:cNvSpPr/>
          <p:nvPr/>
        </p:nvSpPr>
        <p:spPr>
          <a:xfrm>
            <a:off x="6073445" y="3913632"/>
            <a:ext cx="746150" cy="1272845"/>
          </a:xfrm>
          <a:prstGeom prst="rect">
            <a:avLst/>
          </a:prstGeom>
          <a:solidFill>
            <a:srgbClr val="E68A2E"/>
          </a:solidFill>
          <a:ln/>
        </p:spPr>
      </p:sp>
      <p:sp>
        <p:nvSpPr>
          <p:cNvPr id="10" name="Shape 8"/>
          <p:cNvSpPr/>
          <p:nvPr/>
        </p:nvSpPr>
        <p:spPr>
          <a:xfrm>
            <a:off x="6578194" y="4528109"/>
            <a:ext cx="131674" cy="13167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0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OF A GREENHOUSE — STEP 2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Covering the Frame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920240" y="1600200"/>
            <a:ext cx="9052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plastic or glass is fixed on the frame.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920240" y="3108960"/>
            <a:ext cx="90525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6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49240" y="3474720"/>
            <a:ext cx="2194560" cy="219456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9" name="Shape 7"/>
          <p:cNvSpPr/>
          <p:nvPr/>
        </p:nvSpPr>
        <p:spPr>
          <a:xfrm>
            <a:off x="5832043" y="4528109"/>
            <a:ext cx="1228954" cy="746150"/>
          </a:xfrm>
          <a:prstGeom prst="rect">
            <a:avLst/>
          </a:prstGeom>
          <a:solidFill>
            <a:srgbClr val="FFFFFF"/>
          </a:solidFill>
          <a:ln w="22225">
            <a:solidFill>
              <a:srgbClr val="E6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44261" y="3913632"/>
            <a:ext cx="1404518" cy="614477"/>
          </a:xfrm>
          <a:prstGeom prst="triangle">
            <a:avLst/>
          </a:prstGeom>
          <a:solidFill>
            <a:srgbClr val="E68A2E"/>
          </a:solidFill>
          <a:ln/>
        </p:spPr>
      </p:sp>
      <p:sp>
        <p:nvSpPr>
          <p:cNvPr id="11" name="Shape 9"/>
          <p:cNvSpPr/>
          <p:nvPr/>
        </p:nvSpPr>
        <p:spPr>
          <a:xfrm>
            <a:off x="6227064" y="4528109"/>
            <a:ext cx="0" cy="746150"/>
          </a:xfrm>
          <a:prstGeom prst="line">
            <a:avLst/>
          </a:prstGeom>
          <a:noFill/>
          <a:ln w="12700">
            <a:solidFill>
              <a:srgbClr val="E68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65976" y="4528109"/>
            <a:ext cx="0" cy="746150"/>
          </a:xfrm>
          <a:prstGeom prst="line">
            <a:avLst/>
          </a:prstGeom>
          <a:noFill/>
          <a:ln w="12700">
            <a:solidFill>
              <a:srgbClr val="E6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5532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material is used so sunlight can pass through easily.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DF0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OF A GREENHOUSE — STEP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920240" y="1600200"/>
            <a:ext cx="9052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door is made so people can enter the greenhouse.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920240" y="3108960"/>
            <a:ext cx="90525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6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49240" y="3474720"/>
            <a:ext cx="2194560" cy="219456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9" name="Shape 7"/>
          <p:cNvSpPr/>
          <p:nvPr/>
        </p:nvSpPr>
        <p:spPr>
          <a:xfrm>
            <a:off x="6073445" y="3913632"/>
            <a:ext cx="746150" cy="1272845"/>
          </a:xfrm>
          <a:prstGeom prst="rect">
            <a:avLst/>
          </a:prstGeom>
          <a:solidFill>
            <a:srgbClr val="E68A2E"/>
          </a:solidFill>
          <a:ln/>
        </p:spPr>
      </p:sp>
      <p:sp>
        <p:nvSpPr>
          <p:cNvPr id="10" name="Shape 8"/>
          <p:cNvSpPr/>
          <p:nvPr/>
        </p:nvSpPr>
        <p:spPr>
          <a:xfrm>
            <a:off x="6578194" y="4528109"/>
            <a:ext cx="131674" cy="13167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F0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OF A GREENHOUSE — STEP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Roof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920240" y="1600200"/>
            <a:ext cx="9052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roof is slanted or curved.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920240" y="3108960"/>
            <a:ext cx="90525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6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49240" y="3474720"/>
            <a:ext cx="2194560" cy="219456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9" name="Shape 7"/>
          <p:cNvSpPr/>
          <p:nvPr/>
        </p:nvSpPr>
        <p:spPr>
          <a:xfrm>
            <a:off x="5788152" y="3913632"/>
            <a:ext cx="1316736" cy="1316736"/>
          </a:xfrm>
          <a:prstGeom prst="sun">
            <a:avLst/>
          </a:prstGeom>
          <a:solidFill>
            <a:srgbClr val="E68A2E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5532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shape helps sunlight enter and helps collect more sunlight.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DF0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OF A GREENHOUSE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Greenhouse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105156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68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03320" y="2011680"/>
            <a:ext cx="4754880" cy="1371600"/>
          </a:xfrm>
          <a:prstGeom prst="triangle">
            <a:avLst/>
          </a:prstGeom>
          <a:solidFill>
            <a:srgbClr val="E68A2E"/>
          </a:solidFill>
          <a:ln/>
        </p:spPr>
      </p:sp>
      <p:sp>
        <p:nvSpPr>
          <p:cNvPr id="6" name="Shape 4"/>
          <p:cNvSpPr/>
          <p:nvPr/>
        </p:nvSpPr>
        <p:spPr>
          <a:xfrm>
            <a:off x="3703320" y="3291840"/>
            <a:ext cx="4754880" cy="2103120"/>
          </a:xfrm>
          <a:prstGeom prst="rect">
            <a:avLst/>
          </a:prstGeom>
          <a:solidFill>
            <a:srgbClr val="FDFCF6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3840480"/>
            <a:ext cx="1005840" cy="1554480"/>
          </a:xfrm>
          <a:prstGeom prst="rect">
            <a:avLst/>
          </a:prstGeom>
          <a:solidFill>
            <a:srgbClr val="C9A25B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4572000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Shape 7"/>
          <p:cNvSpPr/>
          <p:nvPr/>
        </p:nvSpPr>
        <p:spPr>
          <a:xfrm>
            <a:off x="3909060" y="44577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059936" y="4538167"/>
            <a:ext cx="201168" cy="130759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11" name="Shape 9"/>
          <p:cNvSpPr/>
          <p:nvPr/>
        </p:nvSpPr>
        <p:spPr>
          <a:xfrm>
            <a:off x="4024732" y="4633722"/>
            <a:ext cx="271577" cy="160934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12" name="Shape 10"/>
          <p:cNvSpPr/>
          <p:nvPr/>
        </p:nvSpPr>
        <p:spPr>
          <a:xfrm>
            <a:off x="4137889" y="4794656"/>
            <a:ext cx="45263" cy="70409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49140" y="44577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0016" y="4538167"/>
            <a:ext cx="201168" cy="130759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4812" y="4633722"/>
            <a:ext cx="271577" cy="160934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16" name="Shape 14"/>
          <p:cNvSpPr/>
          <p:nvPr/>
        </p:nvSpPr>
        <p:spPr>
          <a:xfrm>
            <a:off x="4777969" y="4794656"/>
            <a:ext cx="45263" cy="70409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17" name="Shape 15"/>
          <p:cNvSpPr/>
          <p:nvPr/>
        </p:nvSpPr>
        <p:spPr>
          <a:xfrm>
            <a:off x="7566660" y="44577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717536" y="4538167"/>
            <a:ext cx="201168" cy="130759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19" name="Shape 17"/>
          <p:cNvSpPr/>
          <p:nvPr/>
        </p:nvSpPr>
        <p:spPr>
          <a:xfrm>
            <a:off x="7682332" y="4633722"/>
            <a:ext cx="271577" cy="160934"/>
          </a:xfrm>
          <a:prstGeom prst="triangle">
            <a:avLst/>
          </a:prstGeom>
          <a:solidFill>
            <a:srgbClr val="5C7A3D"/>
          </a:solidFill>
          <a:ln/>
        </p:spPr>
      </p:sp>
      <p:sp>
        <p:nvSpPr>
          <p:cNvPr id="20" name="Shape 18"/>
          <p:cNvSpPr/>
          <p:nvPr/>
        </p:nvSpPr>
        <p:spPr>
          <a:xfrm>
            <a:off x="7795489" y="4794656"/>
            <a:ext cx="45263" cy="70409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21" name="Text 19"/>
          <p:cNvSpPr/>
          <p:nvPr/>
        </p:nvSpPr>
        <p:spPr>
          <a:xfrm>
            <a:off x="736092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(slanted)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7452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walls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60920" y="3977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74520" y="5029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inside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• Transparent plastic/glass • Slanted roof • Door • Plants inside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1463040"/>
            <a:ext cx="1828800" cy="18288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1719072"/>
            <a:ext cx="109728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a greenhouse warmer inside?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9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Predict, then let's find out together.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DF0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Sunlight Enters the Greenhouse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651760" y="1645920"/>
            <a:ext cx="6858000" cy="960120"/>
          </a:xfrm>
          <a:prstGeom prst="roundRect">
            <a:avLst>
              <a:gd name="adj" fmla="val 9524"/>
            </a:avLst>
          </a:prstGeom>
          <a:solidFill>
            <a:srgbClr val="E68A2E"/>
          </a:solidFill>
          <a:ln/>
        </p:spPr>
      </p:sp>
      <p:sp>
        <p:nvSpPr>
          <p:cNvPr id="5" name="Text 3"/>
          <p:cNvSpPr/>
          <p:nvPr/>
        </p:nvSpPr>
        <p:spPr>
          <a:xfrm>
            <a:off x="2651760" y="164592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Sunlight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52160" y="2587752"/>
            <a:ext cx="457200" cy="45720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07608" y="2679192"/>
            <a:ext cx="146304" cy="274320"/>
          </a:xfrm>
          <a:prstGeom prst="downArrow">
            <a:avLst/>
          </a:prstGeom>
          <a:solidFill>
            <a:srgbClr val="2C5F2D"/>
          </a:solidFill>
          <a:ln/>
        </p:spPr>
      </p:sp>
      <p:sp>
        <p:nvSpPr>
          <p:cNvPr id="8" name="Shape 6"/>
          <p:cNvSpPr/>
          <p:nvPr/>
        </p:nvSpPr>
        <p:spPr>
          <a:xfrm>
            <a:off x="2651760" y="3017520"/>
            <a:ext cx="6858000" cy="960120"/>
          </a:xfrm>
          <a:prstGeom prst="roundRect">
            <a:avLst>
              <a:gd name="adj" fmla="val 9524"/>
            </a:avLst>
          </a:prstGeom>
          <a:solidFill>
            <a:srgbClr val="6E9C4A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301752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plastic / glass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852160" y="3959352"/>
            <a:ext cx="457200" cy="45720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07608" y="4050792"/>
            <a:ext cx="146304" cy="274320"/>
          </a:xfrm>
          <a:prstGeom prst="downArrow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1760" y="4389120"/>
            <a:ext cx="6858000" cy="960120"/>
          </a:xfrm>
          <a:prstGeom prst="roundRect">
            <a:avLst>
              <a:gd name="adj" fmla="val 9524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438912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greenhouse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 can pass through the transparent covering of the greenhouse.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DF0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 Gets Trapped Inside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320040"/>
            <a:ext cx="1371600" cy="137160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5" name="Shape 3"/>
          <p:cNvSpPr/>
          <p:nvPr/>
        </p:nvSpPr>
        <p:spPr>
          <a:xfrm>
            <a:off x="11164824" y="566928"/>
            <a:ext cx="164592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82528" y="1170432"/>
            <a:ext cx="329184" cy="329184"/>
          </a:xfrm>
          <a:prstGeom prst="ellipse">
            <a:avLst/>
          </a:prstGeom>
          <a:solidFill>
            <a:srgbClr val="E68A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9966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happens: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 enters the greenhouse through the transparent covering.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 from the sunlight gets trapped inside the greenhouse.</a:t>
            </a:r>
            <a:endParaRPr lang="en-US" sz="1700" dirty="0"/>
          </a:p>
          <a:p>
            <a:pPr marL="0" indent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temperature inside the greenhouse increases.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Working Mechanism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377440" y="1234440"/>
            <a:ext cx="7406640" cy="658368"/>
          </a:xfrm>
          <a:prstGeom prst="roundRect">
            <a:avLst>
              <a:gd name="adj" fmla="val 11111"/>
            </a:avLst>
          </a:prstGeom>
          <a:solidFill>
            <a:srgbClr val="E68A2E"/>
          </a:solidFill>
          <a:ln/>
        </p:spPr>
      </p:sp>
      <p:sp>
        <p:nvSpPr>
          <p:cNvPr id="4" name="Text 2"/>
          <p:cNvSpPr/>
          <p:nvPr/>
        </p:nvSpPr>
        <p:spPr>
          <a:xfrm>
            <a:off x="2606040" y="1234440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Sunlight shines on the greenhouse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20740" y="1824228"/>
            <a:ext cx="320040" cy="32004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029554" y="1888236"/>
            <a:ext cx="102413" cy="192024"/>
          </a:xfrm>
          <a:prstGeom prst="downArrow">
            <a:avLst/>
          </a:prstGeom>
          <a:solidFill>
            <a:srgbClr val="6E9C4A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2075688"/>
            <a:ext cx="7406640" cy="658368"/>
          </a:xfrm>
          <a:prstGeom prst="roundRect">
            <a:avLst>
              <a:gd name="adj" fmla="val 11111"/>
            </a:avLst>
          </a:prstGeom>
          <a:solidFill>
            <a:srgbClr val="E68A2E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2075688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Sunlight passes through transparent plastic/glass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20740" y="2665476"/>
            <a:ext cx="320040" cy="32004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029554" y="2729484"/>
            <a:ext cx="102413" cy="192024"/>
          </a:xfrm>
          <a:prstGeom prst="downArrow">
            <a:avLst/>
          </a:prstGeom>
          <a:solidFill>
            <a:srgbClr val="6E9C4A"/>
          </a:solidFill>
          <a:ln/>
        </p:spPr>
      </p:sp>
      <p:sp>
        <p:nvSpPr>
          <p:cNvPr id="11" name="Shape 9"/>
          <p:cNvSpPr/>
          <p:nvPr/>
        </p:nvSpPr>
        <p:spPr>
          <a:xfrm>
            <a:off x="2377440" y="2916936"/>
            <a:ext cx="7406640" cy="658368"/>
          </a:xfrm>
          <a:prstGeom prst="roundRect">
            <a:avLst>
              <a:gd name="adj" fmla="val 11111"/>
            </a:avLst>
          </a:prstGeom>
          <a:solidFill>
            <a:srgbClr val="E68A2E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2916936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Heat is trapped inside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20740" y="3506724"/>
            <a:ext cx="320040" cy="32004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029554" y="3570732"/>
            <a:ext cx="102413" cy="192024"/>
          </a:xfrm>
          <a:prstGeom prst="downArrow">
            <a:avLst/>
          </a:prstGeom>
          <a:solidFill>
            <a:srgbClr val="6E9C4A"/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3758184"/>
            <a:ext cx="7406640" cy="658368"/>
          </a:xfrm>
          <a:prstGeom prst="roundRect">
            <a:avLst>
              <a:gd name="adj" fmla="val 11111"/>
            </a:avLst>
          </a:prstGeom>
          <a:solidFill>
            <a:srgbClr val="E68A2E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3758184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Temperature inside increases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920740" y="4347972"/>
            <a:ext cx="320040" cy="32004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029554" y="4411980"/>
            <a:ext cx="102413" cy="192024"/>
          </a:xfrm>
          <a:prstGeom prst="downArrow">
            <a:avLst/>
          </a:prstGeom>
          <a:solidFill>
            <a:srgbClr val="6E9C4A"/>
          </a:solidFill>
          <a:ln/>
        </p:spPr>
      </p:sp>
      <p:sp>
        <p:nvSpPr>
          <p:cNvPr id="19" name="Shape 17"/>
          <p:cNvSpPr/>
          <p:nvPr/>
        </p:nvSpPr>
        <p:spPr>
          <a:xfrm>
            <a:off x="2377440" y="4599432"/>
            <a:ext cx="7406640" cy="658368"/>
          </a:xfrm>
          <a:prstGeom prst="roundRect">
            <a:avLst>
              <a:gd name="adj" fmla="val 11111"/>
            </a:avLst>
          </a:prstGeom>
          <a:solidFill>
            <a:srgbClr val="E6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4599432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Greenhouse becomes warmer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920740" y="5189220"/>
            <a:ext cx="320040" cy="32004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029554" y="5253228"/>
            <a:ext cx="102413" cy="192024"/>
          </a:xfrm>
          <a:prstGeom prst="downArrow">
            <a:avLst/>
          </a:prstGeom>
          <a:solidFill>
            <a:srgbClr val="6E9C4A"/>
          </a:solidFill>
          <a:ln/>
        </p:spPr>
      </p:sp>
      <p:sp>
        <p:nvSpPr>
          <p:cNvPr id="23" name="Shape 21"/>
          <p:cNvSpPr/>
          <p:nvPr/>
        </p:nvSpPr>
        <p:spPr>
          <a:xfrm>
            <a:off x="2377440" y="5440680"/>
            <a:ext cx="7406640" cy="658368"/>
          </a:xfrm>
          <a:prstGeom prst="roundRect">
            <a:avLst>
              <a:gd name="adj" fmla="val 11111"/>
            </a:avLst>
          </a:prstGeom>
          <a:solidFill>
            <a:srgbClr val="E68A2E"/>
          </a:solidFill>
          <a:ln/>
        </p:spPr>
      </p:sp>
      <p:sp>
        <p:nvSpPr>
          <p:cNvPr id="24" name="Text 22"/>
          <p:cNvSpPr/>
          <p:nvPr/>
        </p:nvSpPr>
        <p:spPr>
          <a:xfrm>
            <a:off x="2606040" y="5440680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Plants grow better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DF0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the Roof Slanted or Curved?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76072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68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920240"/>
            <a:ext cx="1097280" cy="109728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6" name="Shape 4"/>
          <p:cNvSpPr/>
          <p:nvPr/>
        </p:nvSpPr>
        <p:spPr>
          <a:xfrm>
            <a:off x="1773936" y="2139696"/>
            <a:ext cx="658368" cy="658368"/>
          </a:xfrm>
          <a:prstGeom prst="sun">
            <a:avLst/>
          </a:prstGeom>
          <a:solidFill>
            <a:srgbClr val="E68A2E"/>
          </a:solidFill>
          <a:ln/>
        </p:spPr>
      </p:sp>
      <p:sp>
        <p:nvSpPr>
          <p:cNvPr id="7" name="Shape 5"/>
          <p:cNvSpPr/>
          <p:nvPr/>
        </p:nvSpPr>
        <p:spPr>
          <a:xfrm>
            <a:off x="2651760" y="3291840"/>
            <a:ext cx="3017520" cy="1097280"/>
          </a:xfrm>
          <a:prstGeom prst="triangle">
            <a:avLst/>
          </a:prstGeom>
          <a:solidFill>
            <a:srgbClr val="6E9C4A"/>
          </a:solidFill>
          <a:ln/>
        </p:spPr>
      </p:sp>
      <p:sp>
        <p:nvSpPr>
          <p:cNvPr id="8" name="Shape 6"/>
          <p:cNvSpPr/>
          <p:nvPr/>
        </p:nvSpPr>
        <p:spPr>
          <a:xfrm>
            <a:off x="2651760" y="4297680"/>
            <a:ext cx="3017520" cy="1371600"/>
          </a:xfrm>
          <a:prstGeom prst="rect">
            <a:avLst/>
          </a:prstGeom>
          <a:solidFill>
            <a:srgbClr val="FDFCF6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2834640"/>
            <a:ext cx="914400" cy="914400"/>
          </a:xfrm>
          <a:prstGeom prst="line">
            <a:avLst/>
          </a:prstGeom>
          <a:noFill/>
          <a:ln w="25400">
            <a:solidFill>
              <a:srgbClr val="E68A2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468880" y="2651760"/>
            <a:ext cx="1280160" cy="548640"/>
          </a:xfrm>
          <a:prstGeom prst="line">
            <a:avLst/>
          </a:prstGeom>
          <a:noFill/>
          <a:ln w="25400">
            <a:solidFill>
              <a:srgbClr val="E68A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675120" y="182880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slanted / curved roof helps collect more sunlight.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sunlight means more heat gets trapped inside.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the greenhouse warm for the plants.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9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NOTE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Off-Season Vegetables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320040"/>
            <a:ext cx="1371600" cy="1371600"/>
          </a:xfrm>
          <a:prstGeom prst="ellipse">
            <a:avLst/>
          </a:prstGeom>
          <a:solidFill>
            <a:srgbClr val="E9F1E6"/>
          </a:solidFill>
          <a:ln/>
        </p:spPr>
      </p:sp>
      <p:sp>
        <p:nvSpPr>
          <p:cNvPr id="5" name="Shape 3"/>
          <p:cNvSpPr/>
          <p:nvPr/>
        </p:nvSpPr>
        <p:spPr>
          <a:xfrm>
            <a:off x="11178540" y="594360"/>
            <a:ext cx="137160" cy="466344"/>
          </a:xfrm>
          <a:prstGeom prst="triangle">
            <a:avLst/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 rot="-1500000">
            <a:off x="10945368" y="868680"/>
            <a:ext cx="219456" cy="329184"/>
          </a:xfrm>
          <a:prstGeom prst="triangle">
            <a:avLst/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 rot="1500000">
            <a:off x="11329416" y="868680"/>
            <a:ext cx="219456" cy="329184"/>
          </a:xfrm>
          <a:prstGeom prst="triangle">
            <a:avLst/>
          </a:prstGeom>
          <a:solidFill>
            <a:srgbClr val="2C5F2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54480"/>
            <a:ext cx="10881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10149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“Off-seasonal vegetables can be grown by maintaining a suitable temperature inside a greenhouse.”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10881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(main) function of a plastic tunnel or greenhouse is to raise the temperature for farming vegetables.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tomatoes, cucumbers, and other vegetables can be grown even outside their usual season.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FACT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Don't Plants Grow Well in the Shade?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“Plants growing in shade, without sunlight, do not grow well. Why?”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they lack sufficient heat and sunlight for photosynthesis.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absence of light and heat affects photosynthesis (how plants make their food).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affects germination (seeds sprouting).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affects other metabolic activities (life processes) of the plant.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FACT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Farmers Grow Tomatoes in a Plastic Tunnel?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“Farmers grow tomatoes in a plastic tunnel. Why?”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3383280"/>
            <a:ext cx="1828800" cy="182880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7" name="Shape 5"/>
          <p:cNvSpPr/>
          <p:nvPr/>
        </p:nvSpPr>
        <p:spPr>
          <a:xfrm>
            <a:off x="1389888" y="4078224"/>
            <a:ext cx="1243584" cy="9144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6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65376" y="4407408"/>
            <a:ext cx="292608" cy="292608"/>
          </a:xfrm>
          <a:prstGeom prst="triangle">
            <a:avLst/>
          </a:prstGeom>
          <a:solidFill>
            <a:srgbClr val="6E9C4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3017520"/>
            <a:ext cx="7772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tunnel remains warm.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warm environment helps tomatoes grow faster.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protects tomatoes from insects, frost and cold wind.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9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 of Artificial Greenhouse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691640"/>
            <a:ext cx="1005840" cy="1005840"/>
          </a:xfrm>
          <a:prstGeom prst="ellipse">
            <a:avLst/>
          </a:prstGeom>
          <a:solidFill>
            <a:srgbClr val="E9F1E6"/>
          </a:solidFill>
          <a:ln/>
        </p:spPr>
      </p:sp>
      <p:sp>
        <p:nvSpPr>
          <p:cNvPr id="6" name="Shape 4"/>
          <p:cNvSpPr/>
          <p:nvPr/>
        </p:nvSpPr>
        <p:spPr>
          <a:xfrm>
            <a:off x="1402690" y="1872691"/>
            <a:ext cx="120701" cy="48280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2339" y="2315261"/>
            <a:ext cx="241402" cy="24140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4630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plants from cold winds in winter.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691640"/>
            <a:ext cx="1005840" cy="1005840"/>
          </a:xfrm>
          <a:prstGeom prst="ellipse">
            <a:avLst/>
          </a:prstGeom>
          <a:solidFill>
            <a:srgbClr val="E9F1E6"/>
          </a:solidFill>
          <a:ln/>
        </p:spPr>
      </p:sp>
      <p:sp>
        <p:nvSpPr>
          <p:cNvPr id="11" name="Shape 9"/>
          <p:cNvSpPr/>
          <p:nvPr/>
        </p:nvSpPr>
        <p:spPr>
          <a:xfrm>
            <a:off x="6819595" y="1973275"/>
            <a:ext cx="442570" cy="442570"/>
          </a:xfrm>
          <a:prstGeom prst="star5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14630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seedlings from frost and dew on winter mornings.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383280"/>
            <a:ext cx="1005840" cy="1005840"/>
          </a:xfrm>
          <a:prstGeom prst="ellipse">
            <a:avLst/>
          </a:prstGeom>
          <a:solidFill>
            <a:srgbClr val="E9F1E6"/>
          </a:solidFill>
          <a:ln/>
        </p:spPr>
      </p:sp>
      <p:sp>
        <p:nvSpPr>
          <p:cNvPr id="15" name="Shape 13"/>
          <p:cNvSpPr/>
          <p:nvPr/>
        </p:nvSpPr>
        <p:spPr>
          <a:xfrm>
            <a:off x="1402690" y="3564331"/>
            <a:ext cx="120701" cy="48280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42339" y="4006901"/>
            <a:ext cx="241402" cy="24140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2103120" y="31546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warmer environment for plants.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17920" y="315468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3383280"/>
            <a:ext cx="1005840" cy="1005840"/>
          </a:xfrm>
          <a:prstGeom prst="ellipse">
            <a:avLst/>
          </a:prstGeom>
          <a:solidFill>
            <a:srgbClr val="E9F1E6"/>
          </a:solidFill>
          <a:ln/>
        </p:spPr>
      </p:sp>
      <p:sp>
        <p:nvSpPr>
          <p:cNvPr id="20" name="Shape 18"/>
          <p:cNvSpPr/>
          <p:nvPr/>
        </p:nvSpPr>
        <p:spPr>
          <a:xfrm>
            <a:off x="6990588" y="3584448"/>
            <a:ext cx="100584" cy="341986"/>
          </a:xfrm>
          <a:prstGeom prst="triangle">
            <a:avLst/>
          </a:prstGeom>
          <a:solidFill>
            <a:srgbClr val="2C5F2D"/>
          </a:solidFill>
          <a:ln/>
        </p:spPr>
      </p:sp>
      <p:sp>
        <p:nvSpPr>
          <p:cNvPr id="21" name="Shape 19"/>
          <p:cNvSpPr/>
          <p:nvPr/>
        </p:nvSpPr>
        <p:spPr>
          <a:xfrm rot="-1500000">
            <a:off x="6819595" y="3785616"/>
            <a:ext cx="160934" cy="241402"/>
          </a:xfrm>
          <a:prstGeom prst="triangle">
            <a:avLst/>
          </a:prstGeom>
          <a:solidFill>
            <a:srgbClr val="2C5F2D"/>
          </a:solidFill>
          <a:ln/>
        </p:spPr>
      </p:sp>
      <p:sp>
        <p:nvSpPr>
          <p:cNvPr id="22" name="Shape 20"/>
          <p:cNvSpPr/>
          <p:nvPr/>
        </p:nvSpPr>
        <p:spPr>
          <a:xfrm rot="1500000">
            <a:off x="7101230" y="3785616"/>
            <a:ext cx="160934" cy="241402"/>
          </a:xfrm>
          <a:prstGeom prst="triangl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31546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grow seasonal and off-season vegetables.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484632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5074920"/>
            <a:ext cx="1005840" cy="1005840"/>
          </a:xfrm>
          <a:prstGeom prst="ellipse">
            <a:avLst/>
          </a:prstGeom>
          <a:solidFill>
            <a:srgbClr val="E9F1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161288" y="5356555"/>
            <a:ext cx="603504" cy="90526"/>
          </a:xfrm>
          <a:prstGeom prst="wave">
            <a:avLst/>
          </a:prstGeom>
          <a:solidFill>
            <a:srgbClr val="2C5F2D"/>
          </a:solidFill>
          <a:ln/>
        </p:spPr>
      </p:sp>
      <p:sp>
        <p:nvSpPr>
          <p:cNvPr id="27" name="Shape 25"/>
          <p:cNvSpPr/>
          <p:nvPr/>
        </p:nvSpPr>
        <p:spPr>
          <a:xfrm>
            <a:off x="1161288" y="5517490"/>
            <a:ext cx="603504" cy="90526"/>
          </a:xfrm>
          <a:prstGeom prst="wave">
            <a:avLst/>
          </a:prstGeom>
          <a:solidFill>
            <a:srgbClr val="2C5F2D"/>
          </a:solidFill>
          <a:ln/>
        </p:spPr>
      </p:sp>
      <p:sp>
        <p:nvSpPr>
          <p:cNvPr id="28" name="Shape 26"/>
          <p:cNvSpPr/>
          <p:nvPr/>
        </p:nvSpPr>
        <p:spPr>
          <a:xfrm>
            <a:off x="1161288" y="5678424"/>
            <a:ext cx="603504" cy="90526"/>
          </a:xfrm>
          <a:prstGeom prst="wave">
            <a:avLst/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2103120" y="48463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plants from insects.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Farmers Use Greenhouses?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286000" y="1143000"/>
            <a:ext cx="7589520" cy="685800"/>
          </a:xfrm>
          <a:prstGeom prst="roundRect">
            <a:avLst>
              <a:gd name="adj" fmla="val 10667"/>
            </a:avLst>
          </a:prstGeom>
          <a:solidFill>
            <a:srgbClr val="6E9C4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114300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 traps heat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20740" y="1751076"/>
            <a:ext cx="320040" cy="32004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029554" y="1815084"/>
            <a:ext cx="102413" cy="192024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2011680"/>
            <a:ext cx="7589520" cy="685800"/>
          </a:xfrm>
          <a:prstGeom prst="roundRect">
            <a:avLst>
              <a:gd name="adj" fmla="val 10667"/>
            </a:avLst>
          </a:prstGeom>
          <a:solidFill>
            <a:srgbClr val="E68A2E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01168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temperature inside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20740" y="2619756"/>
            <a:ext cx="320040" cy="32004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029554" y="2683764"/>
            <a:ext cx="102413" cy="192024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2880360"/>
            <a:ext cx="7589520" cy="685800"/>
          </a:xfrm>
          <a:prstGeom prst="roundRect">
            <a:avLst>
              <a:gd name="adj" fmla="val 10667"/>
            </a:avLst>
          </a:prstGeom>
          <a:solidFill>
            <a:srgbClr val="6E9C4A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288036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suitable environment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20740" y="3488436"/>
            <a:ext cx="320040" cy="32004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029554" y="3552444"/>
            <a:ext cx="102413" cy="192024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0" y="3749040"/>
            <a:ext cx="7589520" cy="685800"/>
          </a:xfrm>
          <a:prstGeom prst="roundRect">
            <a:avLst>
              <a:gd name="adj" fmla="val 10667"/>
            </a:avLst>
          </a:prstGeom>
          <a:solidFill>
            <a:srgbClr val="E68A2E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374904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plants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920740" y="4357116"/>
            <a:ext cx="320040" cy="32004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029554" y="4421124"/>
            <a:ext cx="102413" cy="192024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286000" y="4617720"/>
            <a:ext cx="7589520" cy="685800"/>
          </a:xfrm>
          <a:prstGeom prst="roundRect">
            <a:avLst>
              <a:gd name="adj" fmla="val 10667"/>
            </a:avLst>
          </a:prstGeom>
          <a:solidFill>
            <a:srgbClr val="6E9C4A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0" y="461772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plants grow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920740" y="5225796"/>
            <a:ext cx="320040" cy="32004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029554" y="5289804"/>
            <a:ext cx="102413" cy="192024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0" y="5486400"/>
            <a:ext cx="7589520" cy="685800"/>
          </a:xfrm>
          <a:prstGeom prst="roundRect">
            <a:avLst>
              <a:gd name="adj" fmla="val 10667"/>
            </a:avLst>
          </a:prstGeom>
          <a:solidFill>
            <a:srgbClr val="E68A2E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0" y="548640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seasonal / off-season vegetable production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TO CONSIDER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 of an Artificial Greenhouse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94183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C47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2788920"/>
            <a:ext cx="1463040" cy="1463040"/>
          </a:xfrm>
          <a:prstGeom prst="ellipse">
            <a:avLst/>
          </a:prstGeom>
          <a:solidFill>
            <a:srgbClr val="FBF0E1"/>
          </a:solidFill>
          <a:ln/>
        </p:spPr>
      </p:sp>
      <p:sp>
        <p:nvSpPr>
          <p:cNvPr id="6" name="Text 4"/>
          <p:cNvSpPr/>
          <p:nvPr/>
        </p:nvSpPr>
        <p:spPr>
          <a:xfrm>
            <a:off x="2487168" y="2993746"/>
            <a:ext cx="877824" cy="1053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47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023360" y="237744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C47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“Needs skilled people to make it.”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023360" y="3200400"/>
            <a:ext cx="6217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greenhouse must be built properly so that it works well. Because of this, skilled people may be needed to construct it.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1280160"/>
            <a:ext cx="1828800" cy="18288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797296" y="2157984"/>
            <a:ext cx="438912" cy="512064"/>
          </a:xfrm>
          <a:prstGeom prst="ellipse">
            <a:avLst/>
          </a:prstGeom>
          <a:solidFill>
            <a:srgbClr val="7A5230"/>
          </a:solidFill>
          <a:ln/>
        </p:spPr>
      </p:sp>
      <p:sp>
        <p:nvSpPr>
          <p:cNvPr id="4" name="Shape 2"/>
          <p:cNvSpPr/>
          <p:nvPr/>
        </p:nvSpPr>
        <p:spPr>
          <a:xfrm>
            <a:off x="5925312" y="1645920"/>
            <a:ext cx="274320" cy="365760"/>
          </a:xfrm>
          <a:prstGeom prst="triangle">
            <a:avLst/>
          </a:prstGeom>
          <a:solidFill>
            <a:srgbClr val="E68A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3.3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Make a Mini Greenhouse!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9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To demonstrate the structure of a greenhouse.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DF0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PREPARATION ACTIVITY 3.3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 Required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2011680"/>
            <a:ext cx="30175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68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2423160"/>
            <a:ext cx="1554480" cy="155448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6" name="Shape 4"/>
          <p:cNvSpPr/>
          <p:nvPr/>
        </p:nvSpPr>
        <p:spPr>
          <a:xfrm>
            <a:off x="2341778" y="2734056"/>
            <a:ext cx="528523" cy="901598"/>
          </a:xfrm>
          <a:prstGeom prst="rect">
            <a:avLst/>
          </a:prstGeom>
          <a:solidFill>
            <a:srgbClr val="E68A2E"/>
          </a:solidFill>
          <a:ln/>
        </p:spPr>
      </p:sp>
      <p:sp>
        <p:nvSpPr>
          <p:cNvPr id="7" name="Shape 5"/>
          <p:cNvSpPr/>
          <p:nvPr/>
        </p:nvSpPr>
        <p:spPr>
          <a:xfrm>
            <a:off x="2699309" y="3169310"/>
            <a:ext cx="93269" cy="9326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Sticks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2011680"/>
            <a:ext cx="30175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6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2423160"/>
            <a:ext cx="1554480" cy="155448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11" name="Shape 9"/>
          <p:cNvSpPr/>
          <p:nvPr/>
        </p:nvSpPr>
        <p:spPr>
          <a:xfrm>
            <a:off x="5771693" y="3169310"/>
            <a:ext cx="435254" cy="497434"/>
          </a:xfrm>
          <a:prstGeom prst="ellipse">
            <a:avLst/>
          </a:prstGeom>
          <a:solidFill>
            <a:srgbClr val="E68A2E"/>
          </a:solidFill>
          <a:ln/>
        </p:spPr>
      </p:sp>
      <p:sp>
        <p:nvSpPr>
          <p:cNvPr id="12" name="Shape 10"/>
          <p:cNvSpPr/>
          <p:nvPr/>
        </p:nvSpPr>
        <p:spPr>
          <a:xfrm rot="10800000">
            <a:off x="5771693" y="2734056"/>
            <a:ext cx="435254" cy="404165"/>
          </a:xfrm>
          <a:prstGeom prst="triangle">
            <a:avLst/>
          </a:prstGeom>
          <a:solidFill>
            <a:srgbClr val="E6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63840" y="2011680"/>
            <a:ext cx="30175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68A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2423160"/>
            <a:ext cx="1554480" cy="1554480"/>
          </a:xfrm>
          <a:prstGeom prst="ellipse">
            <a:avLst/>
          </a:prstGeom>
          <a:solidFill>
            <a:srgbClr val="FDF0DE"/>
          </a:solidFill>
          <a:ln/>
        </p:spPr>
      </p:sp>
      <p:sp>
        <p:nvSpPr>
          <p:cNvPr id="16" name="Shape 14"/>
          <p:cNvSpPr/>
          <p:nvPr/>
        </p:nvSpPr>
        <p:spPr>
          <a:xfrm>
            <a:off x="8844077" y="3013862"/>
            <a:ext cx="1057046" cy="7772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68A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48242" y="3293669"/>
            <a:ext cx="248717" cy="248717"/>
          </a:xfrm>
          <a:prstGeom prst="triangle">
            <a:avLst/>
          </a:prstGeom>
          <a:solidFill>
            <a:srgbClr val="6E9C4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plastic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DF0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PREPARATION ACTIVITY 3.3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481328"/>
            <a:ext cx="9966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6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481328"/>
            <a:ext cx="9601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hollow, cuboid-like frame with sticks.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41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2414016"/>
            <a:ext cx="9966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68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2414016"/>
            <a:ext cx="9601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plastic on the four walls.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374136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741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71600" y="3346704"/>
            <a:ext cx="9966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68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3346704"/>
            <a:ext cx="9601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some moist, black, fertile soil inside.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306824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068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71600" y="4279392"/>
            <a:ext cx="9966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68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4279392"/>
            <a:ext cx="9601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roof of plastic too.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239512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39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71600" y="5212080"/>
            <a:ext cx="9966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68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5212080"/>
            <a:ext cx="9601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in a sunny place.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9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PREPARATION ACTIVITY 3.3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320040"/>
            <a:ext cx="1371600" cy="1371600"/>
          </a:xfrm>
          <a:prstGeom prst="ellipse">
            <a:avLst/>
          </a:prstGeom>
          <a:solidFill>
            <a:srgbClr val="E9F1E6"/>
          </a:solidFill>
          <a:ln/>
        </p:spPr>
      </p:sp>
      <p:sp>
        <p:nvSpPr>
          <p:cNvPr id="5" name="Shape 3"/>
          <p:cNvSpPr/>
          <p:nvPr/>
        </p:nvSpPr>
        <p:spPr>
          <a:xfrm>
            <a:off x="11068812" y="978408"/>
            <a:ext cx="329184" cy="384048"/>
          </a:xfrm>
          <a:prstGeom prst="ellipse">
            <a:avLst/>
          </a:prstGeom>
          <a:solidFill>
            <a:srgbClr val="7A5230"/>
          </a:solidFill>
          <a:ln/>
        </p:spPr>
      </p:sp>
      <p:sp>
        <p:nvSpPr>
          <p:cNvPr id="6" name="Shape 4"/>
          <p:cNvSpPr/>
          <p:nvPr/>
        </p:nvSpPr>
        <p:spPr>
          <a:xfrm>
            <a:off x="11164824" y="594360"/>
            <a:ext cx="205740" cy="274320"/>
          </a:xfrm>
          <a:prstGeom prst="triangl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of a greenhouse is formed.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germinates (starts to sprout) inside the greenhouse.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warm condition inside the greenhouse helps seeds germinate faster.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1280160"/>
            <a:ext cx="1645920" cy="1645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72938" y="2103120"/>
            <a:ext cx="263347" cy="230429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36285" y="1839773"/>
            <a:ext cx="460858" cy="493776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3383280"/>
            <a:ext cx="9784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greenhouse traps heat and creates a warmer environment, helping seeds germinate faster.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Greenhouse — Concept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0" y="146304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0" y="1463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GREENHOUSE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2377440"/>
            <a:ext cx="0" cy="365760"/>
          </a:xfrm>
          <a:prstGeom prst="line">
            <a:avLst/>
          </a:prstGeom>
          <a:noFill/>
          <a:ln w="15875">
            <a:solidFill>
              <a:srgbClr val="BBBB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743200"/>
            <a:ext cx="258775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875">
            <a:solidFill>
              <a:srgbClr val="3F6B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743200"/>
            <a:ext cx="2587752" cy="365760"/>
          </a:xfrm>
          <a:prstGeom prst="rect">
            <a:avLst/>
          </a:prstGeom>
          <a:solidFill>
            <a:srgbClr val="3F6B8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74320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3145536"/>
            <a:ext cx="23500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made of transparent plastic or glass to trap warm sunlight.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4343400" y="2377440"/>
            <a:ext cx="0" cy="365760"/>
          </a:xfrm>
          <a:prstGeom prst="line">
            <a:avLst/>
          </a:prstGeom>
          <a:noFill/>
          <a:ln w="15875">
            <a:solidFill>
              <a:srgbClr val="BBBB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2743200"/>
            <a:ext cx="258775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875">
            <a:solidFill>
              <a:srgbClr val="5C7A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2743200"/>
            <a:ext cx="2587752" cy="365760"/>
          </a:xfrm>
          <a:prstGeom prst="rect">
            <a:avLst/>
          </a:prstGeom>
          <a:solidFill>
            <a:srgbClr val="5C7A3D"/>
          </a:solidFill>
          <a:ln/>
        </p:spPr>
      </p:sp>
      <p:sp>
        <p:nvSpPr>
          <p:cNvPr id="14" name="Text 12"/>
          <p:cNvSpPr/>
          <p:nvPr/>
        </p:nvSpPr>
        <p:spPr>
          <a:xfrm>
            <a:off x="3063240" y="274320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Plastic Tunnel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82112" y="3145536"/>
            <a:ext cx="23500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 made of plastic, used for vegetables.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7040880" y="2377440"/>
            <a:ext cx="0" cy="365760"/>
          </a:xfrm>
          <a:prstGeom prst="line">
            <a:avLst/>
          </a:prstGeom>
          <a:noFill/>
          <a:ln w="15875">
            <a:solidFill>
              <a:srgbClr val="BBBB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2743200"/>
            <a:ext cx="258775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875">
            <a:solidFill>
              <a:srgbClr val="C477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2743200"/>
            <a:ext cx="2587752" cy="365760"/>
          </a:xfrm>
          <a:prstGeom prst="rect">
            <a:avLst/>
          </a:prstGeom>
          <a:solidFill>
            <a:srgbClr val="C4772A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274320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79592" y="3145536"/>
            <a:ext cx="23500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seasonal vegetables; protect from cold, frost, insects.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9738360" y="2377440"/>
            <a:ext cx="0" cy="365760"/>
          </a:xfrm>
          <a:prstGeom prst="line">
            <a:avLst/>
          </a:prstGeom>
          <a:noFill/>
          <a:ln w="15875">
            <a:solidFill>
              <a:srgbClr val="BBBB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58200" y="2743200"/>
            <a:ext cx="258775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875">
            <a:solidFill>
              <a:srgbClr val="E68A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58200" y="2743200"/>
            <a:ext cx="2587752" cy="365760"/>
          </a:xfrm>
          <a:prstGeom prst="rect">
            <a:avLst/>
          </a:prstGeom>
          <a:solidFill>
            <a:srgbClr val="E68A2E"/>
          </a:solidFill>
          <a:ln/>
        </p:spPr>
      </p:sp>
      <p:sp>
        <p:nvSpPr>
          <p:cNvPr id="24" name="Text 22"/>
          <p:cNvSpPr/>
          <p:nvPr/>
        </p:nvSpPr>
        <p:spPr>
          <a:xfrm>
            <a:off x="8458200" y="274320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77072" y="3145536"/>
            <a:ext cx="23500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walls; slanted roof.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3017520" y="4270248"/>
            <a:ext cx="0" cy="438912"/>
          </a:xfrm>
          <a:prstGeom prst="line">
            <a:avLst/>
          </a:prstGeom>
          <a:noFill/>
          <a:ln w="15875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4709160"/>
            <a:ext cx="258775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875">
            <a:solidFill>
              <a:srgbClr val="6E9C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37360" y="4709160"/>
            <a:ext cx="2587752" cy="365760"/>
          </a:xfrm>
          <a:prstGeom prst="rect">
            <a:avLst/>
          </a:prstGeom>
          <a:solidFill>
            <a:srgbClr val="6E9C4A"/>
          </a:solidFill>
          <a:ln/>
        </p:spPr>
      </p:sp>
      <p:sp>
        <p:nvSpPr>
          <p:cNvPr id="29" name="Text 27"/>
          <p:cNvSpPr/>
          <p:nvPr/>
        </p:nvSpPr>
        <p:spPr>
          <a:xfrm>
            <a:off x="1737360" y="470916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Process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856232" y="5111496"/>
            <a:ext cx="23500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 enters → heat trapped → temperature rises → warmer greenhouse.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7498080" y="4270248"/>
            <a:ext cx="0" cy="438912"/>
          </a:xfrm>
          <a:prstGeom prst="line">
            <a:avLst/>
          </a:prstGeom>
          <a:noFill/>
          <a:ln w="15875">
            <a:solidFill>
              <a:srgbClr val="BBBB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4709160"/>
            <a:ext cx="258775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875">
            <a:solidFill>
              <a:srgbClr val="A24A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4709160"/>
            <a:ext cx="2587752" cy="365760"/>
          </a:xfrm>
          <a:prstGeom prst="rect">
            <a:avLst/>
          </a:prstGeom>
          <a:solidFill>
            <a:srgbClr val="A24A3B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470916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36792" y="5111496"/>
            <a:ext cx="23500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skilled people to make it.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NOTES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Notes — In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Off-seasonal vegetables can be grown by maintaining a suitable temperature inside a greenhouse.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function of a plastic tunnel or greenhouse is to raise the temperature for farming vegetables.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outside the greenhouse can be damaged by dew, wind and insects.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inside the tunnel grow well due to a warm and safe environment.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with very long roots, rough barks and pointed leaves are found in the Himalayan region.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CONTRAST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Himalayan vs. Hilly vs. Terai</a:t>
            </a:r>
            <a:endParaRPr lang="en-US" sz="3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40233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HIMALAYAN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Infertile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fertile lands, valleys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Flat, fertile land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little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Comparatively more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Sufficient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South-facing slopes get sun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Plenty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Fertility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Pointed leaves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leaves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Large, flat leaves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Juniper, Birch, Spruce, Deodar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Pine, Oak, Walnut, Rhododendron, Fir, Maize, Millet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Sal, Sissoo, Mango, Banana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Slow-growing, hardy plants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 faster, bear more seeds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CONTRAST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Greenhouse vs. Outside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F0EAE6"/>
          </a:solidFill>
          <a:ln w="12700">
            <a:solidFill>
              <a:srgbClr val="C47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7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OUTSIDE THE GREENHOUSE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by cold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by frost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by dew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by wind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by insects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E9F1E6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6002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GREENHOUSE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28600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Warmer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environment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from cold, frost and dew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from insects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growing conditions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CLASSROOM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&amp; Discuss (1 of 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Q1. Why do different plants grow in different regions of Nepal?</a:t>
            </a:r>
            <a:endParaRPr lang="en-US" sz="1500" dirty="0"/>
          </a:p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Because altitude, temperature, rainfall and sunlight differ from region to region.</a:t>
            </a:r>
            <a:endParaRPr lang="en-US" sz="1500" dirty="0"/>
          </a:p>
          <a:p>
            <a:pPr marL="0" indent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Q2. Why do Himalayan plants often have pointed leaves?</a:t>
            </a:r>
            <a:endParaRPr lang="en-US" sz="1500" dirty="0"/>
          </a:p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Pointed leaves help reduce the loss of water.</a:t>
            </a:r>
            <a:endParaRPr lang="en-US" sz="1500" dirty="0"/>
          </a:p>
          <a:p>
            <a:pPr marL="0" indent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Q3. Why do Terai plants grow faster?</a:t>
            </a:r>
            <a:endParaRPr lang="en-US" sz="1500" dirty="0"/>
          </a:p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The Terai is fertile, flat, and has sufficient water and sunlight.</a:t>
            </a:r>
            <a:endParaRPr lang="en-US" sz="1500" dirty="0"/>
          </a:p>
          <a:p>
            <a:pPr marL="0" indent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Q4. Why is a greenhouse covered with transparent plastic?</a:t>
            </a:r>
            <a:endParaRPr lang="en-US" sz="1500" dirty="0"/>
          </a:p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So sunlight can pass through and warm the inside.</a:t>
            </a:r>
            <a:endParaRPr lang="en-US" sz="1500" dirty="0"/>
          </a:p>
          <a:p>
            <a:pPr marL="0" indent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Q5. Why does the temperature inside a greenhouse increase?</a:t>
            </a:r>
            <a:endParaRPr lang="en-US" sz="1500" dirty="0"/>
          </a:p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Because sunlight enters and heat gets trapped inside.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 These!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212080" cy="749808"/>
          </a:xfrm>
          <a:prstGeom prst="roundRect">
            <a:avLst>
              <a:gd name="adj" fmla="val 8537"/>
            </a:avLst>
          </a:prstGeom>
          <a:solidFill>
            <a:srgbClr val="E68A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5212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017520" y="1874520"/>
            <a:ext cx="274320" cy="27432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110789" y="1929384"/>
            <a:ext cx="87782" cy="164592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21408"/>
            <a:ext cx="5212080" cy="749808"/>
          </a:xfrm>
          <a:prstGeom prst="roundRect">
            <a:avLst>
              <a:gd name="adj" fmla="val 8537"/>
            </a:avLst>
          </a:prstGeom>
          <a:solidFill>
            <a:srgbClr val="6E9C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21408"/>
            <a:ext cx="5212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ecological regions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17520" y="2807208"/>
            <a:ext cx="274320" cy="27432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110789" y="2862072"/>
            <a:ext cx="87782" cy="164592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054096"/>
            <a:ext cx="5212080" cy="749808"/>
          </a:xfrm>
          <a:prstGeom prst="roundRect">
            <a:avLst>
              <a:gd name="adj" fmla="val 8537"/>
            </a:avLst>
          </a:prstGeom>
          <a:solidFill>
            <a:srgbClr val="6E9C4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54096"/>
            <a:ext cx="5212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Himalayan — Hilly — Terai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017520" y="3739896"/>
            <a:ext cx="274320" cy="27432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110789" y="3794760"/>
            <a:ext cx="87782" cy="164592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986784"/>
            <a:ext cx="5212080" cy="749808"/>
          </a:xfrm>
          <a:prstGeom prst="roundRect">
            <a:avLst>
              <a:gd name="adj" fmla="val 8537"/>
            </a:avLst>
          </a:prstGeom>
          <a:solidFill>
            <a:srgbClr val="6E9C4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86784"/>
            <a:ext cx="5212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climate / environment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017520" y="4672584"/>
            <a:ext cx="274320" cy="27432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110789" y="4727448"/>
            <a:ext cx="87782" cy="164592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919472"/>
            <a:ext cx="5212080" cy="749808"/>
          </a:xfrm>
          <a:prstGeom prst="roundRect">
            <a:avLst>
              <a:gd name="adj" fmla="val 8537"/>
            </a:avLst>
          </a:prstGeom>
          <a:solidFill>
            <a:srgbClr val="6E9C4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919472"/>
            <a:ext cx="5212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plants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09360" y="1188720"/>
            <a:ext cx="5394960" cy="749808"/>
          </a:xfrm>
          <a:prstGeom prst="roundRect">
            <a:avLst>
              <a:gd name="adj" fmla="val 8537"/>
            </a:avLst>
          </a:prstGeom>
          <a:solidFill>
            <a:srgbClr val="E68A2E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188720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GREENHOUSE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869680" y="1874520"/>
            <a:ext cx="274320" cy="27432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62949" y="1929384"/>
            <a:ext cx="87782" cy="164592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2121408"/>
            <a:ext cx="5394960" cy="749808"/>
          </a:xfrm>
          <a:prstGeom prst="roundRect">
            <a:avLst>
              <a:gd name="adj" fmla="val 8537"/>
            </a:avLst>
          </a:prstGeom>
          <a:solidFill>
            <a:srgbClr val="8AA85C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121408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plastic / glass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869680" y="2807208"/>
            <a:ext cx="274320" cy="27432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962949" y="2862072"/>
            <a:ext cx="87782" cy="164592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9360" y="3054096"/>
            <a:ext cx="5394960" cy="749808"/>
          </a:xfrm>
          <a:prstGeom prst="roundRect">
            <a:avLst>
              <a:gd name="adj" fmla="val 8537"/>
            </a:avLst>
          </a:prstGeom>
          <a:solidFill>
            <a:srgbClr val="8AA85C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054096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 enters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869680" y="3739896"/>
            <a:ext cx="274320" cy="27432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962949" y="3794760"/>
            <a:ext cx="87782" cy="164592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309360" y="3986784"/>
            <a:ext cx="5394960" cy="749808"/>
          </a:xfrm>
          <a:prstGeom prst="roundRect">
            <a:avLst>
              <a:gd name="adj" fmla="val 8537"/>
            </a:avLst>
          </a:prstGeom>
          <a:solidFill>
            <a:srgbClr val="8AA85C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3986784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gets trapped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869680" y="4672584"/>
            <a:ext cx="274320" cy="274320"/>
          </a:xfrm>
          <a:prstGeom prst="ellipse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962949" y="4727448"/>
            <a:ext cx="87782" cy="164592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9360" y="4919472"/>
            <a:ext cx="5394960" cy="749808"/>
          </a:xfrm>
          <a:prstGeom prst="roundRect">
            <a:avLst>
              <a:gd name="adj" fmla="val 8537"/>
            </a:avLst>
          </a:prstGeom>
          <a:solidFill>
            <a:srgbClr val="8AA85C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4919472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increases → warmer → better plant growth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2454</Words>
  <Application>Microsoft Office PowerPoint</Application>
  <PresentationFormat>Widescreen</PresentationFormat>
  <Paragraphs>505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Plants in Different Regions of Nepal and Artificial Greenhouse</dc:title>
  <dc:subject>PptxGenJS Presentation</dc:subject>
  <dc:creator>Grade 5 Science</dc:creator>
  <cp:lastModifiedBy>DELL</cp:lastModifiedBy>
  <cp:revision>2</cp:revision>
  <dcterms:created xsi:type="dcterms:W3CDTF">2026-09-09T04:22:59Z</dcterms:created>
  <dcterms:modified xsi:type="dcterms:W3CDTF">2026-09-09T04:32:28Z</dcterms:modified>
</cp:coreProperties>
</file>