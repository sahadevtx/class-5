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99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8318" y="63459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49377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79552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59436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6" name="Shape 4"/>
          <p:cNvSpPr/>
          <p:nvPr/>
        </p:nvSpPr>
        <p:spPr>
          <a:xfrm>
            <a:off x="9153144" y="1197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7" name="Shape 5"/>
          <p:cNvSpPr/>
          <p:nvPr/>
        </p:nvSpPr>
        <p:spPr>
          <a:xfrm>
            <a:off x="10177272" y="12984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8" name="Shape 6"/>
          <p:cNvSpPr/>
          <p:nvPr/>
        </p:nvSpPr>
        <p:spPr>
          <a:xfrm>
            <a:off x="10996574" y="1399032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9" name="Shape 7"/>
          <p:cNvSpPr/>
          <p:nvPr/>
        </p:nvSpPr>
        <p:spPr>
          <a:xfrm>
            <a:off x="11494008" y="10972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0" name="Shape 8"/>
          <p:cNvSpPr/>
          <p:nvPr/>
        </p:nvSpPr>
        <p:spPr>
          <a:xfrm>
            <a:off x="9445752" y="180136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3576" y="200253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01400" y="1901952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0536" y="210312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4664" y="220370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6184" y="160020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06226" y="220370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638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8" name="Shape 16"/>
          <p:cNvSpPr/>
          <p:nvPr/>
        </p:nvSpPr>
        <p:spPr>
          <a:xfrm>
            <a:off x="693638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3638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93638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5523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5523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5523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5523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7409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7409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77409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8" name="Shape 26"/>
          <p:cNvSpPr/>
          <p:nvPr/>
        </p:nvSpPr>
        <p:spPr>
          <a:xfrm>
            <a:off x="1477409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9" name="Shape 27"/>
          <p:cNvSpPr/>
          <p:nvPr/>
        </p:nvSpPr>
        <p:spPr>
          <a:xfrm>
            <a:off x="1869295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0" name="Shape 28"/>
          <p:cNvSpPr/>
          <p:nvPr/>
        </p:nvSpPr>
        <p:spPr>
          <a:xfrm>
            <a:off x="1869295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1" name="Shape 29"/>
          <p:cNvSpPr/>
          <p:nvPr/>
        </p:nvSpPr>
        <p:spPr>
          <a:xfrm>
            <a:off x="1869295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2" name="Shape 30"/>
          <p:cNvSpPr/>
          <p:nvPr/>
        </p:nvSpPr>
        <p:spPr>
          <a:xfrm>
            <a:off x="1869295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3" name="Shape 31"/>
          <p:cNvSpPr/>
          <p:nvPr/>
        </p:nvSpPr>
        <p:spPr>
          <a:xfrm>
            <a:off x="2261181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61181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5" name="Shape 33"/>
          <p:cNvSpPr/>
          <p:nvPr/>
        </p:nvSpPr>
        <p:spPr>
          <a:xfrm>
            <a:off x="2261181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6" name="Shape 34"/>
          <p:cNvSpPr/>
          <p:nvPr/>
        </p:nvSpPr>
        <p:spPr>
          <a:xfrm>
            <a:off x="2261181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53066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53066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3066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0" name="Shape 38"/>
          <p:cNvSpPr/>
          <p:nvPr/>
        </p:nvSpPr>
        <p:spPr>
          <a:xfrm>
            <a:off x="2653066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CHAPTER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1874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</a:t>
            </a:r>
            <a:endParaRPr lang="en-US" sz="6600" dirty="0"/>
          </a:p>
        </p:txBody>
      </p:sp>
      <p:sp>
        <p:nvSpPr>
          <p:cNvPr id="43" name="Text 41"/>
          <p:cNvSpPr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States, and Changes in Our Physical World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8229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96558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96558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96558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96558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Shape 47"/>
          <p:cNvSpPr/>
          <p:nvPr/>
        </p:nvSpPr>
        <p:spPr>
          <a:xfrm>
            <a:off x="1497003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0" name="Shape 48"/>
          <p:cNvSpPr/>
          <p:nvPr/>
        </p:nvSpPr>
        <p:spPr>
          <a:xfrm>
            <a:off x="1497003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Shape 49"/>
          <p:cNvSpPr/>
          <p:nvPr/>
        </p:nvSpPr>
        <p:spPr>
          <a:xfrm>
            <a:off x="1497003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2" name="Shape 50"/>
          <p:cNvSpPr/>
          <p:nvPr/>
        </p:nvSpPr>
        <p:spPr>
          <a:xfrm>
            <a:off x="1497003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7449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4" name="Shape 52"/>
          <p:cNvSpPr/>
          <p:nvPr/>
        </p:nvSpPr>
        <p:spPr>
          <a:xfrm>
            <a:off x="1797449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1797449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1797449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2097895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2097895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9" name="Shape 57"/>
          <p:cNvSpPr/>
          <p:nvPr/>
        </p:nvSpPr>
        <p:spPr>
          <a:xfrm>
            <a:off x="2097895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2097895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2398341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2398341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2398341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2398341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98786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2698786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2698786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2698786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5661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71" name="Shape 69"/>
          <p:cNvSpPr/>
          <p:nvPr/>
        </p:nvSpPr>
        <p:spPr>
          <a:xfrm>
            <a:off x="3940083" y="45400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Shape 70"/>
          <p:cNvSpPr/>
          <p:nvPr/>
        </p:nvSpPr>
        <p:spPr>
          <a:xfrm>
            <a:off x="3921926" y="478378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3" name="Shape 71"/>
          <p:cNvSpPr/>
          <p:nvPr/>
        </p:nvSpPr>
        <p:spPr>
          <a:xfrm>
            <a:off x="3973056" y="491429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Shape 72"/>
          <p:cNvSpPr/>
          <p:nvPr/>
        </p:nvSpPr>
        <p:spPr>
          <a:xfrm>
            <a:off x="3894801" y="517249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5" name="Shape 73"/>
          <p:cNvSpPr/>
          <p:nvPr/>
        </p:nvSpPr>
        <p:spPr>
          <a:xfrm>
            <a:off x="4223293" y="45751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6" name="Shape 74"/>
          <p:cNvSpPr/>
          <p:nvPr/>
        </p:nvSpPr>
        <p:spPr>
          <a:xfrm>
            <a:off x="4239553" y="475211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7" name="Shape 75"/>
          <p:cNvSpPr/>
          <p:nvPr/>
        </p:nvSpPr>
        <p:spPr>
          <a:xfrm>
            <a:off x="4258340" y="493993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8" name="Shape 76"/>
          <p:cNvSpPr/>
          <p:nvPr/>
        </p:nvSpPr>
        <p:spPr>
          <a:xfrm>
            <a:off x="4206654" y="515503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9" name="Shape 77"/>
          <p:cNvSpPr/>
          <p:nvPr/>
        </p:nvSpPr>
        <p:spPr>
          <a:xfrm>
            <a:off x="4508368" y="459635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0" name="Shape 78"/>
          <p:cNvSpPr/>
          <p:nvPr/>
        </p:nvSpPr>
        <p:spPr>
          <a:xfrm>
            <a:off x="4557251" y="4723559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1" name="Shape 79"/>
          <p:cNvSpPr/>
          <p:nvPr/>
        </p:nvSpPr>
        <p:spPr>
          <a:xfrm>
            <a:off x="4541625" y="497341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2" name="Shape 80"/>
          <p:cNvSpPr/>
          <p:nvPr/>
        </p:nvSpPr>
        <p:spPr>
          <a:xfrm>
            <a:off x="4522207" y="511946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3" name="Shape 81"/>
          <p:cNvSpPr/>
          <p:nvPr/>
        </p:nvSpPr>
        <p:spPr>
          <a:xfrm>
            <a:off x="4797003" y="4579923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4" name="Shape 82"/>
          <p:cNvSpPr/>
          <p:nvPr/>
        </p:nvSpPr>
        <p:spPr>
          <a:xfrm>
            <a:off x="4873118" y="473022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5" name="Shape 83"/>
          <p:cNvSpPr/>
          <p:nvPr/>
        </p:nvSpPr>
        <p:spPr>
          <a:xfrm>
            <a:off x="4824802" y="497707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6" name="Shape 84"/>
          <p:cNvSpPr/>
          <p:nvPr/>
        </p:nvSpPr>
        <p:spPr>
          <a:xfrm>
            <a:off x="4839794" y="510577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7" name="Shape 85"/>
          <p:cNvSpPr/>
          <p:nvPr/>
        </p:nvSpPr>
        <p:spPr>
          <a:xfrm>
            <a:off x="5090501" y="45443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8" name="Shape 86"/>
          <p:cNvSpPr/>
          <p:nvPr/>
        </p:nvSpPr>
        <p:spPr>
          <a:xfrm>
            <a:off x="5185454" y="47646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9" name="Shape 87"/>
          <p:cNvSpPr/>
          <p:nvPr/>
        </p:nvSpPr>
        <p:spPr>
          <a:xfrm>
            <a:off x="5109776" y="494681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0" name="Shape 88"/>
          <p:cNvSpPr/>
          <p:nvPr/>
        </p:nvSpPr>
        <p:spPr>
          <a:xfrm>
            <a:off x="5157524" y="51293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1" name="Shape 89"/>
          <p:cNvSpPr/>
          <p:nvPr/>
        </p:nvSpPr>
        <p:spPr>
          <a:xfrm>
            <a:off x="5389627" y="45295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2" name="Shape 90"/>
          <p:cNvSpPr/>
          <p:nvPr/>
        </p:nvSpPr>
        <p:spPr>
          <a:xfrm>
            <a:off x="5492947" y="4788059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3" name="Shape 91"/>
          <p:cNvSpPr/>
          <p:nvPr/>
        </p:nvSpPr>
        <p:spPr>
          <a:xfrm>
            <a:off x="5398252" y="491665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4" name="Shape 92"/>
          <p:cNvSpPr/>
          <p:nvPr/>
        </p:nvSpPr>
        <p:spPr>
          <a:xfrm>
            <a:off x="5473491" y="51637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5" name="Text 93"/>
          <p:cNvSpPr/>
          <p:nvPr/>
        </p:nvSpPr>
        <p:spPr>
          <a:xfrm>
            <a:off x="35661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3093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97" name="Shape 95"/>
          <p:cNvSpPr/>
          <p:nvPr/>
        </p:nvSpPr>
        <p:spPr>
          <a:xfrm>
            <a:off x="6550762" y="448604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8" name="Shape 96"/>
          <p:cNvSpPr/>
          <p:nvPr/>
        </p:nvSpPr>
        <p:spPr>
          <a:xfrm>
            <a:off x="7118604" y="441883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9" name="Shape 97"/>
          <p:cNvSpPr/>
          <p:nvPr/>
        </p:nvSpPr>
        <p:spPr>
          <a:xfrm>
            <a:off x="7644384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0" name="Shape 98"/>
          <p:cNvSpPr/>
          <p:nvPr/>
        </p:nvSpPr>
        <p:spPr>
          <a:xfrm>
            <a:off x="8170164" y="44668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1" name="Shape 99"/>
          <p:cNvSpPr/>
          <p:nvPr/>
        </p:nvSpPr>
        <p:spPr>
          <a:xfrm>
            <a:off x="6697980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434072" y="480288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022946" y="48508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380476" y="470687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908292" y="50429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539228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170164" y="509092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87668" y="518693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223760" y="52349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49540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317382" y="52349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2" name="Text 110"/>
          <p:cNvSpPr/>
          <p:nvPr/>
        </p:nvSpPr>
        <p:spPr>
          <a:xfrm>
            <a:off x="63093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chapter,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739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properties of matter based on volume and mass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96265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physical properties of matter in solid, liquid, and gaseous form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15137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effect of heat on matter and our daily life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34009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meaning of change of state and processes like melting, sublimation, and freezing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17739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homogeneous and heterogeneous mixtures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296265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methods used to separate the components of a mixture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415137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change in molecular arrangement during change of state using models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Matter?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anything that has mass and occupies space. Two measurable properties define it: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matter contained in an object.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397764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160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 </a:t>
            </a: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kilograms (kg) or grams (g)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46177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a beam balance or weighing scale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05840" y="5138928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52852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4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bag of rice with more mass than an empty bag contains more matter, even if it looks the same size.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72200" y="182880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38658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2860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537960" y="32461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space that matter occupies.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37960" y="397764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4160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 </a:t>
            </a: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litres (L), millilitres (mL), or cubic metres (m³)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37960" y="46177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a graduated cylinder or by calculation (l × w × h)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537960" y="5138928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52852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4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 can hold the same volume of water even if one is tall and thin and the other is short and wide.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Properties of the Three States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729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esting shape, volume, and compressibility reveals how each state of matter behaves.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3089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203089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203089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203089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647226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7226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647226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7226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1363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1363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91363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091363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35501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35501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35501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35501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9638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9638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9638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9638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3775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3775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3775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3775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3009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shape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2153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compressible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46725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vibrate in place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7408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0898" y="184261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4944058" y="208630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019640" y="221681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4903960" y="247501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5389557" y="18776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13593" y="20546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5441366" y="224245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5364960" y="245755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5810972" y="18988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5883233" y="20260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5860134" y="227593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5831429" y="242198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237650" y="18824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6350168" y="203274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278743" y="227959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0905" y="240829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Shape 53"/>
          <p:cNvSpPr/>
          <p:nvPr/>
        </p:nvSpPr>
        <p:spPr>
          <a:xfrm>
            <a:off x="6671515" y="18468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11882" y="20671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7" name="Shape 55"/>
          <p:cNvSpPr/>
          <p:nvPr/>
        </p:nvSpPr>
        <p:spPr>
          <a:xfrm>
            <a:off x="6700009" y="22493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8" name="Shape 56"/>
          <p:cNvSpPr/>
          <p:nvPr/>
        </p:nvSpPr>
        <p:spPr>
          <a:xfrm>
            <a:off x="6770593" y="24318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9" name="Shape 57"/>
          <p:cNvSpPr/>
          <p:nvPr/>
        </p:nvSpPr>
        <p:spPr>
          <a:xfrm>
            <a:off x="7113702" y="18320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6436" y="20905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1" name="Shape 59"/>
          <p:cNvSpPr/>
          <p:nvPr/>
        </p:nvSpPr>
        <p:spPr>
          <a:xfrm>
            <a:off x="7126453" y="221917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2" name="Shape 60"/>
          <p:cNvSpPr/>
          <p:nvPr/>
        </p:nvSpPr>
        <p:spPr>
          <a:xfrm>
            <a:off x="7237676" y="24662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3" name="Text 61"/>
          <p:cNvSpPr/>
          <p:nvPr/>
        </p:nvSpPr>
        <p:spPr>
          <a:xfrm>
            <a:off x="4407408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407408" y="33009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5" name="Text 63"/>
          <p:cNvSpPr/>
          <p:nvPr/>
        </p:nvSpPr>
        <p:spPr>
          <a:xfrm>
            <a:off x="4636008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shape of container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07408" y="37581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7" name="Text 65"/>
          <p:cNvSpPr/>
          <p:nvPr/>
        </p:nvSpPr>
        <p:spPr>
          <a:xfrm>
            <a:off x="4636008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7408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9" name="Text 67"/>
          <p:cNvSpPr/>
          <p:nvPr/>
        </p:nvSpPr>
        <p:spPr>
          <a:xfrm>
            <a:off x="4636008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compressible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407408" y="46725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1" name="Text 69"/>
          <p:cNvSpPr/>
          <p:nvPr/>
        </p:nvSpPr>
        <p:spPr>
          <a:xfrm>
            <a:off x="4636008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slide past each other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74736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2325" y="178856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Shape 72"/>
          <p:cNvSpPr/>
          <p:nvPr/>
        </p:nvSpPr>
        <p:spPr>
          <a:xfrm>
            <a:off x="9381744" y="172135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5" name="Shape 73"/>
          <p:cNvSpPr/>
          <p:nvPr/>
        </p:nvSpPr>
        <p:spPr>
          <a:xfrm>
            <a:off x="10158984" y="1865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6" name="Shape 74"/>
          <p:cNvSpPr/>
          <p:nvPr/>
        </p:nvSpPr>
        <p:spPr>
          <a:xfrm>
            <a:off x="10936224" y="17693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7" name="Shape 75"/>
          <p:cNvSpPr/>
          <p:nvPr/>
        </p:nvSpPr>
        <p:spPr>
          <a:xfrm>
            <a:off x="8759952" y="2057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8" name="Shape 76"/>
          <p:cNvSpPr/>
          <p:nvPr/>
        </p:nvSpPr>
        <p:spPr>
          <a:xfrm>
            <a:off x="9848088" y="210540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718597" y="21534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0" name="Shape 78"/>
          <p:cNvSpPr/>
          <p:nvPr/>
        </p:nvSpPr>
        <p:spPr>
          <a:xfrm>
            <a:off x="11247120" y="200939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1" name="Shape 79"/>
          <p:cNvSpPr/>
          <p:nvPr/>
        </p:nvSpPr>
        <p:spPr>
          <a:xfrm>
            <a:off x="9070848" y="23454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003536" y="24414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936224" y="239344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4" name="Shape 82"/>
          <p:cNvSpPr/>
          <p:nvPr/>
        </p:nvSpPr>
        <p:spPr>
          <a:xfrm>
            <a:off x="8449056" y="248945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5" name="Shape 83"/>
          <p:cNvSpPr/>
          <p:nvPr/>
        </p:nvSpPr>
        <p:spPr>
          <a:xfrm>
            <a:off x="9537192" y="25374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14432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7" name="Shape 85"/>
          <p:cNvSpPr/>
          <p:nvPr/>
        </p:nvSpPr>
        <p:spPr>
          <a:xfrm>
            <a:off x="11153851" y="25374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8" name="Text 86"/>
          <p:cNvSpPr/>
          <p:nvPr/>
        </p:nvSpPr>
        <p:spPr>
          <a:xfrm>
            <a:off x="8174736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174736" y="3300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0" name="Text 88"/>
          <p:cNvSpPr/>
          <p:nvPr/>
        </p:nvSpPr>
        <p:spPr>
          <a:xfrm>
            <a:off x="8403336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shape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74736" y="3758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2" name="Text 90"/>
          <p:cNvSpPr/>
          <p:nvPr/>
        </p:nvSpPr>
        <p:spPr>
          <a:xfrm>
            <a:off x="8403336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volume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174736" y="4215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4" name="Text 92"/>
          <p:cNvSpPr/>
          <p:nvPr/>
        </p:nvSpPr>
        <p:spPr>
          <a:xfrm>
            <a:off x="8403336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compressible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174736" y="4672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6" name="Text 94"/>
          <p:cNvSpPr/>
          <p:nvPr/>
        </p:nvSpPr>
        <p:spPr>
          <a:xfrm>
            <a:off x="8403336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move freely, fast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239" y="3175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 of Heat on Matter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2239" y="9575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 changes the motion of particles — and shapes many everyday experiences.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385" y="1643380"/>
            <a:ext cx="2507894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5" name="Shape 3"/>
          <p:cNvSpPr/>
          <p:nvPr/>
        </p:nvSpPr>
        <p:spPr>
          <a:xfrm>
            <a:off x="1479499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thermome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91" y="20822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9399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25119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usually makes matter expand as particles move faster and spread apart — e.g. mercury rising in a thermometer, railway tracks with gaps.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50031" y="1643380"/>
            <a:ext cx="2560320" cy="361188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10" name="Shape 7"/>
          <p:cNvSpPr/>
          <p:nvPr/>
        </p:nvSpPr>
        <p:spPr>
          <a:xfrm>
            <a:off x="4341571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nowfl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163" y="20822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1471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587191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slows particle motion, pulling them closer together — e.g. a metal lid loosening when run under hot water shows the reverse effect.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12103" y="1643380"/>
            <a:ext cx="2560320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3643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drop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235" y="20822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3543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&amp; Food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449263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cooks rice, boils eggs, and melts butter — transferring energy that changes texture, taste, and safety of food.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128455" y="1643380"/>
            <a:ext cx="2606040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65715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wi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0307" y="20822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5615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Water Cycle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311335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sun's heat evaporates ocean water into vapour, which later condenses into clouds and falls as rain.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2239" y="52552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general: heating speeds up particle motion and pushes particles further apart, while cooling slows particles down and lets them settle closer together.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359359" y="63342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179454" y="63342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of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59353"/>
            <a:ext cx="10698480" cy="8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changes from one state to another when heat is added or removed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substance stays the same, only its form changes.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181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118181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118181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118181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340249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340249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340249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0249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562318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562318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1562318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62318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84386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1784386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4386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784386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006455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006455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06455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006455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8523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28523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2228523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8523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12064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6101" y="29990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5402681" y="319636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5440472" y="33020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Shape 32"/>
          <p:cNvSpPr/>
          <p:nvPr/>
        </p:nvSpPr>
        <p:spPr>
          <a:xfrm>
            <a:off x="5382632" y="35110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5625430" y="302744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5637448" y="317073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5651335" y="332277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Shape 36"/>
          <p:cNvSpPr/>
          <p:nvPr/>
        </p:nvSpPr>
        <p:spPr>
          <a:xfrm>
            <a:off x="5613132" y="349690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5836138" y="30446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72269" y="314761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860719" y="33498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6367" y="34681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49477" y="30313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105736" y="315300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6070024" y="33528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6081105" y="34570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6410" y="300249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6593" y="31808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6280656" y="33283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6315949" y="347612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487503" y="299055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6563870" y="319982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3878" y="330392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6549490" y="35039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941832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15830" y="295534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35540" y="290093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424160" y="30175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12780" y="29397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9724644" y="31729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68712" y="321183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703966" y="32506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968228" y="313410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9880092" y="34061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46436" y="3483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12780" y="344500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9569196" y="352272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13264" y="35615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501884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21594" y="35615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Text 70"/>
          <p:cNvSpPr/>
          <p:nvPr/>
        </p:nvSpPr>
        <p:spPr>
          <a:xfrm>
            <a:off x="94183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2651760" y="2798065"/>
            <a:ext cx="2468880" cy="580644"/>
          </a:xfrm>
          <a:prstGeom prst="curvedDownArrow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2702746" y="3108645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</a:t>
            </a:r>
            <a:endParaRPr lang="en-US" dirty="0"/>
          </a:p>
        </p:txBody>
      </p:sp>
      <p:sp>
        <p:nvSpPr>
          <p:cNvPr id="75" name="Shape 73"/>
          <p:cNvSpPr/>
          <p:nvPr/>
        </p:nvSpPr>
        <p:spPr>
          <a:xfrm flipH="1">
            <a:off x="6821373" y="4094740"/>
            <a:ext cx="2623819" cy="413567"/>
          </a:xfrm>
          <a:prstGeom prst="curvedUpArrow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963613" y="3159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Vaporisation / Boiling</a:t>
            </a: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5120640" y="3703320"/>
            <a:ext cx="0" cy="0"/>
          </a:xfrm>
          <a:prstGeom prst="line">
            <a:avLst/>
          </a:prstGeom>
          <a:noFill/>
          <a:ln w="28575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2651760" y="4059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</a:t>
            </a: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9418320" y="3703320"/>
            <a:ext cx="0" cy="0"/>
          </a:xfrm>
          <a:prstGeom prst="line">
            <a:avLst/>
          </a:prstGeom>
          <a:noFill/>
          <a:ln w="28575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6949440" y="4059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</a:t>
            </a: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788205" y="2075689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 (solid → gas directly)</a:t>
            </a: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64008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</a:t>
            </a:r>
            <a:endParaRPr lang="en-US" sz="2400" dirty="0"/>
          </a:p>
        </p:txBody>
      </p:sp>
      <p:sp>
        <p:nvSpPr>
          <p:cNvPr id="85" name="Text 83"/>
          <p:cNvSpPr/>
          <p:nvPr/>
        </p:nvSpPr>
        <p:spPr>
          <a:xfrm>
            <a:off x="82296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absorbs heat and turns into a liquid at its melting point (e.g. ice into water).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47472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87" name="Text 85"/>
          <p:cNvSpPr/>
          <p:nvPr/>
        </p:nvSpPr>
        <p:spPr>
          <a:xfrm>
            <a:off x="365760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365760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loses heat and turns into a solid at its freezing point (e.g. water into ice).€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630936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Vaporisation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649224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absorbs heat and turns into a gas, either by boiling or slow evaporation.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9093708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93" name="Text 91"/>
          <p:cNvSpPr/>
          <p:nvPr/>
        </p:nvSpPr>
        <p:spPr>
          <a:xfrm>
            <a:off x="932688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932688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turns directly into a gas without passing through the liquid state (e.g. camphor, dry ice).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0" name="Arrow: Curved Down 99">
            <a:extLst>
              <a:ext uri="{FF2B5EF4-FFF2-40B4-BE49-F238E27FC236}">
                <a16:creationId xmlns:a16="http://schemas.microsoft.com/office/drawing/2014/main" id="{3FA75287-8427-5817-E8CA-95BFBE7225CA}"/>
              </a:ext>
            </a:extLst>
          </p:cNvPr>
          <p:cNvSpPr/>
          <p:nvPr/>
        </p:nvSpPr>
        <p:spPr>
          <a:xfrm>
            <a:off x="1696280" y="2011059"/>
            <a:ext cx="8456894" cy="79606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Shape 71">
            <a:extLst>
              <a:ext uri="{FF2B5EF4-FFF2-40B4-BE49-F238E27FC236}">
                <a16:creationId xmlns:a16="http://schemas.microsoft.com/office/drawing/2014/main" id="{8F7A0B3E-F3CB-27A9-00D4-7888A07E75B0}"/>
              </a:ext>
            </a:extLst>
          </p:cNvPr>
          <p:cNvSpPr/>
          <p:nvPr/>
        </p:nvSpPr>
        <p:spPr>
          <a:xfrm>
            <a:off x="6963613" y="2620265"/>
            <a:ext cx="2513127" cy="580644"/>
          </a:xfrm>
          <a:prstGeom prst="curvedDownArrow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3" name="Shape 73">
            <a:extLst>
              <a:ext uri="{FF2B5EF4-FFF2-40B4-BE49-F238E27FC236}">
                <a16:creationId xmlns:a16="http://schemas.microsoft.com/office/drawing/2014/main" id="{ACA43B72-75D1-5FF1-B20F-86798154F068}"/>
              </a:ext>
            </a:extLst>
          </p:cNvPr>
          <p:cNvSpPr/>
          <p:nvPr/>
        </p:nvSpPr>
        <p:spPr>
          <a:xfrm flipH="1">
            <a:off x="2547807" y="4094740"/>
            <a:ext cx="2623819" cy="413567"/>
          </a:xfrm>
          <a:prstGeom prst="curvedUpArrow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Arrangement: A Model of 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particle models help us visualise how spacing and movement of particles change with state.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4935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274935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274935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274935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699478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9478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699478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9478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124021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4021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24021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124021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8563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8563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48563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48563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3106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3106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3106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3106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397649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7649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7649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7649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packed tightly in a fixed, orderly pattern. They vibrate but do not move from their position.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3484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4435" y="207107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98778" y="25120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1026" y="274820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0449" y="321542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5424623" y="213444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7598" y="24547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Shape 36"/>
          <p:cNvSpPr/>
          <p:nvPr/>
        </p:nvSpPr>
        <p:spPr>
          <a:xfrm>
            <a:off x="5474146" y="279460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5401111" y="31838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27446" y="21728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6520" y="240306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5874439" y="285517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5847001" y="311946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235300" y="21431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6342854" y="241511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6274581" y="28618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6295765" y="309469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6650024" y="207868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6784198" y="24773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6677261" y="280704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744731" y="313738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7072703" y="20519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7218699" y="25197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7084891" y="275246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Shape 53"/>
          <p:cNvSpPr/>
          <p:nvPr/>
        </p:nvSpPr>
        <p:spPr>
          <a:xfrm>
            <a:off x="7191207" y="31995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Text 54"/>
          <p:cNvSpPr/>
          <p:nvPr/>
        </p:nvSpPr>
        <p:spPr>
          <a:xfrm>
            <a:off x="443484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43484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close but disordered, able to slide past one another — allowing liquid to flow.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818388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86216" y="197327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9388602" y="18516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31552" y="21122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874502" y="19385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8794242" y="24597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9834372" y="25466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66476" y="2633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71682" y="23728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9091422" y="2980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9982962" y="31546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874502" y="30678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0" name="Shape 68"/>
          <p:cNvSpPr/>
          <p:nvPr/>
        </p:nvSpPr>
        <p:spPr>
          <a:xfrm>
            <a:off x="8497062" y="32415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1" name="Shape 69"/>
          <p:cNvSpPr/>
          <p:nvPr/>
        </p:nvSpPr>
        <p:spPr>
          <a:xfrm>
            <a:off x="9537192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280142" y="28072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3" name="Shape 71"/>
          <p:cNvSpPr/>
          <p:nvPr/>
        </p:nvSpPr>
        <p:spPr>
          <a:xfrm>
            <a:off x="11082528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Text 72"/>
          <p:cNvSpPr/>
          <p:nvPr/>
        </p:nvSpPr>
        <p:spPr>
          <a:xfrm>
            <a:off x="818388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18388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far apart and move rapidly in random directions, colliding and spreading to fill any space.</a:t>
            </a: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4160520" y="2743200"/>
            <a:ext cx="228600" cy="0"/>
          </a:xfrm>
          <a:prstGeom prst="line">
            <a:avLst/>
          </a:prstGeom>
          <a:noFill/>
          <a:ln w="25400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909560" y="2743200"/>
            <a:ext cx="228600" cy="0"/>
          </a:xfrm>
          <a:prstGeom prst="line">
            <a:avLst/>
          </a:prstGeom>
          <a:noFill/>
          <a:ln w="25400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701040" y="5577840"/>
            <a:ext cx="10789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model idea: use marbles or ball-bearings in a tray — shake gently for a solid's vibration, tilt for a liquid's flow, and shake vigorously with the lid off for a gas's free movement.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Homogeneous vs. Heterogeneous Mixtures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forms when two or more substances combine without chemically reacting.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composition throughout — components cannot be visually distinguished.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05840" y="3200400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DCEEEC"/>
          </a:solidFill>
          <a:ln/>
        </p:spPr>
      </p:sp>
      <p:sp>
        <p:nvSpPr>
          <p:cNvPr id="8" name="Shape 6"/>
          <p:cNvSpPr/>
          <p:nvPr/>
        </p:nvSpPr>
        <p:spPr>
          <a:xfrm>
            <a:off x="1628276" y="341699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592357" y="366300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3504" y="379476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538696" y="405541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8539" y="345235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0705" y="36310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7872" y="3820645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55623" y="4037795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492" y="347379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849195" y="360220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8282" y="385443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9869" y="400188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3487" y="345720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063" y="360893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3378480" y="385814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3408138" y="398806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3904101" y="342124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4091945" y="364365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942233" y="382758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4036691" y="40118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5851" y="340634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0246" y="36673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2915" y="379713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1757" y="404654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5537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salt water, air, sugar solution, brass alloy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005840" y="498348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120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 solution — one substance (solute) is evenly dissolved in another (solvent).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172200" y="178308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537960" y="25146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composition — different components remain visibly separate.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37960" y="3200400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DCEEEC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8292" y="33147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34930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6821424" y="367131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7690104" y="37901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7125462" y="38496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1122" y="34692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9297162" y="3374136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6" name="Shape 44"/>
          <p:cNvSpPr/>
          <p:nvPr/>
        </p:nvSpPr>
        <p:spPr>
          <a:xfrm>
            <a:off x="9948672" y="3314700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83012" y="3552444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8" name="Shape 46"/>
          <p:cNvSpPr/>
          <p:nvPr/>
        </p:nvSpPr>
        <p:spPr>
          <a:xfrm>
            <a:off x="9731502" y="3730752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9992" y="3790188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65842" y="3849624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00182" y="3730752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2" name="Text 50"/>
          <p:cNvSpPr/>
          <p:nvPr/>
        </p:nvSpPr>
        <p:spPr>
          <a:xfrm>
            <a:off x="6537960" y="45537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sand and iron filings, oil and water, salad, granite rock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537960" y="498348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5120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can often be told apart by eye and separated using simple physical methods.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the Components of a Mixture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method depends on the physical properties of the components — size, state, solubility, or density.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an insoluble solid from a liquid by passing the mixture through a filter paper or mesh.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thermome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53712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a solution so the liquid turns to vapour, leaving the dissolved solid behind (e.g. salt from seawater).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drop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238744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Boils a liquid mixture and condenses the vapour separately, separating liquids with different boiling points.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magn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Separation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68680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magnet to pull out magnetic materials such as iron filings from a mixture.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25112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wi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348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553712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substance that turns directly to gas (like camphor or iodine) from solids that do not.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10144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30" name="Shape 23"/>
          <p:cNvSpPr/>
          <p:nvPr/>
        </p:nvSpPr>
        <p:spPr>
          <a:xfrm>
            <a:off x="8238744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sca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4348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Sieving / Winnowing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238744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components by particle size (sieving) or by weight in a stream of air (winnowing).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Recap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&amp; Measurement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has mass and volume — the two properties we measure to describe it.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Properties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46520" y="181051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Solids, liquids, and gases differ in shape, volume, and compressibility.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98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Heat's Effect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22783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drives expansion, contraction, and everyday changes we depend 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898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State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322783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Melting, freezing, vaporisation, condensation, and sublimation move matter between states.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15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mixtures are uniform; heterogeneous mixtures keep visibly separate parts.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2200" y="4206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315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Techniques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46451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Filtration, evaporation, distillation, and more exploit physical differences.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1170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2026-07-20T06:07:25Z</dcterms:created>
  <dcterms:modified xsi:type="dcterms:W3CDTF">2026-07-20T06:21:52Z</dcterms:modified>
</cp:coreProperties>
</file>